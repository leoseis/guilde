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66fff5b3734ca9" /><Relationship Type="http://schemas.openxmlformats.org/officeDocument/2006/relationships/extended-properties" Target="/docProps/app.xml" Id="R57e590a70acb466b" /><Relationship Type="http://schemas.openxmlformats.org/officeDocument/2006/relationships/officeDocument" Target="/ppt/presentation.xml" Id="Rb8522d0aae9b46e7" /></Relationships>
</file>

<file path=ppt/presentation.xml><?xml version="1.0" encoding="utf-8"?>
<p:presentation xmlns:p="http://schemas.openxmlformats.org/presentationml/2006/main">
  <p:sldMasterIdLst>
    <p:sldMasterId xmlns:r="http://schemas.openxmlformats.org/officeDocument/2006/relationships" id="2147483648" r:id="Rc4ce86797d0f4b89"/>
  </p:sldMasterIdLst>
  <p:notesMasterIdLst>
    <p:notesMasterId xmlns:r="http://schemas.openxmlformats.org/officeDocument/2006/relationships" r:id="Rf86efc7f24134e64"/>
  </p:notesMasterIdLst>
  <p:sldIdLst>
    <p:sldId xmlns:r="http://schemas.openxmlformats.org/officeDocument/2006/relationships" id="256" r:id="R9be379a8caf44657"/>
    <p:sldId xmlns:r="http://schemas.openxmlformats.org/officeDocument/2006/relationships" id="257" r:id="R41e3bed75f6944bb"/>
    <p:sldId xmlns:r="http://schemas.openxmlformats.org/officeDocument/2006/relationships" id="258" r:id="R249cbbc88adb4b00"/>
    <p:sldId xmlns:r="http://schemas.openxmlformats.org/officeDocument/2006/relationships" id="259" r:id="R7170ef917e1240db"/>
    <p:sldId xmlns:r="http://schemas.openxmlformats.org/officeDocument/2006/relationships" id="260" r:id="R239bf299ddab4986"/>
    <p:sldId xmlns:r="http://schemas.openxmlformats.org/officeDocument/2006/relationships" id="261" r:id="R1e18e4246cdc45dd"/>
    <p:sldId xmlns:r="http://schemas.openxmlformats.org/officeDocument/2006/relationships" id="262" r:id="R26560ef0fdcb4829"/>
    <p:sldId xmlns:r="http://schemas.openxmlformats.org/officeDocument/2006/relationships" id="263" r:id="Rfbcb782f5165440d"/>
    <p:sldId xmlns:r="http://schemas.openxmlformats.org/officeDocument/2006/relationships" id="264" r:id="Rd4e76b40f8e0460a"/>
    <p:sldId xmlns:r="http://schemas.openxmlformats.org/officeDocument/2006/relationships" id="265" r:id="R9df37006276c4e3b"/>
    <p:sldId xmlns:r="http://schemas.openxmlformats.org/officeDocument/2006/relationships" id="266" r:id="R6c2a24477bd54b18"/>
    <p:sldId xmlns:r="http://schemas.openxmlformats.org/officeDocument/2006/relationships" id="267" r:id="R992773c2b61347d5"/>
    <p:sldId xmlns:r="http://schemas.openxmlformats.org/officeDocument/2006/relationships" id="268" r:id="R12e40023773c4749"/>
    <p:sldId xmlns:r="http://schemas.openxmlformats.org/officeDocument/2006/relationships" id="269" r:id="R35aecaf9aa884374"/>
    <p:sldId xmlns:r="http://schemas.openxmlformats.org/officeDocument/2006/relationships" id="270" r:id="Re831004547fd4a0e"/>
    <p:sldId xmlns:r="http://schemas.openxmlformats.org/officeDocument/2006/relationships" id="271" r:id="Rd1cb7b87fb314484"/>
    <p:sldId xmlns:r="http://schemas.openxmlformats.org/officeDocument/2006/relationships" id="272" r:id="Rc5407916143b46ce"/>
    <p:sldId xmlns:r="http://schemas.openxmlformats.org/officeDocument/2006/relationships" id="273" r:id="R9fae9084b1bb42c9"/>
    <p:sldId xmlns:r="http://schemas.openxmlformats.org/officeDocument/2006/relationships" id="274" r:id="Reb97a008d68a4e22"/>
    <p:sldId xmlns:r="http://schemas.openxmlformats.org/officeDocument/2006/relationships" id="275" r:id="R2e014503b76e4e94"/>
    <p:sldId xmlns:r="http://schemas.openxmlformats.org/officeDocument/2006/relationships" id="276" r:id="R5b85b0dc28074c6b"/>
    <p:sldId xmlns:r="http://schemas.openxmlformats.org/officeDocument/2006/relationships" id="277" r:id="Rf51ba9afb9044a41"/>
    <p:sldId xmlns:r="http://schemas.openxmlformats.org/officeDocument/2006/relationships" id="278" r:id="R06bc57bad7fe4930"/>
    <p:sldId xmlns:r="http://schemas.openxmlformats.org/officeDocument/2006/relationships" id="279" r:id="R01bf0b4f4e484835"/>
    <p:sldId xmlns:r="http://schemas.openxmlformats.org/officeDocument/2006/relationships" id="280" r:id="Rc3ba34f7da0f4198"/>
    <p:sldId xmlns:r="http://schemas.openxmlformats.org/officeDocument/2006/relationships" id="281" r:id="R6d7d082d9e7141eb"/>
    <p:sldId xmlns:r="http://schemas.openxmlformats.org/officeDocument/2006/relationships" id="282" r:id="R7306efb7fb914b01"/>
    <p:sldId xmlns:r="http://schemas.openxmlformats.org/officeDocument/2006/relationships" id="283" r:id="R5abe7ce442a44e71"/>
    <p:sldId xmlns:r="http://schemas.openxmlformats.org/officeDocument/2006/relationships" id="284" r:id="R2e9501af00fd4a35"/>
    <p:sldId xmlns:r="http://schemas.openxmlformats.org/officeDocument/2006/relationships" id="285" r:id="R1f0e2591c77a4bca"/>
    <p:sldId xmlns:r="http://schemas.openxmlformats.org/officeDocument/2006/relationships" id="286" r:id="R1756a2744d7c4e50"/>
    <p:sldId xmlns:r="http://schemas.openxmlformats.org/officeDocument/2006/relationships" id="287" r:id="R185fc21b20274758"/>
    <p:sldId xmlns:r="http://schemas.openxmlformats.org/officeDocument/2006/relationships" id="288" r:id="R055e6f661c9c442d"/>
    <p:sldId xmlns:r="http://schemas.openxmlformats.org/officeDocument/2006/relationships" id="289" r:id="Rd9795c2c736f48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e1008fed404684" /><Relationship Type="http://schemas.openxmlformats.org/officeDocument/2006/relationships/slideMaster" Target="/ppt/slideMasters/slideMaster1.xml" Id="Rc4ce86797d0f4b89" /><Relationship Type="http://schemas.openxmlformats.org/officeDocument/2006/relationships/notesMaster" Target="/ppt/notesMasters/notesMaster1.xml" Id="Rf86efc7f24134e64" /><Relationship Type="http://schemas.openxmlformats.org/officeDocument/2006/relationships/presProps" Target="/ppt/presProps.xml" Id="Rf50a703f666446e9" /><Relationship Type="http://schemas.openxmlformats.org/officeDocument/2006/relationships/tableStyles" Target="/ppt/tableStyles.xml" Id="R44c43b971d9c4167" /><Relationship Type="http://schemas.openxmlformats.org/officeDocument/2006/relationships/slide" Target="/ppt/slides/slide1.xml" Id="R9be379a8caf44657" /><Relationship Type="http://schemas.openxmlformats.org/officeDocument/2006/relationships/slide" Target="/ppt/slides/slide2.xml" Id="R41e3bed75f6944bb" /><Relationship Type="http://schemas.openxmlformats.org/officeDocument/2006/relationships/slide" Target="/ppt/slides/slide3.xml" Id="R249cbbc88adb4b00" /><Relationship Type="http://schemas.openxmlformats.org/officeDocument/2006/relationships/slide" Target="/ppt/slides/slide4.xml" Id="R7170ef917e1240db" /><Relationship Type="http://schemas.openxmlformats.org/officeDocument/2006/relationships/slide" Target="/ppt/slides/slide5.xml" Id="R239bf299ddab4986" /><Relationship Type="http://schemas.openxmlformats.org/officeDocument/2006/relationships/slide" Target="/ppt/slides/slide6.xml" Id="R1e18e4246cdc45dd" /><Relationship Type="http://schemas.openxmlformats.org/officeDocument/2006/relationships/slide" Target="/ppt/slides/slide7.xml" Id="R26560ef0fdcb4829" /><Relationship Type="http://schemas.openxmlformats.org/officeDocument/2006/relationships/slide" Target="/ppt/slides/slide8.xml" Id="Rfbcb782f5165440d" /><Relationship Type="http://schemas.openxmlformats.org/officeDocument/2006/relationships/slide" Target="/ppt/slides/slide9.xml" Id="Rd4e76b40f8e0460a" /><Relationship Type="http://schemas.openxmlformats.org/officeDocument/2006/relationships/slide" Target="/ppt/slides/slide10.xml" Id="R9df37006276c4e3b" /><Relationship Type="http://schemas.openxmlformats.org/officeDocument/2006/relationships/slide" Target="/ppt/slides/slide11.xml" Id="R6c2a24477bd54b18" /><Relationship Type="http://schemas.openxmlformats.org/officeDocument/2006/relationships/slide" Target="/ppt/slides/slide12.xml" Id="R992773c2b61347d5" /><Relationship Type="http://schemas.openxmlformats.org/officeDocument/2006/relationships/slide" Target="/ppt/slides/slide13.xml" Id="R12e40023773c4749" /><Relationship Type="http://schemas.openxmlformats.org/officeDocument/2006/relationships/slide" Target="/ppt/slides/slide14.xml" Id="R35aecaf9aa884374" /><Relationship Type="http://schemas.openxmlformats.org/officeDocument/2006/relationships/slide" Target="/ppt/slides/slide15.xml" Id="Re831004547fd4a0e" /><Relationship Type="http://schemas.openxmlformats.org/officeDocument/2006/relationships/slide" Target="/ppt/slides/slide16.xml" Id="Rd1cb7b87fb314484" /><Relationship Type="http://schemas.openxmlformats.org/officeDocument/2006/relationships/slide" Target="/ppt/slides/slide17.xml" Id="Rc5407916143b46ce" /><Relationship Type="http://schemas.openxmlformats.org/officeDocument/2006/relationships/slide" Target="/ppt/slides/slide18.xml" Id="R9fae9084b1bb42c9" /><Relationship Type="http://schemas.openxmlformats.org/officeDocument/2006/relationships/slide" Target="/ppt/slides/slide19.xml" Id="Reb97a008d68a4e22" /><Relationship Type="http://schemas.openxmlformats.org/officeDocument/2006/relationships/slide" Target="/ppt/slides/slide20.xml" Id="R2e014503b76e4e94" /><Relationship Type="http://schemas.openxmlformats.org/officeDocument/2006/relationships/slide" Target="/ppt/slides/slide21.xml" Id="R5b85b0dc28074c6b" /><Relationship Type="http://schemas.openxmlformats.org/officeDocument/2006/relationships/slide" Target="/ppt/slides/slide22.xml" Id="Rf51ba9afb9044a41" /><Relationship Type="http://schemas.openxmlformats.org/officeDocument/2006/relationships/slide" Target="/ppt/slides/slide23.xml" Id="R06bc57bad7fe4930" /><Relationship Type="http://schemas.openxmlformats.org/officeDocument/2006/relationships/slide" Target="/ppt/slides/slide24.xml" Id="R01bf0b4f4e484835" /><Relationship Type="http://schemas.openxmlformats.org/officeDocument/2006/relationships/slide" Target="/ppt/slides/slide25.xml" Id="Rc3ba34f7da0f4198" /><Relationship Type="http://schemas.openxmlformats.org/officeDocument/2006/relationships/slide" Target="/ppt/slides/slide26.xml" Id="R6d7d082d9e7141eb" /><Relationship Type="http://schemas.openxmlformats.org/officeDocument/2006/relationships/slide" Target="/ppt/slides/slide27.xml" Id="R7306efb7fb914b01" /><Relationship Type="http://schemas.openxmlformats.org/officeDocument/2006/relationships/slide" Target="/ppt/slides/slide28.xml" Id="R5abe7ce442a44e71" /><Relationship Type="http://schemas.openxmlformats.org/officeDocument/2006/relationships/slide" Target="/ppt/slides/slide29.xml" Id="R2e9501af00fd4a35" /><Relationship Type="http://schemas.openxmlformats.org/officeDocument/2006/relationships/slide" Target="/ppt/slides/slide30.xml" Id="R1f0e2591c77a4bca" /><Relationship Type="http://schemas.openxmlformats.org/officeDocument/2006/relationships/slide" Target="/ppt/slides/slide31.xml" Id="R1756a2744d7c4e50" /><Relationship Type="http://schemas.openxmlformats.org/officeDocument/2006/relationships/slide" Target="/ppt/slides/slide32.xml" Id="R185fc21b20274758" /><Relationship Type="http://schemas.openxmlformats.org/officeDocument/2006/relationships/slide" Target="/ppt/slides/slide33.xml" Id="R055e6f661c9c442d" /><Relationship Type="http://schemas.openxmlformats.org/officeDocument/2006/relationships/slide" Target="/ppt/slides/slide34.xml" Id="Rd9795c2c736f48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19081ad3dd44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65bab3a244f54" /><Relationship Type="http://schemas.openxmlformats.org/officeDocument/2006/relationships/notesMaster" Target="/ppt/notesMasters/notesMaster1.xml" Id="R151f969c385449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5be19423b74285" /><Relationship Type="http://schemas.openxmlformats.org/officeDocument/2006/relationships/notesMaster" Target="/ppt/notesMasters/notesMaster1.xml" Id="Rcbe02738136445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6e7614c0e4980" /><Relationship Type="http://schemas.openxmlformats.org/officeDocument/2006/relationships/notesMaster" Target="/ppt/notesMasters/notesMaster1.xml" Id="R320b5f79e86e46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e086de05694e5d" /><Relationship Type="http://schemas.openxmlformats.org/officeDocument/2006/relationships/notesMaster" Target="/ppt/notesMasters/notesMaster1.xml" Id="Ra199254468a142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3f96e7c13f491f" /><Relationship Type="http://schemas.openxmlformats.org/officeDocument/2006/relationships/notesMaster" Target="/ppt/notesMasters/notesMaster1.xml" Id="R386df66412e545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76aa1704094ec1" /><Relationship Type="http://schemas.openxmlformats.org/officeDocument/2006/relationships/notesMaster" Target="/ppt/notesMasters/notesMaster1.xml" Id="Rab53bc0ea6c541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828d96c1a64e4a" /><Relationship Type="http://schemas.openxmlformats.org/officeDocument/2006/relationships/notesMaster" Target="/ppt/notesMasters/notesMaster1.xml" Id="Rce5c81cd7af04c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6703248b2a4983" /><Relationship Type="http://schemas.openxmlformats.org/officeDocument/2006/relationships/notesMaster" Target="/ppt/notesMasters/notesMaster1.xml" Id="Re5a358375ed347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236e15aa914f93" /><Relationship Type="http://schemas.openxmlformats.org/officeDocument/2006/relationships/notesMaster" Target="/ppt/notesMasters/notesMaster1.xml" Id="R9134954676d94e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4bb82dc58e4f4a" /><Relationship Type="http://schemas.openxmlformats.org/officeDocument/2006/relationships/notesMaster" Target="/ppt/notesMasters/notesMaster1.xml" Id="R240a0ba5139448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b9fc77ba6b48e1" /><Relationship Type="http://schemas.openxmlformats.org/officeDocument/2006/relationships/notesMaster" Target="/ppt/notesMasters/notesMaster1.xml" Id="R22798598d19848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0f7cefbe064e15" /><Relationship Type="http://schemas.openxmlformats.org/officeDocument/2006/relationships/notesMaster" Target="/ppt/notesMasters/notesMaster1.xml" Id="R7c040d04ef2f45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3e35c716f8487f" /><Relationship Type="http://schemas.openxmlformats.org/officeDocument/2006/relationships/notesMaster" Target="/ppt/notesMasters/notesMaster1.xml" Id="R2a44f53ced0340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0c070875474cb9" /><Relationship Type="http://schemas.openxmlformats.org/officeDocument/2006/relationships/notesMaster" Target="/ppt/notesMasters/notesMaster1.xml" Id="R97ed7796d3744e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7fdaf7ce294269" /><Relationship Type="http://schemas.openxmlformats.org/officeDocument/2006/relationships/notesMaster" Target="/ppt/notesMasters/notesMaster1.xml" Id="R6cac3a05bb984e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f03e4436514f73" /><Relationship Type="http://schemas.openxmlformats.org/officeDocument/2006/relationships/notesMaster" Target="/ppt/notesMasters/notesMaster1.xml" Id="R02fabc0cc3754a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be19acf80641c0" /><Relationship Type="http://schemas.openxmlformats.org/officeDocument/2006/relationships/notesMaster" Target="/ppt/notesMasters/notesMaster1.xml" Id="R15ab41191b9d48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a7348410f44e4b" /><Relationship Type="http://schemas.openxmlformats.org/officeDocument/2006/relationships/notesMaster" Target="/ppt/notesMasters/notesMaster1.xml" Id="Ra3ad2f44f76946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ff71e4378749e9" /><Relationship Type="http://schemas.openxmlformats.org/officeDocument/2006/relationships/notesMaster" Target="/ppt/notesMasters/notesMaster1.xml" Id="Rd5a00f839e3246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c6eea5105f4b0a" /><Relationship Type="http://schemas.openxmlformats.org/officeDocument/2006/relationships/notesMaster" Target="/ppt/notesMasters/notesMaster1.xml" Id="Raad03375d40341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e383390f944987" /><Relationship Type="http://schemas.openxmlformats.org/officeDocument/2006/relationships/notesMaster" Target="/ppt/notesMasters/notesMaster1.xml" Id="R363eaedfd96541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3771681c974df4" /><Relationship Type="http://schemas.openxmlformats.org/officeDocument/2006/relationships/notesMaster" Target="/ppt/notesMasters/notesMaster1.xml" Id="Rd3fda488579540f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d13a70dba04065" /><Relationship Type="http://schemas.openxmlformats.org/officeDocument/2006/relationships/notesMaster" Target="/ppt/notesMasters/notesMaster1.xml" Id="R7329fe15e90c484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881a6b654b43f8" /><Relationship Type="http://schemas.openxmlformats.org/officeDocument/2006/relationships/notesMaster" Target="/ppt/notesMasters/notesMaster1.xml" Id="Re5e8538b5c4f43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b8256479e2409c" /><Relationship Type="http://schemas.openxmlformats.org/officeDocument/2006/relationships/notesMaster" Target="/ppt/notesMasters/notesMaster1.xml" Id="R192033c5f7144cd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568cef14184644" /><Relationship Type="http://schemas.openxmlformats.org/officeDocument/2006/relationships/notesMaster" Target="/ppt/notesMasters/notesMaster1.xml" Id="R8ea1f00aa64441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abce962a6049af" /><Relationship Type="http://schemas.openxmlformats.org/officeDocument/2006/relationships/notesMaster" Target="/ppt/notesMasters/notesMaster1.xml" Id="R25bdb488aece45c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8e29dab0b5044aa" /><Relationship Type="http://schemas.openxmlformats.org/officeDocument/2006/relationships/notesMaster" Target="/ppt/notesMasters/notesMaster1.xml" Id="R3e27945f9d3e4e9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cb9e3046494e9c" /><Relationship Type="http://schemas.openxmlformats.org/officeDocument/2006/relationships/notesMaster" Target="/ppt/notesMasters/notesMaster1.xml" Id="Re94e0a0bafb340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3dfd87fb627488f" /><Relationship Type="http://schemas.openxmlformats.org/officeDocument/2006/relationships/notesMaster" Target="/ppt/notesMasters/notesMaster1.xml" Id="R58d3590ca4dc4aa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c784a185ad40c7" /><Relationship Type="http://schemas.openxmlformats.org/officeDocument/2006/relationships/notesMaster" Target="/ppt/notesMasters/notesMaster1.xml" Id="Rbe055d3358944d5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610841afef74191" /><Relationship Type="http://schemas.openxmlformats.org/officeDocument/2006/relationships/notesMaster" Target="/ppt/notesMasters/notesMaster1.xml" Id="R776c6daaaae74d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2715c5d762c4cdc" /><Relationship Type="http://schemas.openxmlformats.org/officeDocument/2006/relationships/notesMaster" Target="/ppt/notesMasters/notesMaster1.xml" Id="Rfa0763c816134ef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a9719e6b2aa4b3e" /><Relationship Type="http://schemas.openxmlformats.org/officeDocument/2006/relationships/notesMaster" Target="/ppt/notesMasters/notesMaster1.xml" Id="Rdebbeca2c67d43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Tell students that the class will connect three ideas. Static files design the site, media files come from users, and the database stores structured information. We will build one small Student Portal so every concept has a practical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repeat the three verbs: build, display, store. Explain that each part solves a different problem. By the end, they should be able to say where CSS lives, where uploads live, and where student records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the flow slowly. A browser sends a request. Django finds the URL and view. The view returns a template. Static files improve the design. Media shows uploaded content. The model and database preserve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school analogy. The whole school is the project. Departments such as admissions, payments and courses are apps. A project can have many apps, and each app should focus on a related set of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one command at a time. After activation, point to (venv) in the terminal. Explain that Pillow becomes necessary when the project accepts images. Ask students why package isolation helps when two projects need different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startproject and let students inspect the folders. Then create the app. Open settings.py and register students. Explain that creating an app does not automatically register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boxes from left to right. Keep the definition simple: a view is a Python function that receives a request and returns a response. In this case the response comes from an HTML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for examples before revealing the list. Clarify that static does not mean useless or unchanging forever. It means the developer includes the file as part of the application rather than receiving it as a user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folder structure in VS Code. Explain namespace with two apps that both have style.css. The app name inside static keeps each path unique.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at the two Django template tags. Students often forget load static or type the wrong path. Remind them that the path begins after the app's static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best point for a live demonstration. Use a dramatic colour first so the change is obvious. If it does not update, check the file path and try a hard refresh. Ask one student to describe what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this with static files. The developer did not place Ada's personal photo in the source code. Ada supplied it through a form or the admin site while the application was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a disk location and a URL. The URL is what the browser requests. The root is where Django finds the file. State clearly that this URL helper is for local development while DEBUG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questioning slide. Cover one side mentally and ask students to classify examples. A company logo added by the developer is static. A profile picture uploaded by a student is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register-book analogy. A variable in Python can disappear when the program stops. A database preserves the record. Structured means each student follows defined fields such as name, email and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db.sqlite3 in the file explorer after migration. Tell students not to worry about SQL installation for this introductory class. SQLite lets them focus on Django's database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model one line at a time. Avoid explaining every option at once. Start with name and course. Then explain unique email, positive age, optional picture and automatic creation time. __str__ makes records readable in 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building analogy. The model is the plan. makemigrations writes construction instructions. migrate performs the construction. Repeat both commands whenever the model structure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class, choose a password you can enter confidently. Explain that the admin is a management interface, not the public student page. After uploading an image, show the media folder and the Student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corrects a common misunderstanding. The database usually stores the path, not the full image itself. The file system or cloud storage holds the actual file. Django connects the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python manage.py shell and demonstrate one operation at a time. ORM lets us use Python instead of writing raw SQL for everyday work. CRUD means Create, Read, Update and Delete.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students to work in pairs. Watch for migration errors after adding phone_number. If Django asks for a default, explain why existing rows need a value. Beginners can use blank=True temporarily or recreate records in a fresh learning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your lesson checklist. If time becomes short, finish through migrations and admin. Move ORM shell practice to the next class rather than rushing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begins the practical reference section. Every code slide names the exact destination file. The code is editable in PowerPoint, so select the code inside the dark box and copy it into VS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this entire block into students/views.py. The blank lines follow normal Python formatting. Save the file before moving to the URL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students/urls.py because startapp does not create it. Replace the contents of config/urls.py with the second block. The final DEBUG section serves uploaded media during local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the folders templates/students inside the students app. Then create home.html and copy the full block. Point out the load static tag and the CSS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static/students/css inside the students app. Copy the code into style.css. Change the background colour during the live demonstration to prove that Django loaded the static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create a second INSTALLED_APPS variable. Add students to Django's existing list. Add the media settings near STATIC_URL. Save settings.py.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students/models.py with this complete model. Pillow must already be installed for ImageField. After saving, run makemigrations and migrate.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admin.py first. Run the terminal commands one at a time. The createsuperuser command asks for credentials. Open admin and create a student with a profile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shell command in the terminal. Copy the Python lines in small sections so students can see each result. The record ID may differ if the database already contains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compare the students' file explorer with the expected structure. The media folder appears after the first upload. db.sqlite3 appears after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three students to explain one concept each. Correct gently and return to the key distinction: static belongs to the application's design, media comes from users, and the database stores structured information and file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925d78790e4e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c21a1972754bce" /><Relationship Type="http://schemas.openxmlformats.org/officeDocument/2006/relationships/slideLayout" Target="/ppt/slideLayouts/slideLayout1.xml" Id="R91a70b5e42f44e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a70b5e42f44e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830545f0274e04" /><Relationship Type="http://schemas.openxmlformats.org/officeDocument/2006/relationships/notesSlide" Target="/ppt/notesSlides/notesSlide1.xml" Id="R0599b484305244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75991b19784ccd" /><Relationship Type="http://schemas.openxmlformats.org/officeDocument/2006/relationships/notesSlide" Target="/ppt/notesSlides/notesSlide2.xml" Id="Raa3e520023a942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3dc71ef5b446aa" /><Relationship Type="http://schemas.openxmlformats.org/officeDocument/2006/relationships/notesSlide" Target="/ppt/notesSlides/notesSlide3.xml" Id="R64dcbf7374704f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e4a02265554072" /><Relationship Type="http://schemas.openxmlformats.org/officeDocument/2006/relationships/notesSlide" Target="/ppt/notesSlides/notesSlide4.xml" Id="R1b5e1e18d12748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dbf610322d4441" /><Relationship Type="http://schemas.openxmlformats.org/officeDocument/2006/relationships/notesSlide" Target="/ppt/notesSlides/notesSlide5.xml" Id="R11e2d4e859ee48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abd458565e4f1f" /><Relationship Type="http://schemas.openxmlformats.org/officeDocument/2006/relationships/notesSlide" Target="/ppt/notesSlides/notesSlide6.xml" Id="R50bc611381e04a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68114a255a42a2" /><Relationship Type="http://schemas.openxmlformats.org/officeDocument/2006/relationships/notesSlide" Target="/ppt/notesSlides/notesSlide7.xml" Id="R1e6d4d0c83a14c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caad3e4e2845c3" /><Relationship Type="http://schemas.openxmlformats.org/officeDocument/2006/relationships/notesSlide" Target="/ppt/notesSlides/notesSlide8.xml" Id="R45ac1371996b4d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b0c7044048b4904" /><Relationship Type="http://schemas.openxmlformats.org/officeDocument/2006/relationships/notesSlide" Target="/ppt/notesSlides/notesSlide9.xml" Id="R9a3d50cc088e4e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5f6290b6a64715" /><Relationship Type="http://schemas.openxmlformats.org/officeDocument/2006/relationships/notesSlide" Target="/ppt/notesSlides/notesSlide10.xml" Id="Ra412f9fca9e74e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a54dc872154548" /><Relationship Type="http://schemas.openxmlformats.org/officeDocument/2006/relationships/notesSlide" Target="/ppt/notesSlides/notesSlide11.xml" Id="R1418b0694cb54b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69ed271b764cf2" /><Relationship Type="http://schemas.openxmlformats.org/officeDocument/2006/relationships/notesSlide" Target="/ppt/notesSlides/notesSlide12.xml" Id="R31257ce713fc4b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983e37e40d43a0" /><Relationship Type="http://schemas.openxmlformats.org/officeDocument/2006/relationships/notesSlide" Target="/ppt/notesSlides/notesSlide13.xml" Id="R5488de8151a745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b0747be21046ca" /><Relationship Type="http://schemas.openxmlformats.org/officeDocument/2006/relationships/notesSlide" Target="/ppt/notesSlides/notesSlide14.xml" Id="R391d2da78bd847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9067131fe34eaa" /><Relationship Type="http://schemas.openxmlformats.org/officeDocument/2006/relationships/notesSlide" Target="/ppt/notesSlides/notesSlide15.xml" Id="Rc1de4f9e1aeb43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e8e0f2dff34847" /><Relationship Type="http://schemas.openxmlformats.org/officeDocument/2006/relationships/notesSlide" Target="/ppt/notesSlides/notesSlide16.xml" Id="R3050fcd90d2647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6adf7f4ee4945f8" /><Relationship Type="http://schemas.openxmlformats.org/officeDocument/2006/relationships/notesSlide" Target="/ppt/notesSlides/notesSlide17.xml" Id="R7f558abb708348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3d9e2d66c31449d" /><Relationship Type="http://schemas.openxmlformats.org/officeDocument/2006/relationships/notesSlide" Target="/ppt/notesSlides/notesSlide18.xml" Id="R85461bd134224d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4d9ffedb5b4db1" /><Relationship Type="http://schemas.openxmlformats.org/officeDocument/2006/relationships/notesSlide" Target="/ppt/notesSlides/notesSlide19.xml" Id="R7579a7ea206440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46f08b47d2a4088" /><Relationship Type="http://schemas.openxmlformats.org/officeDocument/2006/relationships/notesSlide" Target="/ppt/notesSlides/notesSlide20.xml" Id="Rb6be00ae666244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ccb04523d0648f3" /><Relationship Type="http://schemas.openxmlformats.org/officeDocument/2006/relationships/notesSlide" Target="/ppt/notesSlides/notesSlide21.xml" Id="Rf9d63833e53c47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cced42afc348ff" /><Relationship Type="http://schemas.openxmlformats.org/officeDocument/2006/relationships/notesSlide" Target="/ppt/notesSlides/notesSlide22.xml" Id="R2d7a3c9c8e744c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a203e06405d4192" /><Relationship Type="http://schemas.openxmlformats.org/officeDocument/2006/relationships/notesSlide" Target="/ppt/notesSlides/notesSlide23.xml" Id="R4af7242aad8d4a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ce7022575f4fe1" /><Relationship Type="http://schemas.openxmlformats.org/officeDocument/2006/relationships/notesSlide" Target="/ppt/notesSlides/notesSlide24.xml" Id="R1e5a1bd6ebd244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eff2a4a34c9442c" /><Relationship Type="http://schemas.openxmlformats.org/officeDocument/2006/relationships/notesSlide" Target="/ppt/notesSlides/notesSlide25.xml" Id="Red5123e87212417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dc83318757849b5" /><Relationship Type="http://schemas.openxmlformats.org/officeDocument/2006/relationships/notesSlide" Target="/ppt/notesSlides/notesSlide26.xml" Id="Rea47722cfe8244c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c9f1a67d59b4405" /><Relationship Type="http://schemas.openxmlformats.org/officeDocument/2006/relationships/notesSlide" Target="/ppt/notesSlides/notesSlide27.xml" Id="R38d1546044f048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b5d913514da4481" /><Relationship Type="http://schemas.openxmlformats.org/officeDocument/2006/relationships/notesSlide" Target="/ppt/notesSlides/notesSlide28.xml" Id="R6fe61bc6939a48a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ea3b28467da4d5e" /><Relationship Type="http://schemas.openxmlformats.org/officeDocument/2006/relationships/notesSlide" Target="/ppt/notesSlides/notesSlide29.xml" Id="R49c46804fa98431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83e70ad8b8847bd" /><Relationship Type="http://schemas.openxmlformats.org/officeDocument/2006/relationships/notesSlide" Target="/ppt/notesSlides/notesSlide30.xml" Id="R57d1887bc88f44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f99c8781b3e44bc" /><Relationship Type="http://schemas.openxmlformats.org/officeDocument/2006/relationships/notesSlide" Target="/ppt/notesSlides/notesSlide31.xml" Id="R5c9beae15b764a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240b5a538f04fc9" /><Relationship Type="http://schemas.openxmlformats.org/officeDocument/2006/relationships/notesSlide" Target="/ppt/notesSlides/notesSlide32.xml" Id="R05d4891d3faf43c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429101e2b4e474b" /><Relationship Type="http://schemas.openxmlformats.org/officeDocument/2006/relationships/notesSlide" Target="/ppt/notesSlides/notesSlide33.xml" Id="R13677ae71eda41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a9b7ff88a3d4471" /><Relationship Type="http://schemas.openxmlformats.org/officeDocument/2006/relationships/notesSlide" Target="/ppt/notesSlides/notesSlide34.xml" Id="R5b4bb1ae6668451d" /></Relationships>
</file>

<file path=ppt/slides/slide1.xml><?xml version="1.0" encoding="utf-8"?>
<p:sld xmlns:p="http://schemas.openxmlformats.org/presentationml/2006/main">
  <p:cSld>
    <p:bg>
      <p:bgPr>
        <a:solidFill xmlns:a="http://schemas.openxmlformats.org/drawingml/2006/main">
          <a:srgbClr val="082A4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749CC9-70CC-4996-808F-A44C5272CBB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F27943-9D71-4CA5-9078-692024B96C8E}"/>
              </a:ext>
            </a:extLst>
          </p:cNvPr>
          <p:cNvSpPr>
            <a:spLocks xmlns:a="http://schemas.openxmlformats.org/drawingml/2006/main" noGrp="1"/>
          </p:cNvSpPr>
          <p:nvPr/>
        </p:nvSpPr>
        <p:spPr>
          <a:xfrm xmlns:a="http://schemas.openxmlformats.org/drawingml/2006/main">
            <a:off x="7620000" y="-762000"/>
            <a:ext cx="5334000" cy="5334000"/>
          </a:xfrm>
          <a:prstGeom xmlns:a="http://schemas.openxmlformats.org/drawingml/2006/main" prst="rect">
            <a:avLst/>
          </a:prstGeom>
          <a:solidFill xmlns:a="http://schemas.openxmlformats.org/drawingml/2006/main">
            <a:srgbClr val="0D3B6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D21140-87C7-45D5-A6B9-1AED54A5D37F}"/>
              </a:ext>
            </a:extLst>
          </p:cNvPr>
          <p:cNvSpPr>
            <a:spLocks xmlns:a="http://schemas.openxmlformats.org/drawingml/2006/main" noGrp="1"/>
          </p:cNvSpPr>
          <p:nvPr/>
        </p:nvSpPr>
        <p:spPr>
          <a:xfrm xmlns:a="http://schemas.openxmlformats.org/drawingml/2006/main">
            <a:off x="8715375" y="3524250"/>
            <a:ext cx="2762250" cy="2000250"/>
          </a:xfrm>
          <a:prstGeom xmlns:a="http://schemas.openxmlformats.org/drawingml/2006/main" prst="roundRect">
            <a:avLst>
              <a:gd name="adj" fmla="val 3810"/>
            </a:avLst>
          </a:prstGeom>
          <a:solidFill xmlns:a="http://schemas.openxmlformats.org/drawingml/2006/main">
            <a:srgbClr val="1261A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EE1170-BDB4-4E26-B410-D017C066D8BC}"/>
              </a:ext>
            </a:extLst>
          </p:cNvPr>
          <p:cNvSpPr>
            <a:spLocks xmlns:a="http://schemas.openxmlformats.org/drawingml/2006/main" noGrp="1"/>
          </p:cNvSpPr>
          <p:nvPr/>
        </p:nvSpPr>
        <p:spPr>
          <a:xfrm xmlns:a="http://schemas.openxmlformats.org/drawingml/2006/main">
            <a:off x="9048750" y="38100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STATIC</a:t>
            </a:r>
          </a:p>
        </p:txBody>
      </p:sp>
      <p:sp>
        <p:nvSpPr>
          <p:cNvPr id="5" name="">
            <a:extLst xmlns:a="http://schemas.openxmlformats.org/drawingml/2006/main">
              <a:ext uri="{FF2B5EF4-FFF2-40B4-BE49-F238E27FC236}">
                <a16:creationId xmlns:a16="http://schemas.microsoft.com/office/drawing/2014/main" id="{15487209-55BE-429D-A5DD-6DA556E79CC1}"/>
              </a:ext>
            </a:extLst>
          </p:cNvPr>
          <p:cNvSpPr>
            <a:spLocks xmlns:a="http://schemas.openxmlformats.org/drawingml/2006/main" noGrp="1"/>
          </p:cNvSpPr>
          <p:nvPr/>
        </p:nvSpPr>
        <p:spPr>
          <a:xfrm xmlns:a="http://schemas.openxmlformats.org/drawingml/2006/main">
            <a:off x="9048750" y="43624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MEDIA</a:t>
            </a:r>
          </a:p>
        </p:txBody>
      </p:sp>
      <p:sp>
        <p:nvSpPr>
          <p:cNvPr id="6" name="">
            <a:extLst xmlns:a="http://schemas.openxmlformats.org/drawingml/2006/main">
              <a:ext uri="{FF2B5EF4-FFF2-40B4-BE49-F238E27FC236}">
                <a16:creationId xmlns:a16="http://schemas.microsoft.com/office/drawing/2014/main" id="{6A5A33FD-15CA-44DA-856F-E297C56DED9D}"/>
              </a:ext>
            </a:extLst>
          </p:cNvPr>
          <p:cNvSpPr>
            <a:spLocks xmlns:a="http://schemas.openxmlformats.org/drawingml/2006/main" noGrp="1"/>
          </p:cNvSpPr>
          <p:nvPr/>
        </p:nvSpPr>
        <p:spPr>
          <a:xfrm xmlns:a="http://schemas.openxmlformats.org/drawingml/2006/main">
            <a:off x="9048750" y="49149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DATABASE</a:t>
            </a:r>
          </a:p>
        </p:txBody>
      </p:sp>
      <p:sp>
        <p:nvSpPr>
          <p:cNvPr id="7" name="">
            <a:extLst xmlns:a="http://schemas.openxmlformats.org/drawingml/2006/main">
              <a:ext uri="{FF2B5EF4-FFF2-40B4-BE49-F238E27FC236}">
                <a16:creationId xmlns:a16="http://schemas.microsoft.com/office/drawing/2014/main" id="{0A27B6AD-304C-422A-826F-B76FDF2B3CE1}"/>
              </a:ext>
            </a:extLst>
          </p:cNvPr>
          <p:cNvSpPr>
            <a:spLocks xmlns:a="http://schemas.openxmlformats.org/drawingml/2006/main" noGrp="1"/>
          </p:cNvSpPr>
          <p:nvPr/>
        </p:nvSpPr>
        <p:spPr>
          <a:xfrm xmlns:a="http://schemas.openxmlformats.org/drawingml/2006/main">
            <a:off x="762000" y="1238250"/>
            <a:ext cx="676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Django Static, Media</a:t>
            </a:r>
          </a:p>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and Database Basics</a:t>
            </a:r>
          </a:p>
        </p:txBody>
      </p:sp>
      <p:sp>
        <p:nvSpPr>
          <p:cNvPr id="8" name="">
            <a:extLst xmlns:a="http://schemas.openxmlformats.org/drawingml/2006/main">
              <a:ext uri="{FF2B5EF4-FFF2-40B4-BE49-F238E27FC236}">
                <a16:creationId xmlns:a16="http://schemas.microsoft.com/office/drawing/2014/main" id="{BAFB9590-CFE6-4499-9957-BF1E8665575E}"/>
              </a:ext>
            </a:extLst>
          </p:cNvPr>
          <p:cNvSpPr>
            <a:spLocks xmlns:a="http://schemas.openxmlformats.org/drawingml/2006/main" noGrp="1"/>
          </p:cNvSpPr>
          <p:nvPr/>
        </p:nvSpPr>
        <p:spPr>
          <a:xfrm xmlns:a="http://schemas.openxmlformats.org/drawingml/2006/main">
            <a:off x="800100"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B9D7EA"/>
                </a:solidFill>
                <a:latin typeface="DejaVu Sans"/>
                <a:ea typeface="DejaVu Sans"/>
                <a:cs typeface="DejaVu Sans"/>
              </a:defRPr>
            </a:pPr>
            <a:r>
              <a:rPr sz="1725" b="0">
                <a:solidFill>
                  <a:srgbClr val="B9D7EA"/>
                </a:solidFill>
                <a:latin typeface="DejaVu Sans"/>
                <a:ea typeface="DejaVu Sans"/>
                <a:cs typeface="DejaVu Sans"/>
              </a:rPr>
              <a:t>A beginner-friendly classroom walkthrough</a:t>
            </a:r>
          </a:p>
        </p:txBody>
      </p:sp>
      <p:sp>
        <p:nvSpPr>
          <p:cNvPr id="9" name="">
            <a:extLst xmlns:a="http://schemas.openxmlformats.org/drawingml/2006/main">
              <a:ext uri="{FF2B5EF4-FFF2-40B4-BE49-F238E27FC236}">
                <a16:creationId xmlns:a16="http://schemas.microsoft.com/office/drawing/2014/main" id="{498E04BC-1540-4CCD-9B16-02DF8637DBCA}"/>
              </a:ext>
            </a:extLst>
          </p:cNvPr>
          <p:cNvSpPr>
            <a:spLocks xmlns:a="http://schemas.openxmlformats.org/drawingml/2006/main" noGrp="1"/>
          </p:cNvSpPr>
          <p:nvPr/>
        </p:nvSpPr>
        <p:spPr>
          <a:xfrm xmlns:a="http://schemas.openxmlformats.org/drawingml/2006/main">
            <a:off x="800100" y="4095750"/>
            <a:ext cx="2476500" cy="400050"/>
          </a:xfrm>
          <a:prstGeom xmlns:a="http://schemas.openxmlformats.org/drawingml/2006/main" prst="roundRect">
            <a:avLst>
              <a:gd name="adj" fmla="val 19048"/>
            </a:avLst>
          </a:prstGeom>
          <a:solidFill xmlns:a="http://schemas.openxmlformats.org/drawingml/2006/main">
            <a:srgbClr val="16A3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2299FCB-AEEC-4292-8C2F-BBD560584123}"/>
              </a:ext>
            </a:extLst>
          </p:cNvPr>
          <p:cNvSpPr>
            <a:spLocks xmlns:a="http://schemas.openxmlformats.org/drawingml/2006/main" noGrp="1"/>
          </p:cNvSpPr>
          <p:nvPr/>
        </p:nvSpPr>
        <p:spPr>
          <a:xfrm xmlns:a="http://schemas.openxmlformats.org/drawingml/2006/main">
            <a:off x="914400" y="41338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Student Portal project</a:t>
            </a:r>
          </a:p>
        </p:txBody>
      </p:sp>
      <p:sp>
        <p:nvSpPr>
          <p:cNvPr id="11" name="">
            <a:extLst xmlns:a="http://schemas.openxmlformats.org/drawingml/2006/main">
              <a:ext uri="{FF2B5EF4-FFF2-40B4-BE49-F238E27FC236}">
                <a16:creationId xmlns:a16="http://schemas.microsoft.com/office/drawing/2014/main" id="{FED6276E-D64C-4340-B8BB-2A3F7DF84B93}"/>
              </a:ext>
            </a:extLst>
          </p:cNvPr>
          <p:cNvSpPr>
            <a:spLocks xmlns:a="http://schemas.openxmlformats.org/drawingml/2006/main" noGrp="1"/>
          </p:cNvSpPr>
          <p:nvPr/>
        </p:nvSpPr>
        <p:spPr>
          <a:xfrm xmlns:a="http://schemas.openxmlformats.org/drawingml/2006/main">
            <a:off x="800100" y="58578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B9D7EA"/>
                </a:solidFill>
                <a:latin typeface="DejaVu Sans"/>
                <a:ea typeface="DejaVu Sans"/>
                <a:cs typeface="DejaVu Sans"/>
              </a:defRPr>
            </a:pPr>
            <a:r>
              <a:rPr sz="1200" b="0">
                <a:solidFill>
                  <a:srgbClr val="B9D7EA"/>
                </a:solidFill>
                <a:latin typeface="DejaVu Sans"/>
                <a:ea typeface="DejaVu Sans"/>
                <a:cs typeface="DejaVu Sans"/>
              </a:rPr>
              <a:t>Instructor guide</a:t>
            </a:r>
          </a:p>
        </p:txBody>
      </p:sp>
    </p:spTree>
    <p:extLst>
      <p:ext uri="{BB962C8B-B14F-4D97-AF65-F5344CB8AC3E}">
        <p14:creationId xmlns:p14="http://schemas.microsoft.com/office/powerpoint/2010/main" val="12671427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34EBE8-7AA9-4BBD-9F9D-37B0B7F313A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B4E996-580F-4870-B44B-FB3CA1DFD977}"/>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LESSON OVERVIEW</a:t>
            </a:r>
          </a:p>
        </p:txBody>
      </p:sp>
      <p:sp>
        <p:nvSpPr>
          <p:cNvPr id="3" name="">
            <a:extLst xmlns:a="http://schemas.openxmlformats.org/drawingml/2006/main">
              <a:ext uri="{FF2B5EF4-FFF2-40B4-BE49-F238E27FC236}">
                <a16:creationId xmlns:a16="http://schemas.microsoft.com/office/drawing/2014/main" id="{798A1129-D9D5-481B-B211-2276B34D992E}"/>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What students will understand</a:t>
            </a:r>
          </a:p>
        </p:txBody>
      </p:sp>
      <p:sp>
        <p:nvSpPr>
          <p:cNvPr id="4" name="">
            <a:extLst xmlns:a="http://schemas.openxmlformats.org/drawingml/2006/main">
              <a:ext uri="{FF2B5EF4-FFF2-40B4-BE49-F238E27FC236}">
                <a16:creationId xmlns:a16="http://schemas.microsoft.com/office/drawing/2014/main" id="{95CB6965-1899-4EA7-AE75-AF309F4D8895}"/>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5A435F-DA87-47F9-BA02-07CB3484D51A}"/>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67FB370F-A8D2-4D62-95F1-D110FE5BEDB7}"/>
              </a:ext>
            </a:extLst>
          </p:cNvPr>
          <p:cNvSpPr>
            <a:spLocks xmlns:a="http://schemas.openxmlformats.org/drawingml/2006/main" noGrp="1"/>
          </p:cNvSpPr>
          <p:nvPr/>
        </p:nvSpPr>
        <p:spPr>
          <a:xfrm xmlns:a="http://schemas.openxmlformats.org/drawingml/2006/main">
            <a:off x="666750" y="1666875"/>
            <a:ext cx="3333750" cy="1619250"/>
          </a:xfrm>
          <a:prstGeom xmlns:a="http://schemas.openxmlformats.org/drawingml/2006/main" prst="roundRect">
            <a:avLst>
              <a:gd name="adj" fmla="val 4706"/>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38B2788E-EDB3-4D3A-9D2F-9A59D5B1D6B6}"/>
              </a:ext>
            </a:extLst>
          </p:cNvPr>
          <p:cNvSpPr>
            <a:spLocks xmlns:a="http://schemas.openxmlformats.org/drawingml/2006/main" noGrp="1"/>
          </p:cNvSpPr>
          <p:nvPr/>
        </p:nvSpPr>
        <p:spPr>
          <a:xfrm xmlns:a="http://schemas.openxmlformats.org/drawingml/2006/main">
            <a:off x="666750" y="1666875"/>
            <a:ext cx="76200" cy="16192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C77A31-B4C1-44D0-841F-0761A6C4DDC8}"/>
              </a:ext>
            </a:extLst>
          </p:cNvPr>
          <p:cNvSpPr>
            <a:spLocks xmlns:a="http://schemas.openxmlformats.org/drawingml/2006/main" noGrp="1"/>
          </p:cNvSpPr>
          <p:nvPr/>
        </p:nvSpPr>
        <p:spPr>
          <a:xfrm xmlns:a="http://schemas.openxmlformats.org/drawingml/2006/main">
            <a:off x="933450" y="1838325"/>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1. Build</a:t>
            </a:r>
          </a:p>
        </p:txBody>
      </p:sp>
      <p:sp>
        <p:nvSpPr>
          <p:cNvPr id="9" name="">
            <a:extLst xmlns:a="http://schemas.openxmlformats.org/drawingml/2006/main">
              <a:ext uri="{FF2B5EF4-FFF2-40B4-BE49-F238E27FC236}">
                <a16:creationId xmlns:a16="http://schemas.microsoft.com/office/drawing/2014/main" id="{C24D23D8-FBB1-40AC-80DB-8FC0307375E7}"/>
              </a:ext>
            </a:extLst>
          </p:cNvPr>
          <p:cNvSpPr>
            <a:spLocks xmlns:a="http://schemas.openxmlformats.org/drawingml/2006/main" noGrp="1"/>
          </p:cNvSpPr>
          <p:nvPr/>
        </p:nvSpPr>
        <p:spPr>
          <a:xfrm xmlns:a="http://schemas.openxmlformats.org/drawingml/2006/main">
            <a:off x="933450" y="2219325"/>
            <a:ext cx="287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Create a Django project and a students app.</a:t>
            </a:r>
          </a:p>
        </p:txBody>
      </p:sp>
      <p:sp>
        <p:nvSpPr>
          <p:cNvPr id="10" name="">
            <a:extLst xmlns:a="http://schemas.openxmlformats.org/drawingml/2006/main">
              <a:ext uri="{FF2B5EF4-FFF2-40B4-BE49-F238E27FC236}">
                <a16:creationId xmlns:a16="http://schemas.microsoft.com/office/drawing/2014/main" id="{323060DB-3225-4004-9DF7-ED7446AC0C78}"/>
              </a:ext>
            </a:extLst>
          </p:cNvPr>
          <p:cNvSpPr>
            <a:spLocks xmlns:a="http://schemas.openxmlformats.org/drawingml/2006/main" noGrp="1"/>
          </p:cNvSpPr>
          <p:nvPr/>
        </p:nvSpPr>
        <p:spPr>
          <a:xfrm xmlns:a="http://schemas.openxmlformats.org/drawingml/2006/main">
            <a:off x="4429125" y="1666875"/>
            <a:ext cx="3333750" cy="1619250"/>
          </a:xfrm>
          <a:prstGeom xmlns:a="http://schemas.openxmlformats.org/drawingml/2006/main" prst="roundRect">
            <a:avLst>
              <a:gd name="adj" fmla="val 4706"/>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43C9D39D-F6FC-4017-9E64-098690B298FC}"/>
              </a:ext>
            </a:extLst>
          </p:cNvPr>
          <p:cNvSpPr>
            <a:spLocks xmlns:a="http://schemas.openxmlformats.org/drawingml/2006/main" noGrp="1"/>
          </p:cNvSpPr>
          <p:nvPr/>
        </p:nvSpPr>
        <p:spPr>
          <a:xfrm xmlns:a="http://schemas.openxmlformats.org/drawingml/2006/main">
            <a:off x="4429125" y="1666875"/>
            <a:ext cx="76200" cy="161925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FFC16B-5ABB-4F3A-B673-00C92BB1A7F4}"/>
              </a:ext>
            </a:extLst>
          </p:cNvPr>
          <p:cNvSpPr>
            <a:spLocks xmlns:a="http://schemas.openxmlformats.org/drawingml/2006/main" noGrp="1"/>
          </p:cNvSpPr>
          <p:nvPr/>
        </p:nvSpPr>
        <p:spPr>
          <a:xfrm xmlns:a="http://schemas.openxmlformats.org/drawingml/2006/main">
            <a:off x="4695825" y="1838325"/>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2. Display</a:t>
            </a:r>
          </a:p>
        </p:txBody>
      </p:sp>
      <p:sp>
        <p:nvSpPr>
          <p:cNvPr id="13" name="">
            <a:extLst xmlns:a="http://schemas.openxmlformats.org/drawingml/2006/main">
              <a:ext uri="{FF2B5EF4-FFF2-40B4-BE49-F238E27FC236}">
                <a16:creationId xmlns:a16="http://schemas.microsoft.com/office/drawing/2014/main" id="{876BF350-3CAC-4FC8-9725-C61E1ED55AE5}"/>
              </a:ext>
            </a:extLst>
          </p:cNvPr>
          <p:cNvSpPr>
            <a:spLocks xmlns:a="http://schemas.openxmlformats.org/drawingml/2006/main" noGrp="1"/>
          </p:cNvSpPr>
          <p:nvPr/>
        </p:nvSpPr>
        <p:spPr>
          <a:xfrm xmlns:a="http://schemas.openxmlformats.org/drawingml/2006/main">
            <a:off x="4695825" y="2219325"/>
            <a:ext cx="287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Connect a template and CSS through Django static files.</a:t>
            </a:r>
          </a:p>
        </p:txBody>
      </p:sp>
      <p:sp>
        <p:nvSpPr>
          <p:cNvPr id="14" name="">
            <a:extLst xmlns:a="http://schemas.openxmlformats.org/drawingml/2006/main">
              <a:ext uri="{FF2B5EF4-FFF2-40B4-BE49-F238E27FC236}">
                <a16:creationId xmlns:a16="http://schemas.microsoft.com/office/drawing/2014/main" id="{19D6B63C-C559-45AE-A973-53481DE6CC0D}"/>
              </a:ext>
            </a:extLst>
          </p:cNvPr>
          <p:cNvSpPr>
            <a:spLocks xmlns:a="http://schemas.openxmlformats.org/drawingml/2006/main" noGrp="1"/>
          </p:cNvSpPr>
          <p:nvPr/>
        </p:nvSpPr>
        <p:spPr>
          <a:xfrm xmlns:a="http://schemas.openxmlformats.org/drawingml/2006/main">
            <a:off x="8191500" y="1666875"/>
            <a:ext cx="3333750" cy="1619250"/>
          </a:xfrm>
          <a:prstGeom xmlns:a="http://schemas.openxmlformats.org/drawingml/2006/main" prst="roundRect">
            <a:avLst>
              <a:gd name="adj" fmla="val 4706"/>
            </a:avLst>
          </a:prstGeom>
          <a:solidFill xmlns:a="http://schemas.openxmlformats.org/drawingml/2006/main">
            <a:srgbClr val="F4F8FB"/>
          </a:solidFill>
          <a:ln xmlns:a="http://schemas.openxmlformats.org/drawingml/2006/main" w="9525">
            <a:solidFill>
              <a:srgbClr val="C9D8E5"/>
            </a:solidFill>
          </a:ln>
        </p:spPr>
      </p:sp>
      <p:sp>
        <p:nvSpPr>
          <p:cNvPr id="15" name="">
            <a:extLst xmlns:a="http://schemas.openxmlformats.org/drawingml/2006/main">
              <a:ext uri="{FF2B5EF4-FFF2-40B4-BE49-F238E27FC236}">
                <a16:creationId xmlns:a16="http://schemas.microsoft.com/office/drawing/2014/main" id="{ECAA160A-C5E1-46A0-8A02-4210F62C6EF2}"/>
              </a:ext>
            </a:extLst>
          </p:cNvPr>
          <p:cNvSpPr>
            <a:spLocks xmlns:a="http://schemas.openxmlformats.org/drawingml/2006/main" noGrp="1"/>
          </p:cNvSpPr>
          <p:nvPr/>
        </p:nvSpPr>
        <p:spPr>
          <a:xfrm xmlns:a="http://schemas.openxmlformats.org/drawingml/2006/main">
            <a:off x="8191500" y="1666875"/>
            <a:ext cx="76200" cy="16192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6712D5-B180-4291-9364-74B04EE685DC}"/>
              </a:ext>
            </a:extLst>
          </p:cNvPr>
          <p:cNvSpPr>
            <a:spLocks xmlns:a="http://schemas.openxmlformats.org/drawingml/2006/main" noGrp="1"/>
          </p:cNvSpPr>
          <p:nvPr/>
        </p:nvSpPr>
        <p:spPr>
          <a:xfrm xmlns:a="http://schemas.openxmlformats.org/drawingml/2006/main">
            <a:off x="8458200" y="1838325"/>
            <a:ext cx="2876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3. Store</a:t>
            </a:r>
          </a:p>
        </p:txBody>
      </p:sp>
      <p:sp>
        <p:nvSpPr>
          <p:cNvPr id="17" name="">
            <a:extLst xmlns:a="http://schemas.openxmlformats.org/drawingml/2006/main">
              <a:ext uri="{FF2B5EF4-FFF2-40B4-BE49-F238E27FC236}">
                <a16:creationId xmlns:a16="http://schemas.microsoft.com/office/drawing/2014/main" id="{9321EF8E-485D-465D-9EC2-117CDD69896F}"/>
              </a:ext>
            </a:extLst>
          </p:cNvPr>
          <p:cNvSpPr>
            <a:spLocks xmlns:a="http://schemas.openxmlformats.org/drawingml/2006/main" noGrp="1"/>
          </p:cNvSpPr>
          <p:nvPr/>
        </p:nvSpPr>
        <p:spPr>
          <a:xfrm xmlns:a="http://schemas.openxmlformats.org/drawingml/2006/main">
            <a:off x="8458200" y="2219325"/>
            <a:ext cx="287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Upload an image and save student details in SQLite.</a:t>
            </a:r>
          </a:p>
        </p:txBody>
      </p:sp>
      <p:sp>
        <p:nvSpPr>
          <p:cNvPr id="18" name="">
            <a:extLst xmlns:a="http://schemas.openxmlformats.org/drawingml/2006/main">
              <a:ext uri="{FF2B5EF4-FFF2-40B4-BE49-F238E27FC236}">
                <a16:creationId xmlns:a16="http://schemas.microsoft.com/office/drawing/2014/main" id="{354B32B0-2ABC-43E2-973C-28E87AE9D3EA}"/>
              </a:ext>
            </a:extLst>
          </p:cNvPr>
          <p:cNvSpPr>
            <a:spLocks xmlns:a="http://schemas.openxmlformats.org/drawingml/2006/main" noGrp="1"/>
          </p:cNvSpPr>
          <p:nvPr/>
        </p:nvSpPr>
        <p:spPr>
          <a:xfrm xmlns:a="http://schemas.openxmlformats.org/drawingml/2006/main">
            <a:off x="666750" y="3714750"/>
            <a:ext cx="10858500" cy="1619250"/>
          </a:xfrm>
          <a:prstGeom xmlns:a="http://schemas.openxmlformats.org/drawingml/2006/main" prst="roundRect">
            <a:avLst>
              <a:gd name="adj" fmla="val 4706"/>
            </a:avLst>
          </a:prstGeom>
          <a:solidFill xmlns:a="http://schemas.openxmlformats.org/drawingml/2006/main">
            <a:srgbClr val="DDEFF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33BB43-609D-4605-A710-516B09ED6166}"/>
              </a:ext>
            </a:extLst>
          </p:cNvPr>
          <p:cNvSpPr>
            <a:spLocks xmlns:a="http://schemas.openxmlformats.org/drawingml/2006/main" noGrp="1"/>
          </p:cNvSpPr>
          <p:nvPr/>
        </p:nvSpPr>
        <p:spPr>
          <a:xfrm xmlns:a="http://schemas.openxmlformats.org/drawingml/2006/main">
            <a:off x="952500" y="40005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261A0"/>
                </a:solidFill>
                <a:latin typeface="DejaVu Sans"/>
                <a:ea typeface="DejaVu Sans"/>
                <a:cs typeface="DejaVu Sans"/>
              </a:defRPr>
            </a:pPr>
            <a:r>
              <a:rPr sz="1575" b="1">
                <a:solidFill>
                  <a:srgbClr val="1261A0"/>
                </a:solidFill>
                <a:latin typeface="DejaVu Sans"/>
                <a:ea typeface="DejaVu Sans"/>
                <a:cs typeface="DejaVu Sans"/>
              </a:rPr>
              <a:t>Class result</a:t>
            </a:r>
          </a:p>
        </p:txBody>
      </p:sp>
      <p:sp>
        <p:nvSpPr>
          <p:cNvPr id="20" name="">
            <a:extLst xmlns:a="http://schemas.openxmlformats.org/drawingml/2006/main">
              <a:ext uri="{FF2B5EF4-FFF2-40B4-BE49-F238E27FC236}">
                <a16:creationId xmlns:a16="http://schemas.microsoft.com/office/drawing/2014/main" id="{9CD0999F-CDEA-49AD-82B1-E2A8B1778A70}"/>
              </a:ext>
            </a:extLst>
          </p:cNvPr>
          <p:cNvSpPr>
            <a:spLocks xmlns:a="http://schemas.openxmlformats.org/drawingml/2006/main" noGrp="1"/>
          </p:cNvSpPr>
          <p:nvPr/>
        </p:nvSpPr>
        <p:spPr>
          <a:xfrm xmlns:a="http://schemas.openxmlformats.org/drawingml/2006/main">
            <a:off x="952500" y="4429125"/>
            <a:ext cx="971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A styled homepage plus a Student model that can hold names, emails, courses and profile pictures.</a:t>
            </a:r>
          </a:p>
        </p:txBody>
      </p:sp>
    </p:spTree>
    <p:extLst>
      <p:ext uri="{BB962C8B-B14F-4D97-AF65-F5344CB8AC3E}">
        <p14:creationId xmlns:p14="http://schemas.microsoft.com/office/powerpoint/2010/main" val="2010022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1D3254C-1A24-41EF-9510-AF745CAC0EA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8C0E85-0E6D-4AB3-BA33-CB9315D90205}"/>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LESSON OVERVIEW</a:t>
            </a:r>
          </a:p>
        </p:txBody>
      </p:sp>
      <p:sp>
        <p:nvSpPr>
          <p:cNvPr id="3" name="">
            <a:extLst xmlns:a="http://schemas.openxmlformats.org/drawingml/2006/main">
              <a:ext uri="{FF2B5EF4-FFF2-40B4-BE49-F238E27FC236}">
                <a16:creationId xmlns:a16="http://schemas.microsoft.com/office/drawing/2014/main" id="{FE0A2255-2E96-42F4-ABE1-279B2803B8BB}"/>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project we are building</a:t>
            </a:r>
          </a:p>
        </p:txBody>
      </p:sp>
      <p:sp>
        <p:nvSpPr>
          <p:cNvPr id="4" name="">
            <a:extLst xmlns:a="http://schemas.openxmlformats.org/drawingml/2006/main">
              <a:ext uri="{FF2B5EF4-FFF2-40B4-BE49-F238E27FC236}">
                <a16:creationId xmlns:a16="http://schemas.microsoft.com/office/drawing/2014/main" id="{7D1EF7C1-0B3D-450C-B10B-2D40A08FF4C9}"/>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0ADF12-6136-4AD5-8176-82A272268083}"/>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03</a:t>
            </a:r>
          </a:p>
        </p:txBody>
      </p:sp>
      <p:sp>
        <p:nvSpPr>
          <p:cNvPr id="6" name="">
            <a:extLst xmlns:a="http://schemas.openxmlformats.org/drawingml/2006/main">
              <a:ext uri="{FF2B5EF4-FFF2-40B4-BE49-F238E27FC236}">
                <a16:creationId xmlns:a16="http://schemas.microsoft.com/office/drawing/2014/main" id="{43771401-E016-4132-B834-E421C7A8AF25}"/>
              </a:ext>
            </a:extLst>
          </p:cNvPr>
          <p:cNvSpPr>
            <a:spLocks xmlns:a="http://schemas.openxmlformats.org/drawingml/2006/main" noGrp="1"/>
          </p:cNvSpPr>
          <p:nvPr/>
        </p:nvSpPr>
        <p:spPr>
          <a:xfrm xmlns:a="http://schemas.openxmlformats.org/drawingml/2006/main">
            <a:off x="1428750" y="1571625"/>
            <a:ext cx="9334500" cy="628650"/>
          </a:xfrm>
          <a:prstGeom xmlns:a="http://schemas.openxmlformats.org/drawingml/2006/main" prst="roundRect">
            <a:avLst>
              <a:gd name="adj" fmla="val 12121"/>
            </a:avLst>
          </a:prstGeom>
          <a:solidFill xmlns:a="http://schemas.openxmlformats.org/drawingml/2006/main">
            <a:srgbClr val="DDEF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56C90C-A810-4A04-96A9-402E7815A7D9}"/>
              </a:ext>
            </a:extLst>
          </p:cNvPr>
          <p:cNvSpPr>
            <a:spLocks xmlns:a="http://schemas.openxmlformats.org/drawingml/2006/main" noGrp="1"/>
          </p:cNvSpPr>
          <p:nvPr/>
        </p:nvSpPr>
        <p:spPr>
          <a:xfrm xmlns:a="http://schemas.openxmlformats.org/drawingml/2006/main">
            <a:off x="1428750" y="1571625"/>
            <a:ext cx="1666875" cy="628650"/>
          </a:xfrm>
          <a:prstGeom xmlns:a="http://schemas.openxmlformats.org/drawingml/2006/main" prst="roundRect">
            <a:avLst>
              <a:gd name="adj" fmla="val 12121"/>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C61957-FA54-48BD-B62B-469E79FAD50B}"/>
              </a:ext>
            </a:extLst>
          </p:cNvPr>
          <p:cNvSpPr>
            <a:spLocks xmlns:a="http://schemas.openxmlformats.org/drawingml/2006/main" noGrp="1"/>
          </p:cNvSpPr>
          <p:nvPr/>
        </p:nvSpPr>
        <p:spPr>
          <a:xfrm xmlns:a="http://schemas.openxmlformats.org/drawingml/2006/main">
            <a:off x="1600200" y="16478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Browser</a:t>
            </a:r>
          </a:p>
        </p:txBody>
      </p:sp>
      <p:sp>
        <p:nvSpPr>
          <p:cNvPr id="9" name="">
            <a:extLst xmlns:a="http://schemas.openxmlformats.org/drawingml/2006/main">
              <a:ext uri="{FF2B5EF4-FFF2-40B4-BE49-F238E27FC236}">
                <a16:creationId xmlns:a16="http://schemas.microsoft.com/office/drawing/2014/main" id="{E046F0ED-AEB9-4BDF-89AD-D831FAB991FF}"/>
              </a:ext>
            </a:extLst>
          </p:cNvPr>
          <p:cNvSpPr>
            <a:spLocks xmlns:a="http://schemas.openxmlformats.org/drawingml/2006/main" noGrp="1"/>
          </p:cNvSpPr>
          <p:nvPr/>
        </p:nvSpPr>
        <p:spPr>
          <a:xfrm xmlns:a="http://schemas.openxmlformats.org/drawingml/2006/main">
            <a:off x="3381375" y="16478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Requests the page</a:t>
            </a:r>
          </a:p>
        </p:txBody>
      </p:sp>
      <p:sp>
        <p:nvSpPr>
          <p:cNvPr id="10" name="">
            <a:extLst xmlns:a="http://schemas.openxmlformats.org/drawingml/2006/main">
              <a:ext uri="{FF2B5EF4-FFF2-40B4-BE49-F238E27FC236}">
                <a16:creationId xmlns:a16="http://schemas.microsoft.com/office/drawing/2014/main" id="{13B2E5C9-DB1C-4B1D-9335-E84533C1FAA4}"/>
              </a:ext>
            </a:extLst>
          </p:cNvPr>
          <p:cNvSpPr>
            <a:spLocks xmlns:a="http://schemas.openxmlformats.org/drawingml/2006/main" noGrp="1"/>
          </p:cNvSpPr>
          <p:nvPr/>
        </p:nvSpPr>
        <p:spPr>
          <a:xfrm xmlns:a="http://schemas.openxmlformats.org/drawingml/2006/main">
            <a:off x="1428750" y="2447925"/>
            <a:ext cx="9334500" cy="628650"/>
          </a:xfrm>
          <a:prstGeom xmlns:a="http://schemas.openxmlformats.org/drawingml/2006/main" prst="roundRect">
            <a:avLst>
              <a:gd name="adj" fmla="val 12121"/>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CAD8E418-2580-4B6C-B6FB-C35FD30A1A4E}"/>
              </a:ext>
            </a:extLst>
          </p:cNvPr>
          <p:cNvSpPr>
            <a:spLocks xmlns:a="http://schemas.openxmlformats.org/drawingml/2006/main" noGrp="1"/>
          </p:cNvSpPr>
          <p:nvPr/>
        </p:nvSpPr>
        <p:spPr>
          <a:xfrm xmlns:a="http://schemas.openxmlformats.org/drawingml/2006/main">
            <a:off x="1428750" y="2447925"/>
            <a:ext cx="1666875" cy="628650"/>
          </a:xfrm>
          <a:prstGeom xmlns:a="http://schemas.openxmlformats.org/drawingml/2006/main" prst="roundRect">
            <a:avLst>
              <a:gd name="adj" fmla="val 12121"/>
            </a:avLst>
          </a:prstGeom>
          <a:solidFill xmlns:a="http://schemas.openxmlformats.org/drawingml/2006/main">
            <a:srgbClr val="16A3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597A6A-AFF5-4150-BC4B-358C7DB1EF13}"/>
              </a:ext>
            </a:extLst>
          </p:cNvPr>
          <p:cNvSpPr>
            <a:spLocks xmlns:a="http://schemas.openxmlformats.org/drawingml/2006/main" noGrp="1"/>
          </p:cNvSpPr>
          <p:nvPr/>
        </p:nvSpPr>
        <p:spPr>
          <a:xfrm xmlns:a="http://schemas.openxmlformats.org/drawingml/2006/main">
            <a:off x="1600200" y="25241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Django</a:t>
            </a:r>
          </a:p>
        </p:txBody>
      </p:sp>
      <p:sp>
        <p:nvSpPr>
          <p:cNvPr id="13" name="">
            <a:extLst xmlns:a="http://schemas.openxmlformats.org/drawingml/2006/main">
              <a:ext uri="{FF2B5EF4-FFF2-40B4-BE49-F238E27FC236}">
                <a16:creationId xmlns:a16="http://schemas.microsoft.com/office/drawing/2014/main" id="{BDD5DED4-F3EA-4B59-9597-7A2FCCBD6726}"/>
              </a:ext>
            </a:extLst>
          </p:cNvPr>
          <p:cNvSpPr>
            <a:spLocks xmlns:a="http://schemas.openxmlformats.org/drawingml/2006/main" noGrp="1"/>
          </p:cNvSpPr>
          <p:nvPr/>
        </p:nvSpPr>
        <p:spPr>
          <a:xfrm xmlns:a="http://schemas.openxmlformats.org/drawingml/2006/main">
            <a:off x="3381375" y="25241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Chooses the view</a:t>
            </a:r>
          </a:p>
        </p:txBody>
      </p:sp>
      <p:sp>
        <p:nvSpPr>
          <p:cNvPr id="14" name="">
            <a:extLst xmlns:a="http://schemas.openxmlformats.org/drawingml/2006/main">
              <a:ext uri="{FF2B5EF4-FFF2-40B4-BE49-F238E27FC236}">
                <a16:creationId xmlns:a16="http://schemas.microsoft.com/office/drawing/2014/main" id="{A96C40D4-4F11-4E53-A962-67070608B94F}"/>
              </a:ext>
            </a:extLst>
          </p:cNvPr>
          <p:cNvSpPr>
            <a:spLocks xmlns:a="http://schemas.openxmlformats.org/drawingml/2006/main" noGrp="1"/>
          </p:cNvSpPr>
          <p:nvPr/>
        </p:nvSpPr>
        <p:spPr>
          <a:xfrm xmlns:a="http://schemas.openxmlformats.org/drawingml/2006/main">
            <a:off x="1428750" y="3324225"/>
            <a:ext cx="9334500" cy="628650"/>
          </a:xfrm>
          <a:prstGeom xmlns:a="http://schemas.openxmlformats.org/drawingml/2006/main" prst="roundRect">
            <a:avLst>
              <a:gd name="adj" fmla="val 12121"/>
            </a:avLst>
          </a:prstGeom>
          <a:solidFill xmlns:a="http://schemas.openxmlformats.org/drawingml/2006/main">
            <a:srgbClr val="DDEFF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B93B5A-D47D-4C3B-8B02-BF261EEB3464}"/>
              </a:ext>
            </a:extLst>
          </p:cNvPr>
          <p:cNvSpPr>
            <a:spLocks xmlns:a="http://schemas.openxmlformats.org/drawingml/2006/main" noGrp="1"/>
          </p:cNvSpPr>
          <p:nvPr/>
        </p:nvSpPr>
        <p:spPr>
          <a:xfrm xmlns:a="http://schemas.openxmlformats.org/drawingml/2006/main">
            <a:off x="1428750" y="3324225"/>
            <a:ext cx="1666875" cy="628650"/>
          </a:xfrm>
          <a:prstGeom xmlns:a="http://schemas.openxmlformats.org/drawingml/2006/main" prst="roundRect">
            <a:avLst>
              <a:gd name="adj" fmla="val 12121"/>
            </a:avLst>
          </a:prstGeom>
          <a:solidFill xmlns:a="http://schemas.openxmlformats.org/drawingml/2006/main">
            <a:srgbClr val="E57A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2D53D8-2D0E-488F-AC27-5EC4D6B9D575}"/>
              </a:ext>
            </a:extLst>
          </p:cNvPr>
          <p:cNvSpPr>
            <a:spLocks xmlns:a="http://schemas.openxmlformats.org/drawingml/2006/main" noGrp="1"/>
          </p:cNvSpPr>
          <p:nvPr/>
        </p:nvSpPr>
        <p:spPr>
          <a:xfrm xmlns:a="http://schemas.openxmlformats.org/drawingml/2006/main">
            <a:off x="1600200" y="34004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Template</a:t>
            </a:r>
          </a:p>
        </p:txBody>
      </p:sp>
      <p:sp>
        <p:nvSpPr>
          <p:cNvPr id="17" name="">
            <a:extLst xmlns:a="http://schemas.openxmlformats.org/drawingml/2006/main">
              <a:ext uri="{FF2B5EF4-FFF2-40B4-BE49-F238E27FC236}">
                <a16:creationId xmlns:a16="http://schemas.microsoft.com/office/drawing/2014/main" id="{F7EE04AA-C1F9-4357-AA8F-95EE11FEC29C}"/>
              </a:ext>
            </a:extLst>
          </p:cNvPr>
          <p:cNvSpPr>
            <a:spLocks xmlns:a="http://schemas.openxmlformats.org/drawingml/2006/main" noGrp="1"/>
          </p:cNvSpPr>
          <p:nvPr/>
        </p:nvSpPr>
        <p:spPr>
          <a:xfrm xmlns:a="http://schemas.openxmlformats.org/drawingml/2006/main">
            <a:off x="3381375" y="34004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Builds the HTML</a:t>
            </a:r>
          </a:p>
        </p:txBody>
      </p:sp>
      <p:sp>
        <p:nvSpPr>
          <p:cNvPr id="18" name="">
            <a:extLst xmlns:a="http://schemas.openxmlformats.org/drawingml/2006/main">
              <a:ext uri="{FF2B5EF4-FFF2-40B4-BE49-F238E27FC236}">
                <a16:creationId xmlns:a16="http://schemas.microsoft.com/office/drawing/2014/main" id="{20D12569-C81E-422E-9E7E-39011DF5EA1D}"/>
              </a:ext>
            </a:extLst>
          </p:cNvPr>
          <p:cNvSpPr>
            <a:spLocks xmlns:a="http://schemas.openxmlformats.org/drawingml/2006/main" noGrp="1"/>
          </p:cNvSpPr>
          <p:nvPr/>
        </p:nvSpPr>
        <p:spPr>
          <a:xfrm xmlns:a="http://schemas.openxmlformats.org/drawingml/2006/main">
            <a:off x="1428750" y="4200525"/>
            <a:ext cx="9334500" cy="628650"/>
          </a:xfrm>
          <a:prstGeom xmlns:a="http://schemas.openxmlformats.org/drawingml/2006/main" prst="roundRect">
            <a:avLst>
              <a:gd name="adj" fmla="val 12121"/>
            </a:avLst>
          </a:prstGeom>
          <a:solidFill xmlns:a="http://schemas.openxmlformats.org/drawingml/2006/main">
            <a:srgbClr val="F4F8FB"/>
          </a:solidFill>
          <a:ln xmlns:a="http://schemas.openxmlformats.org/drawingml/2006/main" w="9525">
            <a:solidFill>
              <a:srgbClr val="C9D8E5"/>
            </a:solidFill>
          </a:ln>
        </p:spPr>
      </p:sp>
      <p:sp>
        <p:nvSpPr>
          <p:cNvPr id="19" name="">
            <a:extLst xmlns:a="http://schemas.openxmlformats.org/drawingml/2006/main">
              <a:ext uri="{FF2B5EF4-FFF2-40B4-BE49-F238E27FC236}">
                <a16:creationId xmlns:a16="http://schemas.microsoft.com/office/drawing/2014/main" id="{32194CAA-C373-4ACB-958A-B9C34A741D4D}"/>
              </a:ext>
            </a:extLst>
          </p:cNvPr>
          <p:cNvSpPr>
            <a:spLocks xmlns:a="http://schemas.openxmlformats.org/drawingml/2006/main" noGrp="1"/>
          </p:cNvSpPr>
          <p:nvPr/>
        </p:nvSpPr>
        <p:spPr>
          <a:xfrm xmlns:a="http://schemas.openxmlformats.org/drawingml/2006/main">
            <a:off x="1428750" y="4200525"/>
            <a:ext cx="1666875" cy="628650"/>
          </a:xfrm>
          <a:prstGeom xmlns:a="http://schemas.openxmlformats.org/drawingml/2006/main" prst="roundRect">
            <a:avLst>
              <a:gd name="adj" fmla="val 12121"/>
            </a:avLst>
          </a:prstGeom>
          <a:solidFill xmlns:a="http://schemas.openxmlformats.org/drawingml/2006/main">
            <a:srgbClr val="15805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26F75EC-552A-4E84-AAA2-585305675544}"/>
              </a:ext>
            </a:extLst>
          </p:cNvPr>
          <p:cNvSpPr>
            <a:spLocks xmlns:a="http://schemas.openxmlformats.org/drawingml/2006/main" noGrp="1"/>
          </p:cNvSpPr>
          <p:nvPr/>
        </p:nvSpPr>
        <p:spPr>
          <a:xfrm xmlns:a="http://schemas.openxmlformats.org/drawingml/2006/main">
            <a:off x="1600200" y="42767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96"/>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Static + media</a:t>
            </a:r>
          </a:p>
        </p:txBody>
      </p:sp>
      <p:sp>
        <p:nvSpPr>
          <p:cNvPr id="21" name="">
            <a:extLst xmlns:a="http://schemas.openxmlformats.org/drawingml/2006/main">
              <a:ext uri="{FF2B5EF4-FFF2-40B4-BE49-F238E27FC236}">
                <a16:creationId xmlns:a16="http://schemas.microsoft.com/office/drawing/2014/main" id="{98D5015C-86B3-493D-98CE-FA9424EEF657}"/>
              </a:ext>
            </a:extLst>
          </p:cNvPr>
          <p:cNvSpPr>
            <a:spLocks xmlns:a="http://schemas.openxmlformats.org/drawingml/2006/main" noGrp="1"/>
          </p:cNvSpPr>
          <p:nvPr/>
        </p:nvSpPr>
        <p:spPr>
          <a:xfrm xmlns:a="http://schemas.openxmlformats.org/drawingml/2006/main">
            <a:off x="3381375" y="42767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Adds design and uploads</a:t>
            </a:r>
          </a:p>
        </p:txBody>
      </p:sp>
      <p:sp>
        <p:nvSpPr>
          <p:cNvPr id="22" name="">
            <a:extLst xmlns:a="http://schemas.openxmlformats.org/drawingml/2006/main">
              <a:ext uri="{FF2B5EF4-FFF2-40B4-BE49-F238E27FC236}">
                <a16:creationId xmlns:a16="http://schemas.microsoft.com/office/drawing/2014/main" id="{1E0D56E4-06EE-4DB4-B5B3-CDAA72FB1AA3}"/>
              </a:ext>
            </a:extLst>
          </p:cNvPr>
          <p:cNvSpPr>
            <a:spLocks xmlns:a="http://schemas.openxmlformats.org/drawingml/2006/main" noGrp="1"/>
          </p:cNvSpPr>
          <p:nvPr/>
        </p:nvSpPr>
        <p:spPr>
          <a:xfrm xmlns:a="http://schemas.openxmlformats.org/drawingml/2006/main">
            <a:off x="1428750" y="5076825"/>
            <a:ext cx="9334500" cy="628650"/>
          </a:xfrm>
          <a:prstGeom xmlns:a="http://schemas.openxmlformats.org/drawingml/2006/main" prst="roundRect">
            <a:avLst>
              <a:gd name="adj" fmla="val 12121"/>
            </a:avLst>
          </a:prstGeom>
          <a:solidFill xmlns:a="http://schemas.openxmlformats.org/drawingml/2006/main">
            <a:srgbClr val="DDEFF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246417C-0368-401F-BA82-1D93DB862B00}"/>
              </a:ext>
            </a:extLst>
          </p:cNvPr>
          <p:cNvSpPr>
            <a:spLocks xmlns:a="http://schemas.openxmlformats.org/drawingml/2006/main" noGrp="1"/>
          </p:cNvSpPr>
          <p:nvPr/>
        </p:nvSpPr>
        <p:spPr>
          <a:xfrm xmlns:a="http://schemas.openxmlformats.org/drawingml/2006/main">
            <a:off x="1428750" y="5076825"/>
            <a:ext cx="1666875" cy="628650"/>
          </a:xfrm>
          <a:prstGeom xmlns:a="http://schemas.openxmlformats.org/drawingml/2006/main" prst="roundRect">
            <a:avLst>
              <a:gd name="adj" fmla="val 12121"/>
            </a:avLst>
          </a:prstGeom>
          <a:solidFill xmlns:a="http://schemas.openxmlformats.org/drawingml/2006/main">
            <a:srgbClr val="C84C4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AAFEAAB-74E5-4D7A-889F-841962A4EF5C}"/>
              </a:ext>
            </a:extLst>
          </p:cNvPr>
          <p:cNvSpPr>
            <a:spLocks xmlns:a="http://schemas.openxmlformats.org/drawingml/2006/main" noGrp="1"/>
          </p:cNvSpPr>
          <p:nvPr/>
        </p:nvSpPr>
        <p:spPr>
          <a:xfrm xmlns:a="http://schemas.openxmlformats.org/drawingml/2006/main">
            <a:off x="1600200" y="51530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Database</a:t>
            </a:r>
          </a:p>
        </p:txBody>
      </p:sp>
      <p:sp>
        <p:nvSpPr>
          <p:cNvPr id="25" name="">
            <a:extLst xmlns:a="http://schemas.openxmlformats.org/drawingml/2006/main">
              <a:ext uri="{FF2B5EF4-FFF2-40B4-BE49-F238E27FC236}">
                <a16:creationId xmlns:a16="http://schemas.microsoft.com/office/drawing/2014/main" id="{32AD508E-1D34-49D6-97F8-CB73A58A10F0}"/>
              </a:ext>
            </a:extLst>
          </p:cNvPr>
          <p:cNvSpPr>
            <a:spLocks xmlns:a="http://schemas.openxmlformats.org/drawingml/2006/main" noGrp="1"/>
          </p:cNvSpPr>
          <p:nvPr/>
        </p:nvSpPr>
        <p:spPr>
          <a:xfrm xmlns:a="http://schemas.openxmlformats.org/drawingml/2006/main">
            <a:off x="3381375" y="5153025"/>
            <a:ext cx="695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Stores records</a:t>
            </a:r>
          </a:p>
        </p:txBody>
      </p:sp>
    </p:spTree>
    <p:extLst>
      <p:ext uri="{BB962C8B-B14F-4D97-AF65-F5344CB8AC3E}">
        <p14:creationId xmlns:p14="http://schemas.microsoft.com/office/powerpoint/2010/main" val="10720358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7BAE8CA-4F3E-4A5B-BF74-01EAF70FFBC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131714-AF25-4772-96CC-357C40BDC29A}"/>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PROJECT SETUP</a:t>
            </a:r>
          </a:p>
        </p:txBody>
      </p:sp>
      <p:sp>
        <p:nvSpPr>
          <p:cNvPr id="3" name="">
            <a:extLst xmlns:a="http://schemas.openxmlformats.org/drawingml/2006/main">
              <a:ext uri="{FF2B5EF4-FFF2-40B4-BE49-F238E27FC236}">
                <a16:creationId xmlns:a16="http://schemas.microsoft.com/office/drawing/2014/main" id="{7583C3E2-28B8-4A61-AABD-BE238C1EF87E}"/>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Project and app have different jobs</a:t>
            </a:r>
          </a:p>
        </p:txBody>
      </p:sp>
      <p:sp>
        <p:nvSpPr>
          <p:cNvPr id="4" name="">
            <a:extLst xmlns:a="http://schemas.openxmlformats.org/drawingml/2006/main">
              <a:ext uri="{FF2B5EF4-FFF2-40B4-BE49-F238E27FC236}">
                <a16:creationId xmlns:a16="http://schemas.microsoft.com/office/drawing/2014/main" id="{170FBC79-8E87-4AAC-AA61-06C5A07A422D}"/>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72F002-560E-4D59-AF40-AA6884042A36}"/>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04</a:t>
            </a:r>
          </a:p>
        </p:txBody>
      </p:sp>
      <p:sp>
        <p:nvSpPr>
          <p:cNvPr id="6" name="">
            <a:extLst xmlns:a="http://schemas.openxmlformats.org/drawingml/2006/main">
              <a:ext uri="{FF2B5EF4-FFF2-40B4-BE49-F238E27FC236}">
                <a16:creationId xmlns:a16="http://schemas.microsoft.com/office/drawing/2014/main" id="{F583D119-2E68-4AFD-8979-8D655E809C12}"/>
              </a:ext>
            </a:extLst>
          </p:cNvPr>
          <p:cNvSpPr>
            <a:spLocks xmlns:a="http://schemas.openxmlformats.org/drawingml/2006/main" noGrp="1"/>
          </p:cNvSpPr>
          <p:nvPr/>
        </p:nvSpPr>
        <p:spPr>
          <a:xfrm xmlns:a="http://schemas.openxmlformats.org/drawingml/2006/main">
            <a:off x="857250" y="1714500"/>
            <a:ext cx="4762500" cy="2857500"/>
          </a:xfrm>
          <a:prstGeom xmlns:a="http://schemas.openxmlformats.org/drawingml/2006/main" prst="roundRect">
            <a:avLst>
              <a:gd name="adj" fmla="val 2667"/>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7D4EF50D-5705-49AE-82BD-8898AE33E813}"/>
              </a:ext>
            </a:extLst>
          </p:cNvPr>
          <p:cNvSpPr>
            <a:spLocks xmlns:a="http://schemas.openxmlformats.org/drawingml/2006/main" noGrp="1"/>
          </p:cNvSpPr>
          <p:nvPr/>
        </p:nvSpPr>
        <p:spPr>
          <a:xfrm xmlns:a="http://schemas.openxmlformats.org/drawingml/2006/main">
            <a:off x="857250" y="1714500"/>
            <a:ext cx="76200" cy="285750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6BAB34-0912-4926-AB68-70A4A7C3E6CD}"/>
              </a:ext>
            </a:extLst>
          </p:cNvPr>
          <p:cNvSpPr>
            <a:spLocks xmlns:a="http://schemas.openxmlformats.org/drawingml/2006/main" noGrp="1"/>
          </p:cNvSpPr>
          <p:nvPr/>
        </p:nvSpPr>
        <p:spPr>
          <a:xfrm xmlns:a="http://schemas.openxmlformats.org/drawingml/2006/main">
            <a:off x="1123950" y="188595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Django project</a:t>
            </a:r>
          </a:p>
        </p:txBody>
      </p:sp>
      <p:sp>
        <p:nvSpPr>
          <p:cNvPr id="9" name="">
            <a:extLst xmlns:a="http://schemas.openxmlformats.org/drawingml/2006/main">
              <a:ext uri="{FF2B5EF4-FFF2-40B4-BE49-F238E27FC236}">
                <a16:creationId xmlns:a16="http://schemas.microsoft.com/office/drawing/2014/main" id="{5CD0920E-6FC3-452C-8EBF-E140DCE8BAF2}"/>
              </a:ext>
            </a:extLst>
          </p:cNvPr>
          <p:cNvSpPr>
            <a:spLocks xmlns:a="http://schemas.openxmlformats.org/drawingml/2006/main" noGrp="1"/>
          </p:cNvSpPr>
          <p:nvPr/>
        </p:nvSpPr>
        <p:spPr>
          <a:xfrm xmlns:a="http://schemas.openxmlformats.org/drawingml/2006/main">
            <a:off x="1123950" y="2266950"/>
            <a:ext cx="43053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complete website and its main configuration.</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Example: django_student_portal</a:t>
            </a:r>
          </a:p>
        </p:txBody>
      </p:sp>
      <p:sp>
        <p:nvSpPr>
          <p:cNvPr id="10" name="">
            <a:extLst xmlns:a="http://schemas.openxmlformats.org/drawingml/2006/main">
              <a:ext uri="{FF2B5EF4-FFF2-40B4-BE49-F238E27FC236}">
                <a16:creationId xmlns:a16="http://schemas.microsoft.com/office/drawing/2014/main" id="{401D9588-2177-443D-A84C-74A556897F7D}"/>
              </a:ext>
            </a:extLst>
          </p:cNvPr>
          <p:cNvSpPr>
            <a:spLocks xmlns:a="http://schemas.openxmlformats.org/drawingml/2006/main" noGrp="1"/>
          </p:cNvSpPr>
          <p:nvPr/>
        </p:nvSpPr>
        <p:spPr>
          <a:xfrm xmlns:a="http://schemas.openxmlformats.org/drawingml/2006/main">
            <a:off x="6572250" y="1714500"/>
            <a:ext cx="4762500" cy="2857500"/>
          </a:xfrm>
          <a:prstGeom xmlns:a="http://schemas.openxmlformats.org/drawingml/2006/main" prst="roundRect">
            <a:avLst>
              <a:gd name="adj" fmla="val 2667"/>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C8D96821-615B-4A26-B5BC-BFE4D2025781}"/>
              </a:ext>
            </a:extLst>
          </p:cNvPr>
          <p:cNvSpPr>
            <a:spLocks xmlns:a="http://schemas.openxmlformats.org/drawingml/2006/main" noGrp="1"/>
          </p:cNvSpPr>
          <p:nvPr/>
        </p:nvSpPr>
        <p:spPr>
          <a:xfrm xmlns:a="http://schemas.openxmlformats.org/drawingml/2006/main">
            <a:off x="6572250" y="1714500"/>
            <a:ext cx="76200" cy="285750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192F8F-557E-40EB-9766-F21CFAC27FD8}"/>
              </a:ext>
            </a:extLst>
          </p:cNvPr>
          <p:cNvSpPr>
            <a:spLocks xmlns:a="http://schemas.openxmlformats.org/drawingml/2006/main" noGrp="1"/>
          </p:cNvSpPr>
          <p:nvPr/>
        </p:nvSpPr>
        <p:spPr>
          <a:xfrm xmlns:a="http://schemas.openxmlformats.org/drawingml/2006/main">
            <a:off x="6838950" y="188595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Django app</a:t>
            </a:r>
          </a:p>
        </p:txBody>
      </p:sp>
      <p:sp>
        <p:nvSpPr>
          <p:cNvPr id="13" name="">
            <a:extLst xmlns:a="http://schemas.openxmlformats.org/drawingml/2006/main">
              <a:ext uri="{FF2B5EF4-FFF2-40B4-BE49-F238E27FC236}">
                <a16:creationId xmlns:a16="http://schemas.microsoft.com/office/drawing/2014/main" id="{C7103155-E4E2-4B01-908C-47941FA8A9FC}"/>
              </a:ext>
            </a:extLst>
          </p:cNvPr>
          <p:cNvSpPr>
            <a:spLocks xmlns:a="http://schemas.openxmlformats.org/drawingml/2006/main" noGrp="1"/>
          </p:cNvSpPr>
          <p:nvPr/>
        </p:nvSpPr>
        <p:spPr>
          <a:xfrm xmlns:a="http://schemas.openxmlformats.org/drawingml/2006/main">
            <a:off x="6838950" y="2266950"/>
            <a:ext cx="43053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One feature or section inside the project.</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Example: students</a:t>
            </a:r>
          </a:p>
        </p:txBody>
      </p:sp>
      <p:sp>
        <p:nvSpPr>
          <p:cNvPr id="14" name="">
            <a:extLst xmlns:a="http://schemas.openxmlformats.org/drawingml/2006/main">
              <a:ext uri="{FF2B5EF4-FFF2-40B4-BE49-F238E27FC236}">
                <a16:creationId xmlns:a16="http://schemas.microsoft.com/office/drawing/2014/main" id="{CD1A3496-ED83-47D9-9F03-31425A01E280}"/>
              </a:ext>
            </a:extLst>
          </p:cNvPr>
          <p:cNvSpPr>
            <a:spLocks xmlns:a="http://schemas.openxmlformats.org/drawingml/2006/main" noGrp="1"/>
          </p:cNvSpPr>
          <p:nvPr/>
        </p:nvSpPr>
        <p:spPr>
          <a:xfrm xmlns:a="http://schemas.openxmlformats.org/drawingml/2006/main">
            <a:off x="1524000" y="5000625"/>
            <a:ext cx="914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915"/>
          </a:bodyPr>
          <a:lstStyle xmlns:a="http://schemas.openxmlformats.org/drawingml/2006/main"/>
          <a:p xmlns:a="http://schemas.openxmlformats.org/drawingml/2006/main">
            <a:pPr algn="ctr">
              <a:defRPr sz="1725" b="1">
                <a:solidFill>
                  <a:srgbClr val="082A4A"/>
                </a:solidFill>
                <a:latin typeface="DejaVu Sans"/>
                <a:ea typeface="DejaVu Sans"/>
                <a:cs typeface="DejaVu Sans"/>
              </a:defRPr>
            </a:pPr>
            <a:r>
              <a:rPr sz="1725" b="1">
                <a:solidFill>
                  <a:srgbClr val="082A4A"/>
                </a:solidFill>
                <a:latin typeface="DejaVu Sans"/>
                <a:ea typeface="DejaVu Sans"/>
                <a:cs typeface="DejaVu Sans"/>
              </a:rPr>
              <a:t>One project can contain students, courses, payments and accounts apps.</a:t>
            </a:r>
          </a:p>
        </p:txBody>
      </p:sp>
    </p:spTree>
    <p:extLst>
      <p:ext uri="{BB962C8B-B14F-4D97-AF65-F5344CB8AC3E}">
        <p14:creationId xmlns:p14="http://schemas.microsoft.com/office/powerpoint/2010/main" val="6486975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C4CF7B-43A3-4E46-BA44-E2BF21765E6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4003B4-B42D-4529-9386-6475714C6B43}"/>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PROJECT SETUP</a:t>
            </a:r>
          </a:p>
        </p:txBody>
      </p:sp>
      <p:sp>
        <p:nvSpPr>
          <p:cNvPr id="3" name="">
            <a:extLst xmlns:a="http://schemas.openxmlformats.org/drawingml/2006/main">
              <a:ext uri="{FF2B5EF4-FFF2-40B4-BE49-F238E27FC236}">
                <a16:creationId xmlns:a16="http://schemas.microsoft.com/office/drawing/2014/main" id="{5392C9AD-FB40-4139-A0E4-F593F02B64EA}"/>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Create the Student Portal</a:t>
            </a:r>
          </a:p>
        </p:txBody>
      </p:sp>
      <p:sp>
        <p:nvSpPr>
          <p:cNvPr id="4" name="">
            <a:extLst xmlns:a="http://schemas.openxmlformats.org/drawingml/2006/main">
              <a:ext uri="{FF2B5EF4-FFF2-40B4-BE49-F238E27FC236}">
                <a16:creationId xmlns:a16="http://schemas.microsoft.com/office/drawing/2014/main" id="{83BC0750-15E9-402C-9FD8-715866ACD60D}"/>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1A36D9-0672-4517-A266-EADF4CEAF4F7}"/>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05</a:t>
            </a:r>
          </a:p>
        </p:txBody>
      </p:sp>
      <p:sp>
        <p:nvSpPr>
          <p:cNvPr id="6" name="">
            <a:extLst xmlns:a="http://schemas.openxmlformats.org/drawingml/2006/main">
              <a:ext uri="{FF2B5EF4-FFF2-40B4-BE49-F238E27FC236}">
                <a16:creationId xmlns:a16="http://schemas.microsoft.com/office/drawing/2014/main" id="{FEAD57AA-CDC5-4A4B-9592-708E864D6285}"/>
              </a:ext>
            </a:extLst>
          </p:cNvPr>
          <p:cNvSpPr>
            <a:spLocks xmlns:a="http://schemas.openxmlformats.org/drawingml/2006/main" noGrp="1"/>
          </p:cNvSpPr>
          <p:nvPr/>
        </p:nvSpPr>
        <p:spPr>
          <a:xfrm xmlns:a="http://schemas.openxmlformats.org/drawingml/2006/main">
            <a:off x="666750" y="1619250"/>
            <a:ext cx="5334000" cy="3143250"/>
          </a:xfrm>
          <a:prstGeom xmlns:a="http://schemas.openxmlformats.org/drawingml/2006/main" prst="roundRect">
            <a:avLst>
              <a:gd name="adj" fmla="val 242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1BB770-9BF4-4CDF-AB6A-47DF3481034D}"/>
              </a:ext>
            </a:extLst>
          </p:cNvPr>
          <p:cNvSpPr>
            <a:spLocks xmlns:a="http://schemas.openxmlformats.org/drawingml/2006/main" noGrp="1"/>
          </p:cNvSpPr>
          <p:nvPr/>
        </p:nvSpPr>
        <p:spPr>
          <a:xfrm xmlns:a="http://schemas.openxmlformats.org/drawingml/2006/main">
            <a:off x="876300" y="17335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TERMINAL</a:t>
            </a:r>
          </a:p>
        </p:txBody>
      </p:sp>
      <p:sp>
        <p:nvSpPr>
          <p:cNvPr id="8" name="">
            <a:extLst xmlns:a="http://schemas.openxmlformats.org/drawingml/2006/main">
              <a:ext uri="{FF2B5EF4-FFF2-40B4-BE49-F238E27FC236}">
                <a16:creationId xmlns:a16="http://schemas.microsoft.com/office/drawing/2014/main" id="{C86B14FD-3A75-42CB-988D-2C4E4AC9A8C9}"/>
              </a:ext>
            </a:extLst>
          </p:cNvPr>
          <p:cNvSpPr>
            <a:spLocks xmlns:a="http://schemas.openxmlformats.org/drawingml/2006/main" noGrp="1"/>
          </p:cNvSpPr>
          <p:nvPr/>
        </p:nvSpPr>
        <p:spPr>
          <a:xfrm xmlns:a="http://schemas.openxmlformats.org/drawingml/2006/main">
            <a:off x="876300" y="2019300"/>
            <a:ext cx="49149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mkdir django_student_portal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cd django_student_portal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python3 -m venv venv</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source venv/bin/activate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pip install django pillow</a:t>
            </a:r>
          </a:p>
        </p:txBody>
      </p:sp>
      <p:sp>
        <p:nvSpPr>
          <p:cNvPr id="9" name="">
            <a:extLst xmlns:a="http://schemas.openxmlformats.org/drawingml/2006/main">
              <a:ext uri="{FF2B5EF4-FFF2-40B4-BE49-F238E27FC236}">
                <a16:creationId xmlns:a16="http://schemas.microsoft.com/office/drawing/2014/main" id="{B9E1814E-9569-444B-86E8-63D482A9C98F}"/>
              </a:ext>
            </a:extLst>
          </p:cNvPr>
          <p:cNvSpPr>
            <a:spLocks xmlns:a="http://schemas.openxmlformats.org/drawingml/2006/main" noGrp="1"/>
          </p:cNvSpPr>
          <p:nvPr/>
        </p:nvSpPr>
        <p:spPr>
          <a:xfrm xmlns:a="http://schemas.openxmlformats.org/drawingml/2006/main">
            <a:off x="6477000" y="1619250"/>
            <a:ext cx="5048250" cy="3143250"/>
          </a:xfrm>
          <a:prstGeom xmlns:a="http://schemas.openxmlformats.org/drawingml/2006/main" prst="roundRect">
            <a:avLst>
              <a:gd name="adj" fmla="val 2424"/>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76DB69AE-05A5-442D-A7A0-0B19F618EB78}"/>
              </a:ext>
            </a:extLst>
          </p:cNvPr>
          <p:cNvSpPr>
            <a:spLocks xmlns:a="http://schemas.openxmlformats.org/drawingml/2006/main" noGrp="1"/>
          </p:cNvSpPr>
          <p:nvPr/>
        </p:nvSpPr>
        <p:spPr>
          <a:xfrm xmlns:a="http://schemas.openxmlformats.org/drawingml/2006/main">
            <a:off x="6477000" y="1619250"/>
            <a:ext cx="76200" cy="314325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A8975A-75E2-41E0-BAFF-6A515F69C075}"/>
              </a:ext>
            </a:extLst>
          </p:cNvPr>
          <p:cNvSpPr>
            <a:spLocks xmlns:a="http://schemas.openxmlformats.org/drawingml/2006/main" noGrp="1"/>
          </p:cNvSpPr>
          <p:nvPr/>
        </p:nvSpPr>
        <p:spPr>
          <a:xfrm xmlns:a="http://schemas.openxmlformats.org/drawingml/2006/main">
            <a:off x="6743700" y="1790700"/>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Why these commands?</a:t>
            </a:r>
          </a:p>
        </p:txBody>
      </p:sp>
      <p:sp>
        <p:nvSpPr>
          <p:cNvPr id="12" name="">
            <a:extLst xmlns:a="http://schemas.openxmlformats.org/drawingml/2006/main">
              <a:ext uri="{FF2B5EF4-FFF2-40B4-BE49-F238E27FC236}">
                <a16:creationId xmlns:a16="http://schemas.microsoft.com/office/drawing/2014/main" id="{FBC33D51-13D2-4863-8A7F-E2060EC25CA0}"/>
              </a:ext>
            </a:extLst>
          </p:cNvPr>
          <p:cNvSpPr>
            <a:spLocks xmlns:a="http://schemas.openxmlformats.org/drawingml/2006/main" noGrp="1"/>
          </p:cNvSpPr>
          <p:nvPr/>
        </p:nvSpPr>
        <p:spPr>
          <a:xfrm xmlns:a="http://schemas.openxmlformats.org/drawingml/2006/main">
            <a:off x="6743700" y="2171700"/>
            <a:ext cx="459105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venv isolates the project packages.</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Django builds the web application.</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Pillow lets ImageField work with images.</a:t>
            </a:r>
          </a:p>
        </p:txBody>
      </p:sp>
      <p:sp>
        <p:nvSpPr>
          <p:cNvPr id="13" name="">
            <a:extLst xmlns:a="http://schemas.openxmlformats.org/drawingml/2006/main">
              <a:ext uri="{FF2B5EF4-FFF2-40B4-BE49-F238E27FC236}">
                <a16:creationId xmlns:a16="http://schemas.microsoft.com/office/drawing/2014/main" id="{57E33823-D4F6-47E7-A06A-DDBA629E8F2B}"/>
              </a:ext>
            </a:extLst>
          </p:cNvPr>
          <p:cNvSpPr>
            <a:spLocks xmlns:a="http://schemas.openxmlformats.org/drawingml/2006/main" noGrp="1"/>
          </p:cNvSpPr>
          <p:nvPr/>
        </p:nvSpPr>
        <p:spPr>
          <a:xfrm xmlns:a="http://schemas.openxmlformats.org/drawingml/2006/main">
            <a:off x="3333750" y="5191125"/>
            <a:ext cx="5524500" cy="400050"/>
          </a:xfrm>
          <a:prstGeom xmlns:a="http://schemas.openxmlformats.org/drawingml/2006/main" prst="roundRect">
            <a:avLst>
              <a:gd name="adj" fmla="val 19048"/>
            </a:avLst>
          </a:prstGeom>
          <a:solidFill xmlns:a="http://schemas.openxmlformats.org/drawingml/2006/main">
            <a:srgbClr val="DDEF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8A5E0AB-8B89-43FE-BEE6-A256CE10CAD1}"/>
              </a:ext>
            </a:extLst>
          </p:cNvPr>
          <p:cNvSpPr>
            <a:spLocks xmlns:a="http://schemas.openxmlformats.org/drawingml/2006/main" noGrp="1"/>
          </p:cNvSpPr>
          <p:nvPr/>
        </p:nvSpPr>
        <p:spPr>
          <a:xfrm xmlns:a="http://schemas.openxmlformats.org/drawingml/2006/main">
            <a:off x="3448050" y="5229225"/>
            <a:ext cx="529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82A4A"/>
                </a:solidFill>
                <a:latin typeface="DejaVu Sans"/>
                <a:ea typeface="DejaVu Sans"/>
                <a:cs typeface="DejaVu Sans"/>
              </a:defRPr>
            </a:pPr>
            <a:r>
              <a:rPr sz="1200" b="1">
                <a:solidFill>
                  <a:srgbClr val="082A4A"/>
                </a:solidFill>
                <a:latin typeface="DejaVu Sans"/>
                <a:ea typeface="DejaVu Sans"/>
                <a:cs typeface="DejaVu Sans"/>
              </a:rPr>
              <a:t>Look for (venv) in the terminal</a:t>
            </a:r>
          </a:p>
        </p:txBody>
      </p:sp>
    </p:spTree>
    <p:extLst>
      <p:ext uri="{BB962C8B-B14F-4D97-AF65-F5344CB8AC3E}">
        <p14:creationId xmlns:p14="http://schemas.microsoft.com/office/powerpoint/2010/main" val="2482281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B07077D-AC4F-41A6-99A4-7370552275F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941E4F-0D59-49AE-8680-8881AE535E45}"/>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PROJECT SETUP</a:t>
            </a:r>
          </a:p>
        </p:txBody>
      </p:sp>
      <p:sp>
        <p:nvSpPr>
          <p:cNvPr id="3" name="">
            <a:extLst xmlns:a="http://schemas.openxmlformats.org/drawingml/2006/main">
              <a:ext uri="{FF2B5EF4-FFF2-40B4-BE49-F238E27FC236}">
                <a16:creationId xmlns:a16="http://schemas.microsoft.com/office/drawing/2014/main" id="{3BBB2662-B325-43DB-ABE6-24D6389A9B39}"/>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Create the project and students app</a:t>
            </a:r>
          </a:p>
        </p:txBody>
      </p:sp>
      <p:sp>
        <p:nvSpPr>
          <p:cNvPr id="4" name="">
            <a:extLst xmlns:a="http://schemas.openxmlformats.org/drawingml/2006/main">
              <a:ext uri="{FF2B5EF4-FFF2-40B4-BE49-F238E27FC236}">
                <a16:creationId xmlns:a16="http://schemas.microsoft.com/office/drawing/2014/main" id="{2E0BE318-0AE9-4E13-BD1E-693803FF643F}"/>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A36356-2209-4EBA-ACB1-6CF06E08C38F}"/>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06</a:t>
            </a:r>
          </a:p>
        </p:txBody>
      </p:sp>
      <p:sp>
        <p:nvSpPr>
          <p:cNvPr id="6" name="">
            <a:extLst xmlns:a="http://schemas.openxmlformats.org/drawingml/2006/main">
              <a:ext uri="{FF2B5EF4-FFF2-40B4-BE49-F238E27FC236}">
                <a16:creationId xmlns:a16="http://schemas.microsoft.com/office/drawing/2014/main" id="{F5073CCB-D136-432C-8F35-3EED965E9043}"/>
              </a:ext>
            </a:extLst>
          </p:cNvPr>
          <p:cNvSpPr>
            <a:spLocks xmlns:a="http://schemas.openxmlformats.org/drawingml/2006/main" noGrp="1"/>
          </p:cNvSpPr>
          <p:nvPr/>
        </p:nvSpPr>
        <p:spPr>
          <a:xfrm xmlns:a="http://schemas.openxmlformats.org/drawingml/2006/main">
            <a:off x="666750" y="1619250"/>
            <a:ext cx="5334000" cy="1619250"/>
          </a:xfrm>
          <a:prstGeom xmlns:a="http://schemas.openxmlformats.org/drawingml/2006/main" prst="roundRect">
            <a:avLst>
              <a:gd name="adj" fmla="val 4706"/>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A26BE4-AB0F-4DC0-9E54-0479DB9ECA1B}"/>
              </a:ext>
            </a:extLst>
          </p:cNvPr>
          <p:cNvSpPr>
            <a:spLocks xmlns:a="http://schemas.openxmlformats.org/drawingml/2006/main" noGrp="1"/>
          </p:cNvSpPr>
          <p:nvPr/>
        </p:nvSpPr>
        <p:spPr>
          <a:xfrm xmlns:a="http://schemas.openxmlformats.org/drawingml/2006/main">
            <a:off x="876300" y="17335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TERMINAL</a:t>
            </a:r>
          </a:p>
        </p:txBody>
      </p:sp>
      <p:sp>
        <p:nvSpPr>
          <p:cNvPr id="8" name="">
            <a:extLst xmlns:a="http://schemas.openxmlformats.org/drawingml/2006/main">
              <a:ext uri="{FF2B5EF4-FFF2-40B4-BE49-F238E27FC236}">
                <a16:creationId xmlns:a16="http://schemas.microsoft.com/office/drawing/2014/main" id="{29F285B1-5EB0-4744-A1E3-92D0FDE0093C}"/>
              </a:ext>
            </a:extLst>
          </p:cNvPr>
          <p:cNvSpPr>
            <a:spLocks xmlns:a="http://schemas.openxmlformats.org/drawingml/2006/main" noGrp="1"/>
          </p:cNvSpPr>
          <p:nvPr/>
        </p:nvSpPr>
        <p:spPr>
          <a:xfrm xmlns:a="http://schemas.openxmlformats.org/drawingml/2006/main">
            <a:off x="876300" y="2019300"/>
            <a:ext cx="4914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django-admin startproject config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startapp students</a:t>
            </a:r>
          </a:p>
        </p:txBody>
      </p:sp>
      <p:sp>
        <p:nvSpPr>
          <p:cNvPr id="9" name="">
            <a:extLst xmlns:a="http://schemas.openxmlformats.org/drawingml/2006/main">
              <a:ext uri="{FF2B5EF4-FFF2-40B4-BE49-F238E27FC236}">
                <a16:creationId xmlns:a16="http://schemas.microsoft.com/office/drawing/2014/main" id="{F5BEB143-72B2-49E0-A2DE-C38C11EB8604}"/>
              </a:ext>
            </a:extLst>
          </p:cNvPr>
          <p:cNvSpPr>
            <a:spLocks xmlns:a="http://schemas.openxmlformats.org/drawingml/2006/main" noGrp="1"/>
          </p:cNvSpPr>
          <p:nvPr/>
        </p:nvSpPr>
        <p:spPr>
          <a:xfrm xmlns:a="http://schemas.openxmlformats.org/drawingml/2006/main">
            <a:off x="6477000" y="1619250"/>
            <a:ext cx="5048250" cy="2000250"/>
          </a:xfrm>
          <a:prstGeom xmlns:a="http://schemas.openxmlformats.org/drawingml/2006/main" prst="roundRect">
            <a:avLst>
              <a:gd name="adj" fmla="val 3810"/>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DE8498-425F-4EF5-8651-A2E044706AC5}"/>
              </a:ext>
            </a:extLst>
          </p:cNvPr>
          <p:cNvSpPr>
            <a:spLocks xmlns:a="http://schemas.openxmlformats.org/drawingml/2006/main" noGrp="1"/>
          </p:cNvSpPr>
          <p:nvPr/>
        </p:nvSpPr>
        <p:spPr>
          <a:xfrm xmlns:a="http://schemas.openxmlformats.org/drawingml/2006/main">
            <a:off x="6686550" y="1733550"/>
            <a:ext cx="462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a:t>
            </a:r>
          </a:p>
        </p:txBody>
      </p:sp>
      <p:sp>
        <p:nvSpPr>
          <p:cNvPr id="11" name="">
            <a:extLst xmlns:a="http://schemas.openxmlformats.org/drawingml/2006/main">
              <a:ext uri="{FF2B5EF4-FFF2-40B4-BE49-F238E27FC236}">
                <a16:creationId xmlns:a16="http://schemas.microsoft.com/office/drawing/2014/main" id="{A0597E61-EED1-4DF8-96FB-855127CAF8AE}"/>
              </a:ext>
            </a:extLst>
          </p:cNvPr>
          <p:cNvSpPr>
            <a:spLocks xmlns:a="http://schemas.openxmlformats.org/drawingml/2006/main" noGrp="1"/>
          </p:cNvSpPr>
          <p:nvPr/>
        </p:nvSpPr>
        <p:spPr>
          <a:xfrm xmlns:a="http://schemas.openxmlformats.org/drawingml/2006/main">
            <a:off x="6686550" y="2019300"/>
            <a:ext cx="4629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INSTALLED_APPS =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Django apps...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"students",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p:txBody>
      </p:sp>
      <p:sp>
        <p:nvSpPr>
          <p:cNvPr id="12" name="">
            <a:extLst xmlns:a="http://schemas.openxmlformats.org/drawingml/2006/main">
              <a:ext uri="{FF2B5EF4-FFF2-40B4-BE49-F238E27FC236}">
                <a16:creationId xmlns:a16="http://schemas.microsoft.com/office/drawing/2014/main" id="{A8B224F3-B895-4126-9AAB-9C4B35448946}"/>
              </a:ext>
            </a:extLst>
          </p:cNvPr>
          <p:cNvSpPr>
            <a:spLocks xmlns:a="http://schemas.openxmlformats.org/drawingml/2006/main" noGrp="1"/>
          </p:cNvSpPr>
          <p:nvPr/>
        </p:nvSpPr>
        <p:spPr>
          <a:xfrm xmlns:a="http://schemas.openxmlformats.org/drawingml/2006/main">
            <a:off x="666750" y="3810000"/>
            <a:ext cx="4762500" cy="1428750"/>
          </a:xfrm>
          <a:prstGeom xmlns:a="http://schemas.openxmlformats.org/drawingml/2006/main" prst="roundRect">
            <a:avLst>
              <a:gd name="adj" fmla="val 5333"/>
            </a:avLst>
          </a:prstGeom>
          <a:solidFill xmlns:a="http://schemas.openxmlformats.org/drawingml/2006/main">
            <a:srgbClr val="F4F8FB"/>
          </a:solidFill>
          <a:ln xmlns:a="http://schemas.openxmlformats.org/drawingml/2006/main" w="9525">
            <a:solidFill>
              <a:srgbClr val="C9D8E5"/>
            </a:solidFill>
          </a:ln>
        </p:spPr>
      </p:sp>
      <p:sp>
        <p:nvSpPr>
          <p:cNvPr id="13" name="">
            <a:extLst xmlns:a="http://schemas.openxmlformats.org/drawingml/2006/main">
              <a:ext uri="{FF2B5EF4-FFF2-40B4-BE49-F238E27FC236}">
                <a16:creationId xmlns:a16="http://schemas.microsoft.com/office/drawing/2014/main" id="{EB8D471C-1F8D-4723-BCB6-B7E0B85F854E}"/>
              </a:ext>
            </a:extLst>
          </p:cNvPr>
          <p:cNvSpPr>
            <a:spLocks xmlns:a="http://schemas.openxmlformats.org/drawingml/2006/main" noGrp="1"/>
          </p:cNvSpPr>
          <p:nvPr/>
        </p:nvSpPr>
        <p:spPr>
          <a:xfrm xmlns:a="http://schemas.openxmlformats.org/drawingml/2006/main">
            <a:off x="666750" y="3810000"/>
            <a:ext cx="76200" cy="1428750"/>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D1C2A5B-C862-4294-A773-72B88985C5C0}"/>
              </a:ext>
            </a:extLst>
          </p:cNvPr>
          <p:cNvSpPr>
            <a:spLocks xmlns:a="http://schemas.openxmlformats.org/drawingml/2006/main" noGrp="1"/>
          </p:cNvSpPr>
          <p:nvPr/>
        </p:nvSpPr>
        <p:spPr>
          <a:xfrm xmlns:a="http://schemas.openxmlformats.org/drawingml/2006/main">
            <a:off x="933450" y="398145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The dot matters</a:t>
            </a:r>
          </a:p>
        </p:txBody>
      </p:sp>
      <p:sp>
        <p:nvSpPr>
          <p:cNvPr id="15" name="">
            <a:extLst xmlns:a="http://schemas.openxmlformats.org/drawingml/2006/main">
              <a:ext uri="{FF2B5EF4-FFF2-40B4-BE49-F238E27FC236}">
                <a16:creationId xmlns:a16="http://schemas.microsoft.com/office/drawing/2014/main" id="{16D4FB12-C3BE-4D7F-BACD-5B35630BD633}"/>
              </a:ext>
            </a:extLst>
          </p:cNvPr>
          <p:cNvSpPr>
            <a:spLocks xmlns:a="http://schemas.openxmlformats.org/drawingml/2006/main" noGrp="1"/>
          </p:cNvSpPr>
          <p:nvPr/>
        </p:nvSpPr>
        <p:spPr>
          <a:xfrm xmlns:a="http://schemas.openxmlformats.org/drawingml/2006/main">
            <a:off x="933450" y="4362450"/>
            <a:ext cx="4305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dot places manage.py and config inside the folder we already opened.</a:t>
            </a:r>
          </a:p>
        </p:txBody>
      </p:sp>
      <p:sp>
        <p:nvSpPr>
          <p:cNvPr id="16" name="">
            <a:extLst xmlns:a="http://schemas.openxmlformats.org/drawingml/2006/main">
              <a:ext uri="{FF2B5EF4-FFF2-40B4-BE49-F238E27FC236}">
                <a16:creationId xmlns:a16="http://schemas.microsoft.com/office/drawing/2014/main" id="{E3CE4AD7-F352-4683-A0FA-7EA324FD2C21}"/>
              </a:ext>
            </a:extLst>
          </p:cNvPr>
          <p:cNvSpPr>
            <a:spLocks xmlns:a="http://schemas.openxmlformats.org/drawingml/2006/main" noGrp="1"/>
          </p:cNvSpPr>
          <p:nvPr/>
        </p:nvSpPr>
        <p:spPr>
          <a:xfrm xmlns:a="http://schemas.openxmlformats.org/drawingml/2006/main">
            <a:off x="5905500" y="3810000"/>
            <a:ext cx="5619750" cy="1428750"/>
          </a:xfrm>
          <a:prstGeom xmlns:a="http://schemas.openxmlformats.org/drawingml/2006/main" prst="roundRect">
            <a:avLst>
              <a:gd name="adj" fmla="val 5333"/>
            </a:avLst>
          </a:prstGeom>
          <a:solidFill xmlns:a="http://schemas.openxmlformats.org/drawingml/2006/main">
            <a:srgbClr val="F4F8FB"/>
          </a:solidFill>
          <a:ln xmlns:a="http://schemas.openxmlformats.org/drawingml/2006/main" w="9525">
            <a:solidFill>
              <a:srgbClr val="C9D8E5"/>
            </a:solidFill>
          </a:ln>
        </p:spPr>
      </p:sp>
      <p:sp>
        <p:nvSpPr>
          <p:cNvPr id="17" name="">
            <a:extLst xmlns:a="http://schemas.openxmlformats.org/drawingml/2006/main">
              <a:ext uri="{FF2B5EF4-FFF2-40B4-BE49-F238E27FC236}">
                <a16:creationId xmlns:a16="http://schemas.microsoft.com/office/drawing/2014/main" id="{78100B3B-6F9B-49E5-AB24-5B8014771F45}"/>
              </a:ext>
            </a:extLst>
          </p:cNvPr>
          <p:cNvSpPr>
            <a:spLocks xmlns:a="http://schemas.openxmlformats.org/drawingml/2006/main" noGrp="1"/>
          </p:cNvSpPr>
          <p:nvPr/>
        </p:nvSpPr>
        <p:spPr>
          <a:xfrm xmlns:a="http://schemas.openxmlformats.org/drawingml/2006/main">
            <a:off x="5905500" y="3810000"/>
            <a:ext cx="76200" cy="14287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0DA328-EDF9-41FA-B2EA-BD1E7464BF50}"/>
              </a:ext>
            </a:extLst>
          </p:cNvPr>
          <p:cNvSpPr>
            <a:spLocks xmlns:a="http://schemas.openxmlformats.org/drawingml/2006/main" noGrp="1"/>
          </p:cNvSpPr>
          <p:nvPr/>
        </p:nvSpPr>
        <p:spPr>
          <a:xfrm xmlns:a="http://schemas.openxmlformats.org/drawingml/2006/main">
            <a:off x="6172200" y="3981450"/>
            <a:ext cx="516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Registration matters</a:t>
            </a:r>
          </a:p>
        </p:txBody>
      </p:sp>
      <p:sp>
        <p:nvSpPr>
          <p:cNvPr id="19" name="">
            <a:extLst xmlns:a="http://schemas.openxmlformats.org/drawingml/2006/main">
              <a:ext uri="{FF2B5EF4-FFF2-40B4-BE49-F238E27FC236}">
                <a16:creationId xmlns:a16="http://schemas.microsoft.com/office/drawing/2014/main" id="{0C1CA007-4224-4273-8898-8B6A8ABE2444}"/>
              </a:ext>
            </a:extLst>
          </p:cNvPr>
          <p:cNvSpPr>
            <a:spLocks xmlns:a="http://schemas.openxmlformats.org/drawingml/2006/main" noGrp="1"/>
          </p:cNvSpPr>
          <p:nvPr/>
        </p:nvSpPr>
        <p:spPr>
          <a:xfrm xmlns:a="http://schemas.openxmlformats.org/drawingml/2006/main">
            <a:off x="6172200" y="4362450"/>
            <a:ext cx="5162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Adding students to INSTALLED_APPS tells Django to load the app.</a:t>
            </a:r>
          </a:p>
        </p:txBody>
      </p:sp>
    </p:spTree>
    <p:extLst>
      <p:ext uri="{BB962C8B-B14F-4D97-AF65-F5344CB8AC3E}">
        <p14:creationId xmlns:p14="http://schemas.microsoft.com/office/powerpoint/2010/main" val="17051516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CFD75FB-8EDF-4FD0-97DB-8C2972F9C43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FA995D-3461-4EC2-A48A-B6630F926BB5}"/>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FIRST PAGE</a:t>
            </a:r>
          </a:p>
        </p:txBody>
      </p:sp>
      <p:sp>
        <p:nvSpPr>
          <p:cNvPr id="3" name="">
            <a:extLst xmlns:a="http://schemas.openxmlformats.org/drawingml/2006/main">
              <a:ext uri="{FF2B5EF4-FFF2-40B4-BE49-F238E27FC236}">
                <a16:creationId xmlns:a16="http://schemas.microsoft.com/office/drawing/2014/main" id="{5E24F515-C9FD-4351-9EC4-E37DA515EFAB}"/>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A request travels through Django</a:t>
            </a:r>
          </a:p>
        </p:txBody>
      </p:sp>
      <p:sp>
        <p:nvSpPr>
          <p:cNvPr id="4" name="">
            <a:extLst xmlns:a="http://schemas.openxmlformats.org/drawingml/2006/main">
              <a:ext uri="{FF2B5EF4-FFF2-40B4-BE49-F238E27FC236}">
                <a16:creationId xmlns:a16="http://schemas.microsoft.com/office/drawing/2014/main" id="{5C5C9808-8DD7-44C3-8377-33B08A18F438}"/>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D88EB1-641E-4826-85AB-B72695F6EA77}"/>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07</a:t>
            </a:r>
          </a:p>
        </p:txBody>
      </p:sp>
      <p:sp>
        <p:nvSpPr>
          <p:cNvPr id="6" name="">
            <a:extLst xmlns:a="http://schemas.openxmlformats.org/drawingml/2006/main">
              <a:ext uri="{FF2B5EF4-FFF2-40B4-BE49-F238E27FC236}">
                <a16:creationId xmlns:a16="http://schemas.microsoft.com/office/drawing/2014/main" id="{64064EBC-5BB1-4D31-BE83-754428DAE89C}"/>
              </a:ext>
            </a:extLst>
          </p:cNvPr>
          <p:cNvSpPr>
            <a:spLocks xmlns:a="http://schemas.openxmlformats.org/drawingml/2006/main" noGrp="1"/>
          </p:cNvSpPr>
          <p:nvPr/>
        </p:nvSpPr>
        <p:spPr>
          <a:xfrm xmlns:a="http://schemas.openxmlformats.org/drawingml/2006/main">
            <a:off x="619125" y="2095500"/>
            <a:ext cx="2381250" cy="1809750"/>
          </a:xfrm>
          <a:prstGeom xmlns:a="http://schemas.openxmlformats.org/drawingml/2006/main" prst="roundRect">
            <a:avLst>
              <a:gd name="adj" fmla="val 4211"/>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77CF6372-ABB8-45BA-AFFD-C1C887777432}"/>
              </a:ext>
            </a:extLst>
          </p:cNvPr>
          <p:cNvSpPr>
            <a:spLocks xmlns:a="http://schemas.openxmlformats.org/drawingml/2006/main" noGrp="1"/>
          </p:cNvSpPr>
          <p:nvPr/>
        </p:nvSpPr>
        <p:spPr>
          <a:xfrm xmlns:a="http://schemas.openxmlformats.org/drawingml/2006/main">
            <a:off x="790575" y="2286000"/>
            <a:ext cx="457200" cy="457200"/>
          </a:xfrm>
          <a:prstGeom xmlns:a="http://schemas.openxmlformats.org/drawingml/2006/main" prst="roundRect">
            <a:avLst>
              <a:gd name="adj" fmla="val 16667"/>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BB1FB6-5E29-4215-9F94-ADA0D1B2DCF0}"/>
              </a:ext>
            </a:extLst>
          </p:cNvPr>
          <p:cNvSpPr>
            <a:spLocks xmlns:a="http://schemas.openxmlformats.org/drawingml/2006/main" noGrp="1"/>
          </p:cNvSpPr>
          <p:nvPr/>
        </p:nvSpPr>
        <p:spPr>
          <a:xfrm xmlns:a="http://schemas.openxmlformats.org/drawingml/2006/main">
            <a:off x="790575" y="22860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1</a:t>
            </a:r>
          </a:p>
        </p:txBody>
      </p:sp>
      <p:sp>
        <p:nvSpPr>
          <p:cNvPr id="9" name="">
            <a:extLst xmlns:a="http://schemas.openxmlformats.org/drawingml/2006/main">
              <a:ext uri="{FF2B5EF4-FFF2-40B4-BE49-F238E27FC236}">
                <a16:creationId xmlns:a16="http://schemas.microsoft.com/office/drawing/2014/main" id="{944BC7A9-D32A-4B04-B7A8-47920CD9D85E}"/>
              </a:ext>
            </a:extLst>
          </p:cNvPr>
          <p:cNvSpPr>
            <a:spLocks xmlns:a="http://schemas.openxmlformats.org/drawingml/2006/main" noGrp="1"/>
          </p:cNvSpPr>
          <p:nvPr/>
        </p:nvSpPr>
        <p:spPr>
          <a:xfrm xmlns:a="http://schemas.openxmlformats.org/drawingml/2006/main">
            <a:off x="857250" y="290512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Browser</a:t>
            </a:r>
          </a:p>
        </p:txBody>
      </p:sp>
      <p:sp>
        <p:nvSpPr>
          <p:cNvPr id="10" name="">
            <a:extLst xmlns:a="http://schemas.openxmlformats.org/drawingml/2006/main">
              <a:ext uri="{FF2B5EF4-FFF2-40B4-BE49-F238E27FC236}">
                <a16:creationId xmlns:a16="http://schemas.microsoft.com/office/drawing/2014/main" id="{F0DBD057-188C-4188-BAF4-B846CE3A9F9B}"/>
              </a:ext>
            </a:extLst>
          </p:cNvPr>
          <p:cNvSpPr>
            <a:spLocks xmlns:a="http://schemas.openxmlformats.org/drawingml/2006/main" noGrp="1"/>
          </p:cNvSpPr>
          <p:nvPr/>
        </p:nvSpPr>
        <p:spPr>
          <a:xfrm xmlns:a="http://schemas.openxmlformats.org/drawingml/2006/main">
            <a:off x="857250" y="3381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D6C7B"/>
                </a:solidFill>
                <a:latin typeface="DejaVu Sans"/>
                <a:ea typeface="DejaVu Sans"/>
                <a:cs typeface="DejaVu Sans"/>
              </a:defRPr>
            </a:pPr>
            <a:r>
              <a:rPr sz="1200" b="0">
                <a:solidFill>
                  <a:srgbClr val="5D6C7B"/>
                </a:solidFill>
                <a:latin typeface="DejaVu Sans"/>
                <a:ea typeface="DejaVu Sans"/>
                <a:cs typeface="DejaVu Sans"/>
              </a:rPr>
              <a:t>opens /</a:t>
            </a:r>
          </a:p>
        </p:txBody>
      </p:sp>
      <p:sp>
        <p:nvSpPr>
          <p:cNvPr id="11" name="">
            <a:extLst xmlns:a="http://schemas.openxmlformats.org/drawingml/2006/main">
              <a:ext uri="{FF2B5EF4-FFF2-40B4-BE49-F238E27FC236}">
                <a16:creationId xmlns:a16="http://schemas.microsoft.com/office/drawing/2014/main" id="{E25F9A86-2119-4B25-9394-7EB6D86940D3}"/>
              </a:ext>
            </a:extLst>
          </p:cNvPr>
          <p:cNvSpPr>
            <a:spLocks xmlns:a="http://schemas.openxmlformats.org/drawingml/2006/main" noGrp="1"/>
          </p:cNvSpPr>
          <p:nvPr/>
        </p:nvSpPr>
        <p:spPr>
          <a:xfrm xmlns:a="http://schemas.openxmlformats.org/drawingml/2006/main">
            <a:off x="3476625" y="2095500"/>
            <a:ext cx="2381250" cy="1809750"/>
          </a:xfrm>
          <a:prstGeom xmlns:a="http://schemas.openxmlformats.org/drawingml/2006/main" prst="roundRect">
            <a:avLst>
              <a:gd name="adj" fmla="val 4211"/>
            </a:avLst>
          </a:prstGeom>
          <a:solidFill xmlns:a="http://schemas.openxmlformats.org/drawingml/2006/main">
            <a:srgbClr val="DDEFFC"/>
          </a:solidFill>
          <a:ln xmlns:a="http://schemas.openxmlformats.org/drawingml/2006/main" w="9525">
            <a:solidFill>
              <a:srgbClr val="C9D8E5"/>
            </a:solidFill>
          </a:ln>
        </p:spPr>
      </p:sp>
      <p:sp>
        <p:nvSpPr>
          <p:cNvPr id="12" name="">
            <a:extLst xmlns:a="http://schemas.openxmlformats.org/drawingml/2006/main">
              <a:ext uri="{FF2B5EF4-FFF2-40B4-BE49-F238E27FC236}">
                <a16:creationId xmlns:a16="http://schemas.microsoft.com/office/drawing/2014/main" id="{7B05AF14-CDAC-491B-915D-9239005FD254}"/>
              </a:ext>
            </a:extLst>
          </p:cNvPr>
          <p:cNvSpPr>
            <a:spLocks xmlns:a="http://schemas.openxmlformats.org/drawingml/2006/main" noGrp="1"/>
          </p:cNvSpPr>
          <p:nvPr/>
        </p:nvSpPr>
        <p:spPr>
          <a:xfrm xmlns:a="http://schemas.openxmlformats.org/drawingml/2006/main">
            <a:off x="3648075" y="2286000"/>
            <a:ext cx="457200" cy="457200"/>
          </a:xfrm>
          <a:prstGeom xmlns:a="http://schemas.openxmlformats.org/drawingml/2006/main" prst="roundRect">
            <a:avLst>
              <a:gd name="adj" fmla="val 16667"/>
            </a:avLst>
          </a:prstGeom>
          <a:solidFill xmlns:a="http://schemas.openxmlformats.org/drawingml/2006/main">
            <a:srgbClr val="1261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E663BD-B86C-4AD8-BCD4-622FE875699D}"/>
              </a:ext>
            </a:extLst>
          </p:cNvPr>
          <p:cNvSpPr>
            <a:spLocks xmlns:a="http://schemas.openxmlformats.org/drawingml/2006/main" noGrp="1"/>
          </p:cNvSpPr>
          <p:nvPr/>
        </p:nvSpPr>
        <p:spPr>
          <a:xfrm xmlns:a="http://schemas.openxmlformats.org/drawingml/2006/main">
            <a:off x="3648075" y="22860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2</a:t>
            </a:r>
          </a:p>
        </p:txBody>
      </p:sp>
      <p:sp>
        <p:nvSpPr>
          <p:cNvPr id="14" name="">
            <a:extLst xmlns:a="http://schemas.openxmlformats.org/drawingml/2006/main">
              <a:ext uri="{FF2B5EF4-FFF2-40B4-BE49-F238E27FC236}">
                <a16:creationId xmlns:a16="http://schemas.microsoft.com/office/drawing/2014/main" id="{0DC0D8EC-574D-4CA0-8A20-FC4513ED9A4E}"/>
              </a:ext>
            </a:extLst>
          </p:cNvPr>
          <p:cNvSpPr>
            <a:spLocks xmlns:a="http://schemas.openxmlformats.org/drawingml/2006/main" noGrp="1"/>
          </p:cNvSpPr>
          <p:nvPr/>
        </p:nvSpPr>
        <p:spPr>
          <a:xfrm xmlns:a="http://schemas.openxmlformats.org/drawingml/2006/main">
            <a:off x="3714750" y="290512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URL</a:t>
            </a:r>
          </a:p>
        </p:txBody>
      </p:sp>
      <p:sp>
        <p:nvSpPr>
          <p:cNvPr id="15" name="">
            <a:extLst xmlns:a="http://schemas.openxmlformats.org/drawingml/2006/main">
              <a:ext uri="{FF2B5EF4-FFF2-40B4-BE49-F238E27FC236}">
                <a16:creationId xmlns:a16="http://schemas.microsoft.com/office/drawing/2014/main" id="{8790168D-1220-4139-9D83-BDCED057F354}"/>
              </a:ext>
            </a:extLst>
          </p:cNvPr>
          <p:cNvSpPr>
            <a:spLocks xmlns:a="http://schemas.openxmlformats.org/drawingml/2006/main" noGrp="1"/>
          </p:cNvSpPr>
          <p:nvPr/>
        </p:nvSpPr>
        <p:spPr>
          <a:xfrm xmlns:a="http://schemas.openxmlformats.org/drawingml/2006/main">
            <a:off x="3714750" y="3381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D6C7B"/>
                </a:solidFill>
                <a:latin typeface="DejaVu Sans"/>
                <a:ea typeface="DejaVu Sans"/>
                <a:cs typeface="DejaVu Sans"/>
              </a:defRPr>
            </a:pPr>
            <a:r>
              <a:rPr sz="1200" b="0">
                <a:solidFill>
                  <a:srgbClr val="5D6C7B"/>
                </a:solidFill>
                <a:latin typeface="DejaVu Sans"/>
                <a:ea typeface="DejaVu Sans"/>
                <a:cs typeface="DejaVu Sans"/>
              </a:rPr>
              <a:t>selects home</a:t>
            </a:r>
          </a:p>
        </p:txBody>
      </p:sp>
      <p:sp>
        <p:nvSpPr>
          <p:cNvPr id="16" name="">
            <a:extLst xmlns:a="http://schemas.openxmlformats.org/drawingml/2006/main">
              <a:ext uri="{FF2B5EF4-FFF2-40B4-BE49-F238E27FC236}">
                <a16:creationId xmlns:a16="http://schemas.microsoft.com/office/drawing/2014/main" id="{5C55E941-6BED-4D84-9999-589CC9C0E0B8}"/>
              </a:ext>
            </a:extLst>
          </p:cNvPr>
          <p:cNvSpPr>
            <a:spLocks xmlns:a="http://schemas.openxmlformats.org/drawingml/2006/main" noGrp="1"/>
          </p:cNvSpPr>
          <p:nvPr/>
        </p:nvSpPr>
        <p:spPr>
          <a:xfrm xmlns:a="http://schemas.openxmlformats.org/drawingml/2006/main">
            <a:off x="6334125" y="2095500"/>
            <a:ext cx="2381250" cy="1809750"/>
          </a:xfrm>
          <a:prstGeom xmlns:a="http://schemas.openxmlformats.org/drawingml/2006/main" prst="roundRect">
            <a:avLst>
              <a:gd name="adj" fmla="val 4211"/>
            </a:avLst>
          </a:prstGeom>
          <a:solidFill xmlns:a="http://schemas.openxmlformats.org/drawingml/2006/main">
            <a:srgbClr val="F4F8FB"/>
          </a:solidFill>
          <a:ln xmlns:a="http://schemas.openxmlformats.org/drawingml/2006/main" w="9525">
            <a:solidFill>
              <a:srgbClr val="C9D8E5"/>
            </a:solidFill>
          </a:ln>
        </p:spPr>
      </p:sp>
      <p:sp>
        <p:nvSpPr>
          <p:cNvPr id="17" name="">
            <a:extLst xmlns:a="http://schemas.openxmlformats.org/drawingml/2006/main">
              <a:ext uri="{FF2B5EF4-FFF2-40B4-BE49-F238E27FC236}">
                <a16:creationId xmlns:a16="http://schemas.microsoft.com/office/drawing/2014/main" id="{9D943F20-9BFC-4F2B-A17E-E4435F927F5A}"/>
              </a:ext>
            </a:extLst>
          </p:cNvPr>
          <p:cNvSpPr>
            <a:spLocks xmlns:a="http://schemas.openxmlformats.org/drawingml/2006/main" noGrp="1"/>
          </p:cNvSpPr>
          <p:nvPr/>
        </p:nvSpPr>
        <p:spPr>
          <a:xfrm xmlns:a="http://schemas.openxmlformats.org/drawingml/2006/main">
            <a:off x="6505575" y="2286000"/>
            <a:ext cx="457200" cy="457200"/>
          </a:xfrm>
          <a:prstGeom xmlns:a="http://schemas.openxmlformats.org/drawingml/2006/main" prst="roundRect">
            <a:avLst>
              <a:gd name="adj" fmla="val 16667"/>
            </a:avLst>
          </a:prstGeom>
          <a:solidFill xmlns:a="http://schemas.openxmlformats.org/drawingml/2006/main">
            <a:srgbClr val="1261A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53C9C4D-EE32-4617-8B0B-51195C5F6C0F}"/>
              </a:ext>
            </a:extLst>
          </p:cNvPr>
          <p:cNvSpPr>
            <a:spLocks xmlns:a="http://schemas.openxmlformats.org/drawingml/2006/main" noGrp="1"/>
          </p:cNvSpPr>
          <p:nvPr/>
        </p:nvSpPr>
        <p:spPr>
          <a:xfrm xmlns:a="http://schemas.openxmlformats.org/drawingml/2006/main">
            <a:off x="6505575" y="22860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3</a:t>
            </a:r>
          </a:p>
        </p:txBody>
      </p:sp>
      <p:sp>
        <p:nvSpPr>
          <p:cNvPr id="19" name="">
            <a:extLst xmlns:a="http://schemas.openxmlformats.org/drawingml/2006/main">
              <a:ext uri="{FF2B5EF4-FFF2-40B4-BE49-F238E27FC236}">
                <a16:creationId xmlns:a16="http://schemas.microsoft.com/office/drawing/2014/main" id="{3B1154BA-1DAB-4639-ABAE-89C8607E7B1F}"/>
              </a:ext>
            </a:extLst>
          </p:cNvPr>
          <p:cNvSpPr>
            <a:spLocks xmlns:a="http://schemas.openxmlformats.org/drawingml/2006/main" noGrp="1"/>
          </p:cNvSpPr>
          <p:nvPr/>
        </p:nvSpPr>
        <p:spPr>
          <a:xfrm xmlns:a="http://schemas.openxmlformats.org/drawingml/2006/main">
            <a:off x="6572250" y="290512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View</a:t>
            </a:r>
          </a:p>
        </p:txBody>
      </p:sp>
      <p:sp>
        <p:nvSpPr>
          <p:cNvPr id="20" name="">
            <a:extLst xmlns:a="http://schemas.openxmlformats.org/drawingml/2006/main">
              <a:ext uri="{FF2B5EF4-FFF2-40B4-BE49-F238E27FC236}">
                <a16:creationId xmlns:a16="http://schemas.microsoft.com/office/drawing/2014/main" id="{4E9BFBEA-CAA0-4A9C-90E2-602C2218C6AD}"/>
              </a:ext>
            </a:extLst>
          </p:cNvPr>
          <p:cNvSpPr>
            <a:spLocks xmlns:a="http://schemas.openxmlformats.org/drawingml/2006/main" noGrp="1"/>
          </p:cNvSpPr>
          <p:nvPr/>
        </p:nvSpPr>
        <p:spPr>
          <a:xfrm xmlns:a="http://schemas.openxmlformats.org/drawingml/2006/main">
            <a:off x="6572250" y="3381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D6C7B"/>
                </a:solidFill>
                <a:latin typeface="DejaVu Sans"/>
                <a:ea typeface="DejaVu Sans"/>
                <a:cs typeface="DejaVu Sans"/>
              </a:defRPr>
            </a:pPr>
            <a:r>
              <a:rPr sz="1200" b="0">
                <a:solidFill>
                  <a:srgbClr val="5D6C7B"/>
                </a:solidFill>
                <a:latin typeface="DejaVu Sans"/>
                <a:ea typeface="DejaVu Sans"/>
                <a:cs typeface="DejaVu Sans"/>
              </a:rPr>
              <a:t>calls render()</a:t>
            </a:r>
          </a:p>
        </p:txBody>
      </p:sp>
      <p:sp>
        <p:nvSpPr>
          <p:cNvPr id="21" name="">
            <a:extLst xmlns:a="http://schemas.openxmlformats.org/drawingml/2006/main">
              <a:ext uri="{FF2B5EF4-FFF2-40B4-BE49-F238E27FC236}">
                <a16:creationId xmlns:a16="http://schemas.microsoft.com/office/drawing/2014/main" id="{DDCF7915-17A2-44F6-A393-06E14EBDDF05}"/>
              </a:ext>
            </a:extLst>
          </p:cNvPr>
          <p:cNvSpPr>
            <a:spLocks xmlns:a="http://schemas.openxmlformats.org/drawingml/2006/main" noGrp="1"/>
          </p:cNvSpPr>
          <p:nvPr/>
        </p:nvSpPr>
        <p:spPr>
          <a:xfrm xmlns:a="http://schemas.openxmlformats.org/drawingml/2006/main">
            <a:off x="9191625" y="2095500"/>
            <a:ext cx="2381250" cy="1809750"/>
          </a:xfrm>
          <a:prstGeom xmlns:a="http://schemas.openxmlformats.org/drawingml/2006/main" prst="roundRect">
            <a:avLst>
              <a:gd name="adj" fmla="val 4211"/>
            </a:avLst>
          </a:prstGeom>
          <a:solidFill xmlns:a="http://schemas.openxmlformats.org/drawingml/2006/main">
            <a:srgbClr val="DDEFFC"/>
          </a:solidFill>
          <a:ln xmlns:a="http://schemas.openxmlformats.org/drawingml/2006/main" w="9525">
            <a:solidFill>
              <a:srgbClr val="C9D8E5"/>
            </a:solidFill>
          </a:ln>
        </p:spPr>
      </p:sp>
      <p:sp>
        <p:nvSpPr>
          <p:cNvPr id="22" name="">
            <a:extLst xmlns:a="http://schemas.openxmlformats.org/drawingml/2006/main">
              <a:ext uri="{FF2B5EF4-FFF2-40B4-BE49-F238E27FC236}">
                <a16:creationId xmlns:a16="http://schemas.microsoft.com/office/drawing/2014/main" id="{E4C752DC-1831-4585-BDCC-C9B905417BA5}"/>
              </a:ext>
            </a:extLst>
          </p:cNvPr>
          <p:cNvSpPr>
            <a:spLocks xmlns:a="http://schemas.openxmlformats.org/drawingml/2006/main" noGrp="1"/>
          </p:cNvSpPr>
          <p:nvPr/>
        </p:nvSpPr>
        <p:spPr>
          <a:xfrm xmlns:a="http://schemas.openxmlformats.org/drawingml/2006/main">
            <a:off x="9363075" y="2286000"/>
            <a:ext cx="457200" cy="457200"/>
          </a:xfrm>
          <a:prstGeom xmlns:a="http://schemas.openxmlformats.org/drawingml/2006/main" prst="roundRect">
            <a:avLst>
              <a:gd name="adj" fmla="val 16667"/>
            </a:avLst>
          </a:prstGeom>
          <a:solidFill xmlns:a="http://schemas.openxmlformats.org/drawingml/2006/main">
            <a:srgbClr val="1261A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3073CAE-0D6A-4894-8546-44580D8E8335}"/>
              </a:ext>
            </a:extLst>
          </p:cNvPr>
          <p:cNvSpPr>
            <a:spLocks xmlns:a="http://schemas.openxmlformats.org/drawingml/2006/main" noGrp="1"/>
          </p:cNvSpPr>
          <p:nvPr/>
        </p:nvSpPr>
        <p:spPr>
          <a:xfrm xmlns:a="http://schemas.openxmlformats.org/drawingml/2006/main">
            <a:off x="9363075" y="22860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4</a:t>
            </a:r>
          </a:p>
        </p:txBody>
      </p:sp>
      <p:sp>
        <p:nvSpPr>
          <p:cNvPr id="24" name="">
            <a:extLst xmlns:a="http://schemas.openxmlformats.org/drawingml/2006/main">
              <a:ext uri="{FF2B5EF4-FFF2-40B4-BE49-F238E27FC236}">
                <a16:creationId xmlns:a16="http://schemas.microsoft.com/office/drawing/2014/main" id="{903AE894-714E-40B5-A6F6-5996BA020879}"/>
              </a:ext>
            </a:extLst>
          </p:cNvPr>
          <p:cNvSpPr>
            <a:spLocks xmlns:a="http://schemas.openxmlformats.org/drawingml/2006/main" noGrp="1"/>
          </p:cNvSpPr>
          <p:nvPr/>
        </p:nvSpPr>
        <p:spPr>
          <a:xfrm xmlns:a="http://schemas.openxmlformats.org/drawingml/2006/main">
            <a:off x="9429750" y="290512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Template</a:t>
            </a:r>
          </a:p>
        </p:txBody>
      </p:sp>
      <p:sp>
        <p:nvSpPr>
          <p:cNvPr id="25" name="">
            <a:extLst xmlns:a="http://schemas.openxmlformats.org/drawingml/2006/main">
              <a:ext uri="{FF2B5EF4-FFF2-40B4-BE49-F238E27FC236}">
                <a16:creationId xmlns:a16="http://schemas.microsoft.com/office/drawing/2014/main" id="{FFB75854-C104-432E-B3EF-124FB2841135}"/>
              </a:ext>
            </a:extLst>
          </p:cNvPr>
          <p:cNvSpPr>
            <a:spLocks xmlns:a="http://schemas.openxmlformats.org/drawingml/2006/main" noGrp="1"/>
          </p:cNvSpPr>
          <p:nvPr/>
        </p:nvSpPr>
        <p:spPr>
          <a:xfrm xmlns:a="http://schemas.openxmlformats.org/drawingml/2006/main">
            <a:off x="9429750" y="3381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D6C7B"/>
                </a:solidFill>
                <a:latin typeface="DejaVu Sans"/>
                <a:ea typeface="DejaVu Sans"/>
                <a:cs typeface="DejaVu Sans"/>
              </a:defRPr>
            </a:pPr>
            <a:r>
              <a:rPr sz="1200" b="0">
                <a:solidFill>
                  <a:srgbClr val="5D6C7B"/>
                </a:solidFill>
                <a:latin typeface="DejaVu Sans"/>
                <a:ea typeface="DejaVu Sans"/>
                <a:cs typeface="DejaVu Sans"/>
              </a:rPr>
              <a:t>returns HTML</a:t>
            </a:r>
          </a:p>
        </p:txBody>
      </p:sp>
      <p:sp>
        <p:nvSpPr>
          <p:cNvPr id="26" name="">
            <a:extLst xmlns:a="http://schemas.openxmlformats.org/drawingml/2006/main">
              <a:ext uri="{FF2B5EF4-FFF2-40B4-BE49-F238E27FC236}">
                <a16:creationId xmlns:a16="http://schemas.microsoft.com/office/drawing/2014/main" id="{E2FE2E2F-478F-41B2-BAA4-DEA9411AE5D0}"/>
              </a:ext>
            </a:extLst>
          </p:cNvPr>
          <p:cNvSpPr>
            <a:spLocks xmlns:a="http://schemas.openxmlformats.org/drawingml/2006/main" noGrp="1"/>
          </p:cNvSpPr>
          <p:nvPr/>
        </p:nvSpPr>
        <p:spPr>
          <a:xfrm xmlns:a="http://schemas.openxmlformats.org/drawingml/2006/main">
            <a:off x="2381250" y="4524375"/>
            <a:ext cx="7429500" cy="1143000"/>
          </a:xfrm>
          <a:prstGeom xmlns:a="http://schemas.openxmlformats.org/drawingml/2006/main" prst="roundRect">
            <a:avLst>
              <a:gd name="adj" fmla="val 6667"/>
            </a:avLst>
          </a:prstGeom>
          <a:solidFill xmlns:a="http://schemas.openxmlformats.org/drawingml/2006/main">
            <a:srgbClr val="082A4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28E7483-5956-407C-8B6F-A8C907CFF6FA}"/>
              </a:ext>
            </a:extLst>
          </p:cNvPr>
          <p:cNvSpPr>
            <a:spLocks xmlns:a="http://schemas.openxmlformats.org/drawingml/2006/main" noGrp="1"/>
          </p:cNvSpPr>
          <p:nvPr/>
        </p:nvSpPr>
        <p:spPr>
          <a:xfrm xmlns:a="http://schemas.openxmlformats.org/drawingml/2006/main">
            <a:off x="2590800" y="4638675"/>
            <a:ext cx="701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students/views.py</a:t>
            </a:r>
          </a:p>
        </p:txBody>
      </p:sp>
      <p:sp>
        <p:nvSpPr>
          <p:cNvPr id="28" name="">
            <a:extLst xmlns:a="http://schemas.openxmlformats.org/drawingml/2006/main">
              <a:ext uri="{FF2B5EF4-FFF2-40B4-BE49-F238E27FC236}">
                <a16:creationId xmlns:a16="http://schemas.microsoft.com/office/drawing/2014/main" id="{9F9392DD-FFC7-459D-BFA8-D1F76128D744}"/>
              </a:ext>
            </a:extLst>
          </p:cNvPr>
          <p:cNvSpPr>
            <a:spLocks xmlns:a="http://schemas.openxmlformats.org/drawingml/2006/main" noGrp="1"/>
          </p:cNvSpPr>
          <p:nvPr/>
        </p:nvSpPr>
        <p:spPr>
          <a:xfrm xmlns:a="http://schemas.openxmlformats.org/drawingml/2006/main">
            <a:off x="2590800" y="4924425"/>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def home(request):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return render(request, "students/home.html")</a:t>
            </a:r>
          </a:p>
        </p:txBody>
      </p:sp>
    </p:spTree>
    <p:extLst>
      <p:ext uri="{BB962C8B-B14F-4D97-AF65-F5344CB8AC3E}">
        <p14:creationId xmlns:p14="http://schemas.microsoft.com/office/powerpoint/2010/main" val="562247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40BFD6-790C-43DB-AB01-4101F400AE8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1243ED-CAE3-4570-A232-6AC1C07492C6}"/>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STATIC FILES</a:t>
            </a:r>
          </a:p>
        </p:txBody>
      </p:sp>
      <p:sp>
        <p:nvSpPr>
          <p:cNvPr id="3" name="">
            <a:extLst xmlns:a="http://schemas.openxmlformats.org/drawingml/2006/main">
              <a:ext uri="{FF2B5EF4-FFF2-40B4-BE49-F238E27FC236}">
                <a16:creationId xmlns:a16="http://schemas.microsoft.com/office/drawing/2014/main" id="{7EF54F6D-0353-4CC4-807A-2CABDC796582}"/>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Static files control presentation</a:t>
            </a:r>
          </a:p>
        </p:txBody>
      </p:sp>
      <p:sp>
        <p:nvSpPr>
          <p:cNvPr id="4" name="">
            <a:extLst xmlns:a="http://schemas.openxmlformats.org/drawingml/2006/main">
              <a:ext uri="{FF2B5EF4-FFF2-40B4-BE49-F238E27FC236}">
                <a16:creationId xmlns:a16="http://schemas.microsoft.com/office/drawing/2014/main" id="{32F3A450-719F-4776-BDDA-B41496CF6586}"/>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BF402A-36C1-4FC4-A053-935063B80C2E}"/>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08</a:t>
            </a:r>
          </a:p>
        </p:txBody>
      </p:sp>
      <p:sp>
        <p:nvSpPr>
          <p:cNvPr id="6" name="">
            <a:extLst xmlns:a="http://schemas.openxmlformats.org/drawingml/2006/main">
              <a:ext uri="{FF2B5EF4-FFF2-40B4-BE49-F238E27FC236}">
                <a16:creationId xmlns:a16="http://schemas.microsoft.com/office/drawing/2014/main" id="{9546EF5C-FBF8-4625-8839-361AED02E82C}"/>
              </a:ext>
            </a:extLst>
          </p:cNvPr>
          <p:cNvSpPr>
            <a:spLocks xmlns:a="http://schemas.openxmlformats.org/drawingml/2006/main" noGrp="1"/>
          </p:cNvSpPr>
          <p:nvPr/>
        </p:nvSpPr>
        <p:spPr>
          <a:xfrm xmlns:a="http://schemas.openxmlformats.org/drawingml/2006/main">
            <a:off x="762000" y="1714500"/>
            <a:ext cx="4762500" cy="3143250"/>
          </a:xfrm>
          <a:prstGeom xmlns:a="http://schemas.openxmlformats.org/drawingml/2006/main" prst="roundRect">
            <a:avLst>
              <a:gd name="adj" fmla="val 2424"/>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2BD97193-FF99-47AB-AD0A-892793CA5DB8}"/>
              </a:ext>
            </a:extLst>
          </p:cNvPr>
          <p:cNvSpPr>
            <a:spLocks xmlns:a="http://schemas.openxmlformats.org/drawingml/2006/main" noGrp="1"/>
          </p:cNvSpPr>
          <p:nvPr/>
        </p:nvSpPr>
        <p:spPr>
          <a:xfrm xmlns:a="http://schemas.openxmlformats.org/drawingml/2006/main">
            <a:off x="762000" y="1714500"/>
            <a:ext cx="76200" cy="31432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5FC4F8-2823-4AB2-9D6B-FE0D8B1E1F4F}"/>
              </a:ext>
            </a:extLst>
          </p:cNvPr>
          <p:cNvSpPr>
            <a:spLocks xmlns:a="http://schemas.openxmlformats.org/drawingml/2006/main" noGrp="1"/>
          </p:cNvSpPr>
          <p:nvPr/>
        </p:nvSpPr>
        <p:spPr>
          <a:xfrm xmlns:a="http://schemas.openxmlformats.org/drawingml/2006/main">
            <a:off x="1028700" y="188595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Common examples</a:t>
            </a:r>
          </a:p>
        </p:txBody>
      </p:sp>
      <p:sp>
        <p:nvSpPr>
          <p:cNvPr id="9" name="">
            <a:extLst xmlns:a="http://schemas.openxmlformats.org/drawingml/2006/main">
              <a:ext uri="{FF2B5EF4-FFF2-40B4-BE49-F238E27FC236}">
                <a16:creationId xmlns:a16="http://schemas.microsoft.com/office/drawing/2014/main" id="{BDCCAF33-8FBF-49B5-9C4A-5A949736A814}"/>
              </a:ext>
            </a:extLst>
          </p:cNvPr>
          <p:cNvSpPr>
            <a:spLocks xmlns:a="http://schemas.openxmlformats.org/drawingml/2006/main" noGrp="1"/>
          </p:cNvSpPr>
          <p:nvPr/>
        </p:nvSpPr>
        <p:spPr>
          <a:xfrm xmlns:a="http://schemas.openxmlformats.org/drawingml/2006/main">
            <a:off x="1028700" y="2266950"/>
            <a:ext cx="43053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CSS styles</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JavaScript behavior</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Logos and icons</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Background images</a:t>
            </a:r>
          </a:p>
        </p:txBody>
      </p:sp>
      <p:sp>
        <p:nvSpPr>
          <p:cNvPr id="10" name="">
            <a:extLst xmlns:a="http://schemas.openxmlformats.org/drawingml/2006/main">
              <a:ext uri="{FF2B5EF4-FFF2-40B4-BE49-F238E27FC236}">
                <a16:creationId xmlns:a16="http://schemas.microsoft.com/office/drawing/2014/main" id="{A9AA3BAB-6EA7-4991-A68F-AC3A4D97A328}"/>
              </a:ext>
            </a:extLst>
          </p:cNvPr>
          <p:cNvSpPr>
            <a:spLocks xmlns:a="http://schemas.openxmlformats.org/drawingml/2006/main" noGrp="1"/>
          </p:cNvSpPr>
          <p:nvPr/>
        </p:nvSpPr>
        <p:spPr>
          <a:xfrm xmlns:a="http://schemas.openxmlformats.org/drawingml/2006/main">
            <a:off x="6477000" y="1714500"/>
            <a:ext cx="4953000" cy="3143250"/>
          </a:xfrm>
          <a:prstGeom xmlns:a="http://schemas.openxmlformats.org/drawingml/2006/main" prst="roundRect">
            <a:avLst>
              <a:gd name="adj" fmla="val 2424"/>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6161EA9F-7750-414A-93E1-C6B92DA6B4D0}"/>
              </a:ext>
            </a:extLst>
          </p:cNvPr>
          <p:cNvSpPr>
            <a:spLocks xmlns:a="http://schemas.openxmlformats.org/drawingml/2006/main" noGrp="1"/>
          </p:cNvSpPr>
          <p:nvPr/>
        </p:nvSpPr>
        <p:spPr>
          <a:xfrm xmlns:a="http://schemas.openxmlformats.org/drawingml/2006/main">
            <a:off x="6477000" y="1714500"/>
            <a:ext cx="76200" cy="314325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5EC4033-1299-4B1E-BF1A-EBA43AA3F01F}"/>
              </a:ext>
            </a:extLst>
          </p:cNvPr>
          <p:cNvSpPr>
            <a:spLocks xmlns:a="http://schemas.openxmlformats.org/drawingml/2006/main" noGrp="1"/>
          </p:cNvSpPr>
          <p:nvPr/>
        </p:nvSpPr>
        <p:spPr>
          <a:xfrm xmlns:a="http://schemas.openxmlformats.org/drawingml/2006/main">
            <a:off x="6743700" y="1885950"/>
            <a:ext cx="449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Who adds them?</a:t>
            </a:r>
          </a:p>
        </p:txBody>
      </p:sp>
      <p:sp>
        <p:nvSpPr>
          <p:cNvPr id="13" name="">
            <a:extLst xmlns:a="http://schemas.openxmlformats.org/drawingml/2006/main">
              <a:ext uri="{FF2B5EF4-FFF2-40B4-BE49-F238E27FC236}">
                <a16:creationId xmlns:a16="http://schemas.microsoft.com/office/drawing/2014/main" id="{DFD4A4F2-F376-438B-AF16-876487E06D42}"/>
              </a:ext>
            </a:extLst>
          </p:cNvPr>
          <p:cNvSpPr>
            <a:spLocks xmlns:a="http://schemas.openxmlformats.org/drawingml/2006/main" noGrp="1"/>
          </p:cNvSpPr>
          <p:nvPr/>
        </p:nvSpPr>
        <p:spPr>
          <a:xfrm xmlns:a="http://schemas.openxmlformats.org/drawingml/2006/main">
            <a:off x="6743700" y="2266950"/>
            <a:ext cx="44958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developer usually adds these files while building the application.</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Users normally do not upload or edit them.</a:t>
            </a:r>
          </a:p>
        </p:txBody>
      </p:sp>
      <p:sp>
        <p:nvSpPr>
          <p:cNvPr id="14" name="">
            <a:extLst xmlns:a="http://schemas.openxmlformats.org/drawingml/2006/main">
              <a:ext uri="{FF2B5EF4-FFF2-40B4-BE49-F238E27FC236}">
                <a16:creationId xmlns:a16="http://schemas.microsoft.com/office/drawing/2014/main" id="{A67CE9E8-5B38-4BA8-995F-EA4BBCF1F7EF}"/>
              </a:ext>
            </a:extLst>
          </p:cNvPr>
          <p:cNvSpPr>
            <a:spLocks xmlns:a="http://schemas.openxmlformats.org/drawingml/2006/main" noGrp="1"/>
          </p:cNvSpPr>
          <p:nvPr/>
        </p:nvSpPr>
        <p:spPr>
          <a:xfrm xmlns:a="http://schemas.openxmlformats.org/drawingml/2006/main">
            <a:off x="1809750" y="5286375"/>
            <a:ext cx="8572500" cy="666750"/>
          </a:xfrm>
          <a:prstGeom xmlns:a="http://schemas.openxmlformats.org/drawingml/2006/main" prst="roundRect">
            <a:avLst>
              <a:gd name="adj" fmla="val 11429"/>
            </a:avLst>
          </a:prstGeom>
          <a:solidFill xmlns:a="http://schemas.openxmlformats.org/drawingml/2006/main">
            <a:srgbClr val="082A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91743F-ABEA-4A44-9FA5-54529613A566}"/>
              </a:ext>
            </a:extLst>
          </p:cNvPr>
          <p:cNvSpPr>
            <a:spLocks xmlns:a="http://schemas.openxmlformats.org/drawingml/2006/main" noGrp="1"/>
          </p:cNvSpPr>
          <p:nvPr/>
        </p:nvSpPr>
        <p:spPr>
          <a:xfrm xmlns:a="http://schemas.openxmlformats.org/drawingml/2006/main">
            <a:off x="2095500" y="54102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Static files help the page look and behave correctly.</a:t>
            </a:r>
          </a:p>
        </p:txBody>
      </p:sp>
    </p:spTree>
    <p:extLst>
      <p:ext uri="{BB962C8B-B14F-4D97-AF65-F5344CB8AC3E}">
        <p14:creationId xmlns:p14="http://schemas.microsoft.com/office/powerpoint/2010/main" val="15137404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267E849-962B-4562-946E-664A15C43A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DA808F-C01D-4AA3-9B1D-7C42A27A776E}"/>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STATIC FILES</a:t>
            </a:r>
          </a:p>
        </p:txBody>
      </p:sp>
      <p:sp>
        <p:nvSpPr>
          <p:cNvPr id="3" name="">
            <a:extLst xmlns:a="http://schemas.openxmlformats.org/drawingml/2006/main">
              <a:ext uri="{FF2B5EF4-FFF2-40B4-BE49-F238E27FC236}">
                <a16:creationId xmlns:a16="http://schemas.microsoft.com/office/drawing/2014/main" id="{FE8BF7ED-D6A7-4FF4-92B8-E8A046F2CCB8}"/>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Django looks for a clear static path</a:t>
            </a:r>
          </a:p>
        </p:txBody>
      </p:sp>
      <p:sp>
        <p:nvSpPr>
          <p:cNvPr id="4" name="">
            <a:extLst xmlns:a="http://schemas.openxmlformats.org/drawingml/2006/main">
              <a:ext uri="{FF2B5EF4-FFF2-40B4-BE49-F238E27FC236}">
                <a16:creationId xmlns:a16="http://schemas.microsoft.com/office/drawing/2014/main" id="{BF40E06D-6283-42DE-9EF8-0094472804A0}"/>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4137DE-7852-4E92-AE1A-18688EA7619F}"/>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09</a:t>
            </a:r>
          </a:p>
        </p:txBody>
      </p:sp>
      <p:sp>
        <p:nvSpPr>
          <p:cNvPr id="6" name="">
            <a:extLst xmlns:a="http://schemas.openxmlformats.org/drawingml/2006/main">
              <a:ext uri="{FF2B5EF4-FFF2-40B4-BE49-F238E27FC236}">
                <a16:creationId xmlns:a16="http://schemas.microsoft.com/office/drawing/2014/main" id="{25023E18-2526-407A-B3C0-91701345EC3E}"/>
              </a:ext>
            </a:extLst>
          </p:cNvPr>
          <p:cNvSpPr>
            <a:spLocks xmlns:a="http://schemas.openxmlformats.org/drawingml/2006/main" noGrp="1"/>
          </p:cNvSpPr>
          <p:nvPr/>
        </p:nvSpPr>
        <p:spPr>
          <a:xfrm xmlns:a="http://schemas.openxmlformats.org/drawingml/2006/main">
            <a:off x="857250" y="1666875"/>
            <a:ext cx="4762500" cy="3143250"/>
          </a:xfrm>
          <a:prstGeom xmlns:a="http://schemas.openxmlformats.org/drawingml/2006/main" prst="roundRect">
            <a:avLst>
              <a:gd name="adj" fmla="val 242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986269-AB7F-4C72-89C4-79F5CE56CD1A}"/>
              </a:ext>
            </a:extLst>
          </p:cNvPr>
          <p:cNvSpPr>
            <a:spLocks xmlns:a="http://schemas.openxmlformats.org/drawingml/2006/main" noGrp="1"/>
          </p:cNvSpPr>
          <p:nvPr/>
        </p:nvSpPr>
        <p:spPr>
          <a:xfrm xmlns:a="http://schemas.openxmlformats.org/drawingml/2006/main">
            <a:off x="1066800" y="1781175"/>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FOLDER STRUCTURE</a:t>
            </a:r>
          </a:p>
        </p:txBody>
      </p:sp>
      <p:sp>
        <p:nvSpPr>
          <p:cNvPr id="8" name="">
            <a:extLst xmlns:a="http://schemas.openxmlformats.org/drawingml/2006/main">
              <a:ext uri="{FF2B5EF4-FFF2-40B4-BE49-F238E27FC236}">
                <a16:creationId xmlns:a16="http://schemas.microsoft.com/office/drawing/2014/main" id="{8CEDF1CF-9000-4EE6-8F75-2DB1FF1ACF3A}"/>
              </a:ext>
            </a:extLst>
          </p:cNvPr>
          <p:cNvSpPr>
            <a:spLocks xmlns:a="http://schemas.openxmlformats.org/drawingml/2006/main" noGrp="1"/>
          </p:cNvSpPr>
          <p:nvPr/>
        </p:nvSpPr>
        <p:spPr>
          <a:xfrm xmlns:a="http://schemas.openxmlformats.org/drawingml/2006/main">
            <a:off x="1066800" y="2066925"/>
            <a:ext cx="43434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students/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static/</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students/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css/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style.css</a:t>
            </a:r>
          </a:p>
        </p:txBody>
      </p:sp>
      <p:sp>
        <p:nvSpPr>
          <p:cNvPr id="9" name="">
            <a:extLst xmlns:a="http://schemas.openxmlformats.org/drawingml/2006/main">
              <a:ext uri="{FF2B5EF4-FFF2-40B4-BE49-F238E27FC236}">
                <a16:creationId xmlns:a16="http://schemas.microsoft.com/office/drawing/2014/main" id="{43E39EB2-FC43-4117-8E79-B4E26487D6B7}"/>
              </a:ext>
            </a:extLst>
          </p:cNvPr>
          <p:cNvSpPr>
            <a:spLocks xmlns:a="http://schemas.openxmlformats.org/drawingml/2006/main" noGrp="1"/>
          </p:cNvSpPr>
          <p:nvPr/>
        </p:nvSpPr>
        <p:spPr>
          <a:xfrm xmlns:a="http://schemas.openxmlformats.org/drawingml/2006/main">
            <a:off x="6286500" y="1666875"/>
            <a:ext cx="5048250" cy="2381250"/>
          </a:xfrm>
          <a:prstGeom xmlns:a="http://schemas.openxmlformats.org/drawingml/2006/main" prst="roundRect">
            <a:avLst>
              <a:gd name="adj" fmla="val 3200"/>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17CAABC5-78C1-4932-9843-38AD16806F37}"/>
              </a:ext>
            </a:extLst>
          </p:cNvPr>
          <p:cNvSpPr>
            <a:spLocks xmlns:a="http://schemas.openxmlformats.org/drawingml/2006/main" noGrp="1"/>
          </p:cNvSpPr>
          <p:nvPr/>
        </p:nvSpPr>
        <p:spPr>
          <a:xfrm xmlns:a="http://schemas.openxmlformats.org/drawingml/2006/main">
            <a:off x="6286500" y="1666875"/>
            <a:ext cx="76200" cy="23812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B98FF9B-650D-4884-AEBB-03110391416B}"/>
              </a:ext>
            </a:extLst>
          </p:cNvPr>
          <p:cNvSpPr>
            <a:spLocks xmlns:a="http://schemas.openxmlformats.org/drawingml/2006/main" noGrp="1"/>
          </p:cNvSpPr>
          <p:nvPr/>
        </p:nvSpPr>
        <p:spPr>
          <a:xfrm xmlns:a="http://schemas.openxmlformats.org/drawingml/2006/main">
            <a:off x="6553200" y="1838325"/>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Why repeat students?</a:t>
            </a:r>
          </a:p>
        </p:txBody>
      </p:sp>
      <p:sp>
        <p:nvSpPr>
          <p:cNvPr id="12" name="">
            <a:extLst xmlns:a="http://schemas.openxmlformats.org/drawingml/2006/main">
              <a:ext uri="{FF2B5EF4-FFF2-40B4-BE49-F238E27FC236}">
                <a16:creationId xmlns:a16="http://schemas.microsoft.com/office/drawing/2014/main" id="{0FB03647-9061-462B-B01D-2564991A8102}"/>
              </a:ext>
            </a:extLst>
          </p:cNvPr>
          <p:cNvSpPr>
            <a:spLocks xmlns:a="http://schemas.openxmlformats.org/drawingml/2006/main" noGrp="1"/>
          </p:cNvSpPr>
          <p:nvPr/>
        </p:nvSpPr>
        <p:spPr>
          <a:xfrm xmlns:a="http://schemas.openxmlformats.org/drawingml/2006/main">
            <a:off x="6553200" y="2219325"/>
            <a:ext cx="45910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second students folder creates a namespace. It prevents files from different apps from having confusing duplicate names.</a:t>
            </a:r>
          </a:p>
        </p:txBody>
      </p:sp>
      <p:sp>
        <p:nvSpPr>
          <p:cNvPr id="13" name="">
            <a:extLst xmlns:a="http://schemas.openxmlformats.org/drawingml/2006/main">
              <a:ext uri="{FF2B5EF4-FFF2-40B4-BE49-F238E27FC236}">
                <a16:creationId xmlns:a16="http://schemas.microsoft.com/office/drawing/2014/main" id="{1C0B633B-44FD-435A-B470-418E97FF333F}"/>
              </a:ext>
            </a:extLst>
          </p:cNvPr>
          <p:cNvSpPr>
            <a:spLocks xmlns:a="http://schemas.openxmlformats.org/drawingml/2006/main" noGrp="1"/>
          </p:cNvSpPr>
          <p:nvPr/>
        </p:nvSpPr>
        <p:spPr>
          <a:xfrm xmlns:a="http://schemas.openxmlformats.org/drawingml/2006/main">
            <a:off x="6286500" y="4381500"/>
            <a:ext cx="5048250" cy="857250"/>
          </a:xfrm>
          <a:prstGeom xmlns:a="http://schemas.openxmlformats.org/drawingml/2006/main" prst="roundRect">
            <a:avLst>
              <a:gd name="adj" fmla="val 8889"/>
            </a:avLst>
          </a:prstGeom>
          <a:solidFill xmlns:a="http://schemas.openxmlformats.org/drawingml/2006/main">
            <a:srgbClr val="082A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4171C5-577F-4594-9BBB-4C9335A1C828}"/>
              </a:ext>
            </a:extLst>
          </p:cNvPr>
          <p:cNvSpPr>
            <a:spLocks xmlns:a="http://schemas.openxmlformats.org/drawingml/2006/main" noGrp="1"/>
          </p:cNvSpPr>
          <p:nvPr/>
        </p:nvSpPr>
        <p:spPr>
          <a:xfrm xmlns:a="http://schemas.openxmlformats.org/drawingml/2006/main">
            <a:off x="6496050" y="4495800"/>
            <a:ext cx="462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a:t>
            </a:r>
          </a:p>
        </p:txBody>
      </p:sp>
      <p:sp>
        <p:nvSpPr>
          <p:cNvPr id="15" name="">
            <a:extLst xmlns:a="http://schemas.openxmlformats.org/drawingml/2006/main">
              <a:ext uri="{FF2B5EF4-FFF2-40B4-BE49-F238E27FC236}">
                <a16:creationId xmlns:a16="http://schemas.microsoft.com/office/drawing/2014/main" id="{27CFC8DB-F4D6-4F8E-911D-58EED946EB43}"/>
              </a:ext>
            </a:extLst>
          </p:cNvPr>
          <p:cNvSpPr>
            <a:spLocks xmlns:a="http://schemas.openxmlformats.org/drawingml/2006/main" noGrp="1"/>
          </p:cNvSpPr>
          <p:nvPr/>
        </p:nvSpPr>
        <p:spPr>
          <a:xfrm xmlns:a="http://schemas.openxmlformats.org/drawingml/2006/main">
            <a:off x="6496050" y="4781550"/>
            <a:ext cx="4629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STATIC_URL = "static/"</a:t>
            </a:r>
          </a:p>
        </p:txBody>
      </p:sp>
    </p:spTree>
    <p:extLst>
      <p:ext uri="{BB962C8B-B14F-4D97-AF65-F5344CB8AC3E}">
        <p14:creationId xmlns:p14="http://schemas.microsoft.com/office/powerpoint/2010/main" val="19945186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796E63-9357-4645-990D-0A9670132A6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FDEC19-495B-43FF-AFC5-396CA0FABD9E}"/>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STATIC FILES</a:t>
            </a:r>
          </a:p>
        </p:txBody>
      </p:sp>
      <p:sp>
        <p:nvSpPr>
          <p:cNvPr id="3" name="">
            <a:extLst xmlns:a="http://schemas.openxmlformats.org/drawingml/2006/main">
              <a:ext uri="{FF2B5EF4-FFF2-40B4-BE49-F238E27FC236}">
                <a16:creationId xmlns:a16="http://schemas.microsoft.com/office/drawing/2014/main" id="{40EB0A1B-F174-4415-BC68-1547D895E9BD}"/>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template loads the CSS</a:t>
            </a:r>
          </a:p>
        </p:txBody>
      </p:sp>
      <p:sp>
        <p:nvSpPr>
          <p:cNvPr id="4" name="">
            <a:extLst xmlns:a="http://schemas.openxmlformats.org/drawingml/2006/main">
              <a:ext uri="{FF2B5EF4-FFF2-40B4-BE49-F238E27FC236}">
                <a16:creationId xmlns:a16="http://schemas.microsoft.com/office/drawing/2014/main" id="{B4D1F715-6647-484C-9F3D-2BBFE2AF4B94}"/>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775BE5-D891-4DAB-8061-9D2A7E360A00}"/>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9D95609A-CBB2-4959-A522-307CEC385FB9}"/>
              </a:ext>
            </a:extLst>
          </p:cNvPr>
          <p:cNvSpPr>
            <a:spLocks xmlns:a="http://schemas.openxmlformats.org/drawingml/2006/main" noGrp="1"/>
          </p:cNvSpPr>
          <p:nvPr/>
        </p:nvSpPr>
        <p:spPr>
          <a:xfrm xmlns:a="http://schemas.openxmlformats.org/drawingml/2006/main">
            <a:off x="666750" y="1619250"/>
            <a:ext cx="10858500" cy="1809750"/>
          </a:xfrm>
          <a:prstGeom xmlns:a="http://schemas.openxmlformats.org/drawingml/2006/main" prst="roundRect">
            <a:avLst>
              <a:gd name="adj" fmla="val 4211"/>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79D628-3BC8-4EA3-90F2-858262E521BC}"/>
              </a:ext>
            </a:extLst>
          </p:cNvPr>
          <p:cNvSpPr>
            <a:spLocks xmlns:a="http://schemas.openxmlformats.org/drawingml/2006/main" noGrp="1"/>
          </p:cNvSpPr>
          <p:nvPr/>
        </p:nvSpPr>
        <p:spPr>
          <a:xfrm xmlns:a="http://schemas.openxmlformats.org/drawingml/2006/main">
            <a:off x="876300" y="173355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students/templates/students/home.html</a:t>
            </a:r>
          </a:p>
        </p:txBody>
      </p:sp>
      <p:sp>
        <p:nvSpPr>
          <p:cNvPr id="8" name="">
            <a:extLst xmlns:a="http://schemas.openxmlformats.org/drawingml/2006/main">
              <a:ext uri="{FF2B5EF4-FFF2-40B4-BE49-F238E27FC236}">
                <a16:creationId xmlns:a16="http://schemas.microsoft.com/office/drawing/2014/main" id="{28274ABB-F2ED-429C-8BD1-6DBA9CCCD5D8}"/>
              </a:ext>
            </a:extLst>
          </p:cNvPr>
          <p:cNvSpPr>
            <a:spLocks xmlns:a="http://schemas.openxmlformats.org/drawingml/2006/main" noGrp="1"/>
          </p:cNvSpPr>
          <p:nvPr/>
        </p:nvSpPr>
        <p:spPr>
          <a:xfrm xmlns:a="http://schemas.openxmlformats.org/drawingml/2006/main">
            <a:off x="876300" y="2019300"/>
            <a:ext cx="104394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load static %}</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&lt;link rel="stylesheet"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href="{% static 'students/css/style.css' %}"&gt;</a:t>
            </a:r>
          </a:p>
        </p:txBody>
      </p:sp>
      <p:sp>
        <p:nvSpPr>
          <p:cNvPr id="9" name="">
            <a:extLst xmlns:a="http://schemas.openxmlformats.org/drawingml/2006/main">
              <a:ext uri="{FF2B5EF4-FFF2-40B4-BE49-F238E27FC236}">
                <a16:creationId xmlns:a16="http://schemas.microsoft.com/office/drawing/2014/main" id="{A2D0073E-824B-4929-A6BA-58DDD1AB8E64}"/>
              </a:ext>
            </a:extLst>
          </p:cNvPr>
          <p:cNvSpPr>
            <a:spLocks xmlns:a="http://schemas.openxmlformats.org/drawingml/2006/main" noGrp="1"/>
          </p:cNvSpPr>
          <p:nvPr/>
        </p:nvSpPr>
        <p:spPr>
          <a:xfrm xmlns:a="http://schemas.openxmlformats.org/drawingml/2006/main">
            <a:off x="666750" y="3905250"/>
            <a:ext cx="5048250" cy="1333500"/>
          </a:xfrm>
          <a:prstGeom xmlns:a="http://schemas.openxmlformats.org/drawingml/2006/main" prst="roundRect">
            <a:avLst>
              <a:gd name="adj" fmla="val 5714"/>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71A3BDD9-0B68-4353-BA8A-4BF0B679CBB8}"/>
              </a:ext>
            </a:extLst>
          </p:cNvPr>
          <p:cNvSpPr>
            <a:spLocks xmlns:a="http://schemas.openxmlformats.org/drawingml/2006/main" noGrp="1"/>
          </p:cNvSpPr>
          <p:nvPr/>
        </p:nvSpPr>
        <p:spPr>
          <a:xfrm xmlns:a="http://schemas.openxmlformats.org/drawingml/2006/main">
            <a:off x="666750" y="3905250"/>
            <a:ext cx="76200" cy="133350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E34FB54-DAA1-4FCC-A0E0-B42DA738042E}"/>
              </a:ext>
            </a:extLst>
          </p:cNvPr>
          <p:cNvSpPr>
            <a:spLocks xmlns:a="http://schemas.openxmlformats.org/drawingml/2006/main" noGrp="1"/>
          </p:cNvSpPr>
          <p:nvPr/>
        </p:nvSpPr>
        <p:spPr>
          <a:xfrm xmlns:a="http://schemas.openxmlformats.org/drawingml/2006/main">
            <a:off x="933450" y="4076700"/>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 load static %}</a:t>
            </a:r>
          </a:p>
        </p:txBody>
      </p:sp>
      <p:sp>
        <p:nvSpPr>
          <p:cNvPr id="12" name="">
            <a:extLst xmlns:a="http://schemas.openxmlformats.org/drawingml/2006/main">
              <a:ext uri="{FF2B5EF4-FFF2-40B4-BE49-F238E27FC236}">
                <a16:creationId xmlns:a16="http://schemas.microsoft.com/office/drawing/2014/main" id="{D09BBE0E-AC58-4785-A951-5817C8F7449E}"/>
              </a:ext>
            </a:extLst>
          </p:cNvPr>
          <p:cNvSpPr>
            <a:spLocks xmlns:a="http://schemas.openxmlformats.org/drawingml/2006/main" noGrp="1"/>
          </p:cNvSpPr>
          <p:nvPr/>
        </p:nvSpPr>
        <p:spPr>
          <a:xfrm xmlns:a="http://schemas.openxmlformats.org/drawingml/2006/main">
            <a:off x="933450" y="4457700"/>
            <a:ext cx="4591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Activates Django's static template tools.</a:t>
            </a:r>
          </a:p>
        </p:txBody>
      </p:sp>
      <p:sp>
        <p:nvSpPr>
          <p:cNvPr id="13" name="">
            <a:extLst xmlns:a="http://schemas.openxmlformats.org/drawingml/2006/main">
              <a:ext uri="{FF2B5EF4-FFF2-40B4-BE49-F238E27FC236}">
                <a16:creationId xmlns:a16="http://schemas.microsoft.com/office/drawing/2014/main" id="{AD49CF58-F2CA-4F3B-8A98-524FAA69A1D6}"/>
              </a:ext>
            </a:extLst>
          </p:cNvPr>
          <p:cNvSpPr>
            <a:spLocks xmlns:a="http://schemas.openxmlformats.org/drawingml/2006/main" noGrp="1"/>
          </p:cNvSpPr>
          <p:nvPr/>
        </p:nvSpPr>
        <p:spPr>
          <a:xfrm xmlns:a="http://schemas.openxmlformats.org/drawingml/2006/main">
            <a:off x="6477000" y="3905250"/>
            <a:ext cx="5048250" cy="1333500"/>
          </a:xfrm>
          <a:prstGeom xmlns:a="http://schemas.openxmlformats.org/drawingml/2006/main" prst="roundRect">
            <a:avLst>
              <a:gd name="adj" fmla="val 5714"/>
            </a:avLst>
          </a:prstGeom>
          <a:solidFill xmlns:a="http://schemas.openxmlformats.org/drawingml/2006/main">
            <a:srgbClr val="F4F8FB"/>
          </a:solidFill>
          <a:ln xmlns:a="http://schemas.openxmlformats.org/drawingml/2006/main" w="9525">
            <a:solidFill>
              <a:srgbClr val="C9D8E5"/>
            </a:solidFill>
          </a:ln>
        </p:spPr>
      </p:sp>
      <p:sp>
        <p:nvSpPr>
          <p:cNvPr id="14" name="">
            <a:extLst xmlns:a="http://schemas.openxmlformats.org/drawingml/2006/main">
              <a:ext uri="{FF2B5EF4-FFF2-40B4-BE49-F238E27FC236}">
                <a16:creationId xmlns:a16="http://schemas.microsoft.com/office/drawing/2014/main" id="{B42FB148-E58D-4FB2-AC11-049CF6C40079}"/>
              </a:ext>
            </a:extLst>
          </p:cNvPr>
          <p:cNvSpPr>
            <a:spLocks xmlns:a="http://schemas.openxmlformats.org/drawingml/2006/main" noGrp="1"/>
          </p:cNvSpPr>
          <p:nvPr/>
        </p:nvSpPr>
        <p:spPr>
          <a:xfrm xmlns:a="http://schemas.openxmlformats.org/drawingml/2006/main">
            <a:off x="6477000" y="3905250"/>
            <a:ext cx="76200" cy="133350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47CEE3-7E78-4BD8-825C-090AD4A8367F}"/>
              </a:ext>
            </a:extLst>
          </p:cNvPr>
          <p:cNvSpPr>
            <a:spLocks xmlns:a="http://schemas.openxmlformats.org/drawingml/2006/main" noGrp="1"/>
          </p:cNvSpPr>
          <p:nvPr/>
        </p:nvSpPr>
        <p:spPr>
          <a:xfrm xmlns:a="http://schemas.openxmlformats.org/drawingml/2006/main">
            <a:off x="6743700" y="4076700"/>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 static '...' %}</a:t>
            </a:r>
          </a:p>
        </p:txBody>
      </p:sp>
      <p:sp>
        <p:nvSpPr>
          <p:cNvPr id="16" name="">
            <a:extLst xmlns:a="http://schemas.openxmlformats.org/drawingml/2006/main">
              <a:ext uri="{FF2B5EF4-FFF2-40B4-BE49-F238E27FC236}">
                <a16:creationId xmlns:a16="http://schemas.microsoft.com/office/drawing/2014/main" id="{58EB5C69-EFE2-4CE5-A6F3-F961E3C0BBFA}"/>
              </a:ext>
            </a:extLst>
          </p:cNvPr>
          <p:cNvSpPr>
            <a:spLocks xmlns:a="http://schemas.openxmlformats.org/drawingml/2006/main" noGrp="1"/>
          </p:cNvSpPr>
          <p:nvPr/>
        </p:nvSpPr>
        <p:spPr>
          <a:xfrm xmlns:a="http://schemas.openxmlformats.org/drawingml/2006/main">
            <a:off x="6743700" y="4457700"/>
            <a:ext cx="4591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Builds the correct URL for the requested file.</a:t>
            </a:r>
          </a:p>
        </p:txBody>
      </p:sp>
    </p:spTree>
    <p:extLst>
      <p:ext uri="{BB962C8B-B14F-4D97-AF65-F5344CB8AC3E}">
        <p14:creationId xmlns:p14="http://schemas.microsoft.com/office/powerpoint/2010/main" val="17651933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6701CB-20F1-4717-A62F-8447AF6F543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EC8261-05DE-4843-B9B2-822BE8E30F4B}"/>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STATIC FILES</a:t>
            </a:r>
          </a:p>
        </p:txBody>
      </p:sp>
      <p:sp>
        <p:nvSpPr>
          <p:cNvPr id="3" name="">
            <a:extLst xmlns:a="http://schemas.openxmlformats.org/drawingml/2006/main">
              <a:ext uri="{FF2B5EF4-FFF2-40B4-BE49-F238E27FC236}">
                <a16:creationId xmlns:a16="http://schemas.microsoft.com/office/drawing/2014/main" id="{9C9B4219-DC13-4AEB-8158-41D3C0B107C9}"/>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A quick static-file demonstration</a:t>
            </a:r>
          </a:p>
        </p:txBody>
      </p:sp>
      <p:sp>
        <p:nvSpPr>
          <p:cNvPr id="4" name="">
            <a:extLst xmlns:a="http://schemas.openxmlformats.org/drawingml/2006/main">
              <a:ext uri="{FF2B5EF4-FFF2-40B4-BE49-F238E27FC236}">
                <a16:creationId xmlns:a16="http://schemas.microsoft.com/office/drawing/2014/main" id="{9E8E27EB-4DC2-4FFF-AF45-6FEC248B4D55}"/>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2EC84A-377D-43BC-A9B3-29AAFED846AA}"/>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F1ACD32F-C73F-4825-91CA-A1F8BCB28C54}"/>
              </a:ext>
            </a:extLst>
          </p:cNvPr>
          <p:cNvSpPr>
            <a:spLocks xmlns:a="http://schemas.openxmlformats.org/drawingml/2006/main" noGrp="1"/>
          </p:cNvSpPr>
          <p:nvPr/>
        </p:nvSpPr>
        <p:spPr>
          <a:xfrm xmlns:a="http://schemas.openxmlformats.org/drawingml/2006/main">
            <a:off x="666750" y="1571625"/>
            <a:ext cx="5334000" cy="3381375"/>
          </a:xfrm>
          <a:prstGeom xmlns:a="http://schemas.openxmlformats.org/drawingml/2006/main" prst="roundRect">
            <a:avLst>
              <a:gd name="adj" fmla="val 225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6A6EAE-B4E0-430E-9821-F182401FFF6C}"/>
              </a:ext>
            </a:extLst>
          </p:cNvPr>
          <p:cNvSpPr>
            <a:spLocks xmlns:a="http://schemas.openxmlformats.org/drawingml/2006/main" noGrp="1"/>
          </p:cNvSpPr>
          <p:nvPr/>
        </p:nvSpPr>
        <p:spPr>
          <a:xfrm xmlns:a="http://schemas.openxmlformats.org/drawingml/2006/main">
            <a:off x="876300" y="1685925"/>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students/static/students/css/style.css</a:t>
            </a:r>
          </a:p>
        </p:txBody>
      </p:sp>
      <p:sp>
        <p:nvSpPr>
          <p:cNvPr id="8" name="">
            <a:extLst xmlns:a="http://schemas.openxmlformats.org/drawingml/2006/main">
              <a:ext uri="{FF2B5EF4-FFF2-40B4-BE49-F238E27FC236}">
                <a16:creationId xmlns:a16="http://schemas.microsoft.com/office/drawing/2014/main" id="{2916CF97-7356-4A35-8678-6F08C063D6ED}"/>
              </a:ext>
            </a:extLst>
          </p:cNvPr>
          <p:cNvSpPr>
            <a:spLocks xmlns:a="http://schemas.openxmlformats.org/drawingml/2006/main" noGrp="1"/>
          </p:cNvSpPr>
          <p:nvPr/>
        </p:nvSpPr>
        <p:spPr>
          <a:xfrm xmlns:a="http://schemas.openxmlformats.org/drawingml/2006/main">
            <a:off x="876300" y="1971675"/>
            <a:ext cx="491490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body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font-family: Arial, sans-serif;</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background-color: #f4f7fb;</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h1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color: #001f5b;</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0FACFCCA-55A7-4072-B261-277FE9C90CBC}"/>
              </a:ext>
            </a:extLst>
          </p:cNvPr>
          <p:cNvSpPr>
            <a:spLocks xmlns:a="http://schemas.openxmlformats.org/drawingml/2006/main" noGrp="1"/>
          </p:cNvSpPr>
          <p:nvPr/>
        </p:nvSpPr>
        <p:spPr>
          <a:xfrm xmlns:a="http://schemas.openxmlformats.org/drawingml/2006/main">
            <a:off x="6477000" y="1571625"/>
            <a:ext cx="5048250" cy="3381375"/>
          </a:xfrm>
          <a:prstGeom xmlns:a="http://schemas.openxmlformats.org/drawingml/2006/main" prst="roundRect">
            <a:avLst>
              <a:gd name="adj" fmla="val 2254"/>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F113E286-4C08-4F9D-8918-80A6F8542519}"/>
              </a:ext>
            </a:extLst>
          </p:cNvPr>
          <p:cNvSpPr>
            <a:spLocks xmlns:a="http://schemas.openxmlformats.org/drawingml/2006/main" noGrp="1"/>
          </p:cNvSpPr>
          <p:nvPr/>
        </p:nvSpPr>
        <p:spPr>
          <a:xfrm xmlns:a="http://schemas.openxmlformats.org/drawingml/2006/main">
            <a:off x="6477000" y="1571625"/>
            <a:ext cx="76200" cy="3381375"/>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148C31-EF3A-49CD-A82E-0AA16FD66638}"/>
              </a:ext>
            </a:extLst>
          </p:cNvPr>
          <p:cNvSpPr>
            <a:spLocks xmlns:a="http://schemas.openxmlformats.org/drawingml/2006/main" noGrp="1"/>
          </p:cNvSpPr>
          <p:nvPr/>
        </p:nvSpPr>
        <p:spPr>
          <a:xfrm xmlns:a="http://schemas.openxmlformats.org/drawingml/2006/main">
            <a:off x="6743700" y="1743075"/>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Live classroom test</a:t>
            </a:r>
          </a:p>
        </p:txBody>
      </p:sp>
      <p:sp>
        <p:nvSpPr>
          <p:cNvPr id="12" name="">
            <a:extLst xmlns:a="http://schemas.openxmlformats.org/drawingml/2006/main">
              <a:ext uri="{FF2B5EF4-FFF2-40B4-BE49-F238E27FC236}">
                <a16:creationId xmlns:a16="http://schemas.microsoft.com/office/drawing/2014/main" id="{31040AD3-7E1A-4A43-B8CD-D4B3FB448936}"/>
              </a:ext>
            </a:extLst>
          </p:cNvPr>
          <p:cNvSpPr>
            <a:spLocks xmlns:a="http://schemas.openxmlformats.org/drawingml/2006/main" noGrp="1"/>
          </p:cNvSpPr>
          <p:nvPr/>
        </p:nvSpPr>
        <p:spPr>
          <a:xfrm xmlns:a="http://schemas.openxmlformats.org/drawingml/2006/main">
            <a:off x="6743700" y="2124075"/>
            <a:ext cx="4591050" cy="2676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1. Run the server.</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2. Open the homepage.</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3. Change the background colour.</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4. Refresh the browser.</a:t>
            </a:r>
          </a:p>
        </p:txBody>
      </p:sp>
      <p:sp>
        <p:nvSpPr>
          <p:cNvPr id="13" name="">
            <a:extLst xmlns:a="http://schemas.openxmlformats.org/drawingml/2006/main">
              <a:ext uri="{FF2B5EF4-FFF2-40B4-BE49-F238E27FC236}">
                <a16:creationId xmlns:a16="http://schemas.microsoft.com/office/drawing/2014/main" id="{2F0FD97D-16D0-49C4-B5C7-E3BA194510AB}"/>
              </a:ext>
            </a:extLst>
          </p:cNvPr>
          <p:cNvSpPr>
            <a:spLocks xmlns:a="http://schemas.openxmlformats.org/drawingml/2006/main" noGrp="1"/>
          </p:cNvSpPr>
          <p:nvPr/>
        </p:nvSpPr>
        <p:spPr>
          <a:xfrm xmlns:a="http://schemas.openxmlformats.org/drawingml/2006/main">
            <a:off x="3048000" y="5381625"/>
            <a:ext cx="6096000" cy="400050"/>
          </a:xfrm>
          <a:prstGeom xmlns:a="http://schemas.openxmlformats.org/drawingml/2006/main" prst="roundRect">
            <a:avLst>
              <a:gd name="adj" fmla="val 19048"/>
            </a:avLst>
          </a:prstGeom>
          <a:solidFill xmlns:a="http://schemas.openxmlformats.org/drawingml/2006/main">
            <a:srgbClr val="DDEF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7799AC-33E6-4F3F-94EC-256175063A5D}"/>
              </a:ext>
            </a:extLst>
          </p:cNvPr>
          <p:cNvSpPr>
            <a:spLocks xmlns:a="http://schemas.openxmlformats.org/drawingml/2006/main" noGrp="1"/>
          </p:cNvSpPr>
          <p:nvPr/>
        </p:nvSpPr>
        <p:spPr>
          <a:xfrm xmlns:a="http://schemas.openxmlformats.org/drawingml/2006/main">
            <a:off x="3162300" y="5419725"/>
            <a:ext cx="5867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82A4A"/>
                </a:solidFill>
                <a:latin typeface="DejaVu Sans"/>
                <a:ea typeface="DejaVu Sans"/>
                <a:cs typeface="DejaVu Sans"/>
              </a:defRPr>
            </a:pPr>
            <a:r>
              <a:rPr sz="1200" b="1">
                <a:solidFill>
                  <a:srgbClr val="082A4A"/>
                </a:solidFill>
                <a:latin typeface="DejaVu Sans"/>
                <a:ea typeface="DejaVu Sans"/>
                <a:cs typeface="DejaVu Sans"/>
              </a:rPr>
              <a:t>HTML gives content. CSS gives appearance.</a:t>
            </a:r>
          </a:p>
        </p:txBody>
      </p:sp>
    </p:spTree>
    <p:extLst>
      <p:ext uri="{BB962C8B-B14F-4D97-AF65-F5344CB8AC3E}">
        <p14:creationId xmlns:p14="http://schemas.microsoft.com/office/powerpoint/2010/main" val="882322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870DAA-B704-457B-AD70-D7A0DA1B2E2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642F39-40A4-4DE3-950B-1B9FEC0D9A16}"/>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MEDIA FILES</a:t>
            </a:r>
          </a:p>
        </p:txBody>
      </p:sp>
      <p:sp>
        <p:nvSpPr>
          <p:cNvPr id="3" name="">
            <a:extLst xmlns:a="http://schemas.openxmlformats.org/drawingml/2006/main">
              <a:ext uri="{FF2B5EF4-FFF2-40B4-BE49-F238E27FC236}">
                <a16:creationId xmlns:a16="http://schemas.microsoft.com/office/drawing/2014/main" id="{549E83AD-1216-4653-999D-7DE2B585A08F}"/>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Media files come from users</a:t>
            </a:r>
          </a:p>
        </p:txBody>
      </p:sp>
      <p:sp>
        <p:nvSpPr>
          <p:cNvPr id="4" name="">
            <a:extLst xmlns:a="http://schemas.openxmlformats.org/drawingml/2006/main">
              <a:ext uri="{FF2B5EF4-FFF2-40B4-BE49-F238E27FC236}">
                <a16:creationId xmlns:a16="http://schemas.microsoft.com/office/drawing/2014/main" id="{2EE3D99D-0059-44E5-B9EC-9C15308771B7}"/>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0052AC-2429-4980-98A0-48623A1FC821}"/>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19804F0A-D9CE-45CA-A91B-65861AE3B386}"/>
              </a:ext>
            </a:extLst>
          </p:cNvPr>
          <p:cNvSpPr>
            <a:spLocks xmlns:a="http://schemas.openxmlformats.org/drawingml/2006/main" noGrp="1"/>
          </p:cNvSpPr>
          <p:nvPr/>
        </p:nvSpPr>
        <p:spPr>
          <a:xfrm xmlns:a="http://schemas.openxmlformats.org/drawingml/2006/main">
            <a:off x="762000" y="1714500"/>
            <a:ext cx="4762500" cy="3048000"/>
          </a:xfrm>
          <a:prstGeom xmlns:a="http://schemas.openxmlformats.org/drawingml/2006/main" prst="roundRect">
            <a:avLst>
              <a:gd name="adj" fmla="val 2500"/>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46CA75C1-551F-4E74-A2C3-F5D7F455E67E}"/>
              </a:ext>
            </a:extLst>
          </p:cNvPr>
          <p:cNvSpPr>
            <a:spLocks xmlns:a="http://schemas.openxmlformats.org/drawingml/2006/main" noGrp="1"/>
          </p:cNvSpPr>
          <p:nvPr/>
        </p:nvSpPr>
        <p:spPr>
          <a:xfrm xmlns:a="http://schemas.openxmlformats.org/drawingml/2006/main">
            <a:off x="762000" y="1714500"/>
            <a:ext cx="76200" cy="304800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92E660-5D1C-4817-A76E-8DBEB5601F21}"/>
              </a:ext>
            </a:extLst>
          </p:cNvPr>
          <p:cNvSpPr>
            <a:spLocks xmlns:a="http://schemas.openxmlformats.org/drawingml/2006/main" noGrp="1"/>
          </p:cNvSpPr>
          <p:nvPr/>
        </p:nvSpPr>
        <p:spPr>
          <a:xfrm xmlns:a="http://schemas.openxmlformats.org/drawingml/2006/main">
            <a:off x="1028700" y="188595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Examples</a:t>
            </a:r>
          </a:p>
        </p:txBody>
      </p:sp>
      <p:sp>
        <p:nvSpPr>
          <p:cNvPr id="9" name="">
            <a:extLst xmlns:a="http://schemas.openxmlformats.org/drawingml/2006/main">
              <a:ext uri="{FF2B5EF4-FFF2-40B4-BE49-F238E27FC236}">
                <a16:creationId xmlns:a16="http://schemas.microsoft.com/office/drawing/2014/main" id="{BD74856C-5C1B-4393-BD4C-64FF22A1E94E}"/>
              </a:ext>
            </a:extLst>
          </p:cNvPr>
          <p:cNvSpPr>
            <a:spLocks xmlns:a="http://schemas.openxmlformats.org/drawingml/2006/main" noGrp="1"/>
          </p:cNvSpPr>
          <p:nvPr/>
        </p:nvSpPr>
        <p:spPr>
          <a:xfrm xmlns:a="http://schemas.openxmlformats.org/drawingml/2006/main">
            <a:off x="1028700" y="2266950"/>
            <a:ext cx="43053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Profile pictures</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CV documents</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Receipts</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Product photographs</a:t>
            </a:r>
          </a:p>
        </p:txBody>
      </p:sp>
      <p:sp>
        <p:nvSpPr>
          <p:cNvPr id="10" name="">
            <a:extLst xmlns:a="http://schemas.openxmlformats.org/drawingml/2006/main">
              <a:ext uri="{FF2B5EF4-FFF2-40B4-BE49-F238E27FC236}">
                <a16:creationId xmlns:a16="http://schemas.microsoft.com/office/drawing/2014/main" id="{C48A9A8B-A5EF-46C2-9F4B-BD9569F16E7A}"/>
              </a:ext>
            </a:extLst>
          </p:cNvPr>
          <p:cNvSpPr>
            <a:spLocks xmlns:a="http://schemas.openxmlformats.org/drawingml/2006/main" noGrp="1"/>
          </p:cNvSpPr>
          <p:nvPr/>
        </p:nvSpPr>
        <p:spPr>
          <a:xfrm xmlns:a="http://schemas.openxmlformats.org/drawingml/2006/main">
            <a:off x="6477000" y="1714500"/>
            <a:ext cx="4953000" cy="3048000"/>
          </a:xfrm>
          <a:prstGeom xmlns:a="http://schemas.openxmlformats.org/drawingml/2006/main" prst="roundRect">
            <a:avLst>
              <a:gd name="adj" fmla="val 2500"/>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7A7DB98B-3630-4996-B50B-B1B5DF99BA3E}"/>
              </a:ext>
            </a:extLst>
          </p:cNvPr>
          <p:cNvSpPr>
            <a:spLocks xmlns:a="http://schemas.openxmlformats.org/drawingml/2006/main" noGrp="1"/>
          </p:cNvSpPr>
          <p:nvPr/>
        </p:nvSpPr>
        <p:spPr>
          <a:xfrm xmlns:a="http://schemas.openxmlformats.org/drawingml/2006/main">
            <a:off x="6477000" y="1714500"/>
            <a:ext cx="76200" cy="304800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C2B21D-BD53-4BB0-8D83-C99744F97429}"/>
              </a:ext>
            </a:extLst>
          </p:cNvPr>
          <p:cNvSpPr>
            <a:spLocks xmlns:a="http://schemas.openxmlformats.org/drawingml/2006/main" noGrp="1"/>
          </p:cNvSpPr>
          <p:nvPr/>
        </p:nvSpPr>
        <p:spPr>
          <a:xfrm xmlns:a="http://schemas.openxmlformats.org/drawingml/2006/main">
            <a:off x="6743700" y="1885950"/>
            <a:ext cx="449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Where they come from</a:t>
            </a:r>
          </a:p>
        </p:txBody>
      </p:sp>
      <p:sp>
        <p:nvSpPr>
          <p:cNvPr id="13" name="">
            <a:extLst xmlns:a="http://schemas.openxmlformats.org/drawingml/2006/main">
              <a:ext uri="{FF2B5EF4-FFF2-40B4-BE49-F238E27FC236}">
                <a16:creationId xmlns:a16="http://schemas.microsoft.com/office/drawing/2014/main" id="{5FBE49C9-5F2A-49CC-BB41-4C130F20153B}"/>
              </a:ext>
            </a:extLst>
          </p:cNvPr>
          <p:cNvSpPr>
            <a:spLocks xmlns:a="http://schemas.openxmlformats.org/drawingml/2006/main" noGrp="1"/>
          </p:cNvSpPr>
          <p:nvPr/>
        </p:nvSpPr>
        <p:spPr>
          <a:xfrm xmlns:a="http://schemas.openxmlformats.org/drawingml/2006/main">
            <a:off x="6743700" y="2266950"/>
            <a:ext cx="44958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 user uploads them while the application is running. Django stores the file and remembers its path.</a:t>
            </a:r>
          </a:p>
        </p:txBody>
      </p:sp>
      <p:sp>
        <p:nvSpPr>
          <p:cNvPr id="14" name="">
            <a:extLst xmlns:a="http://schemas.openxmlformats.org/drawingml/2006/main">
              <a:ext uri="{FF2B5EF4-FFF2-40B4-BE49-F238E27FC236}">
                <a16:creationId xmlns:a16="http://schemas.microsoft.com/office/drawing/2014/main" id="{1D03038D-B587-4C00-A3A5-C427CD80025D}"/>
              </a:ext>
            </a:extLst>
          </p:cNvPr>
          <p:cNvSpPr>
            <a:spLocks xmlns:a="http://schemas.openxmlformats.org/drawingml/2006/main" noGrp="1"/>
          </p:cNvSpPr>
          <p:nvPr/>
        </p:nvSpPr>
        <p:spPr>
          <a:xfrm xmlns:a="http://schemas.openxmlformats.org/drawingml/2006/main">
            <a:off x="1143000" y="52863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A4A"/>
                </a:solidFill>
                <a:latin typeface="DejaVu Sans"/>
                <a:ea typeface="DejaVu Sans"/>
                <a:cs typeface="DejaVu Sans"/>
              </a:defRPr>
            </a:pPr>
            <a:r>
              <a:rPr sz="1500" b="1">
                <a:solidFill>
                  <a:srgbClr val="082A4A"/>
                </a:solidFill>
                <a:latin typeface="DejaVu Sans"/>
                <a:ea typeface="DejaVu Sans"/>
                <a:cs typeface="DejaVu Sans"/>
              </a:rPr>
              <a:t>Student uploads ada.jpg</a:t>
            </a:r>
          </a:p>
        </p:txBody>
      </p:sp>
      <p:sp>
        <p:nvSpPr>
          <p:cNvPr id="15" name="">
            <a:extLst xmlns:a="http://schemas.openxmlformats.org/drawingml/2006/main">
              <a:ext uri="{FF2B5EF4-FFF2-40B4-BE49-F238E27FC236}">
                <a16:creationId xmlns:a16="http://schemas.microsoft.com/office/drawing/2014/main" id="{689EE22A-45F4-447A-AAC7-398C14138E2A}"/>
              </a:ext>
            </a:extLst>
          </p:cNvPr>
          <p:cNvSpPr>
            <a:spLocks xmlns:a="http://schemas.openxmlformats.org/drawingml/2006/main" noGrp="1"/>
          </p:cNvSpPr>
          <p:nvPr/>
        </p:nvSpPr>
        <p:spPr>
          <a:xfrm xmlns:a="http://schemas.openxmlformats.org/drawingml/2006/main">
            <a:off x="4476750" y="52863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5805B"/>
                </a:solidFill>
                <a:latin typeface="DejaVu Sans Mono"/>
                <a:ea typeface="DejaVu Sans Mono"/>
                <a:cs typeface="DejaVu Sans Mono"/>
              </a:defRPr>
            </a:pPr>
            <a:r>
              <a:rPr sz="1500" b="1">
                <a:solidFill>
                  <a:srgbClr val="15805B"/>
                </a:solidFill>
                <a:latin typeface="DejaVu Sans Mono"/>
                <a:ea typeface="DejaVu Sans Mono"/>
                <a:cs typeface="DejaVu Sans Mono"/>
              </a:rPr>
              <a:t>media/student_profiles/ada.jpg</a:t>
            </a:r>
          </a:p>
        </p:txBody>
      </p:sp>
    </p:spTree>
    <p:extLst>
      <p:ext uri="{BB962C8B-B14F-4D97-AF65-F5344CB8AC3E}">
        <p14:creationId xmlns:p14="http://schemas.microsoft.com/office/powerpoint/2010/main" val="16504284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48F0F82-F1D5-4690-85D0-880D3585DAD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308B30-82CC-49A4-BF49-BDC352161423}"/>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MEDIA FILES</a:t>
            </a:r>
          </a:p>
        </p:txBody>
      </p:sp>
      <p:sp>
        <p:nvSpPr>
          <p:cNvPr id="3" name="">
            <a:extLst xmlns:a="http://schemas.openxmlformats.org/drawingml/2006/main">
              <a:ext uri="{FF2B5EF4-FFF2-40B4-BE49-F238E27FC236}">
                <a16:creationId xmlns:a16="http://schemas.microsoft.com/office/drawing/2014/main" id="{084499C1-5445-4027-A16F-E52D808E94EA}"/>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Configure media storage in development</a:t>
            </a:r>
          </a:p>
        </p:txBody>
      </p:sp>
      <p:sp>
        <p:nvSpPr>
          <p:cNvPr id="4" name="">
            <a:extLst xmlns:a="http://schemas.openxmlformats.org/drawingml/2006/main">
              <a:ext uri="{FF2B5EF4-FFF2-40B4-BE49-F238E27FC236}">
                <a16:creationId xmlns:a16="http://schemas.microsoft.com/office/drawing/2014/main" id="{901A67B6-2241-4A6A-B4CB-B26162BEF367}"/>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A9B02C-4A04-4E66-8C3C-3327027A62E3}"/>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61B0A700-CA66-404C-9627-853F501FF8A1}"/>
              </a:ext>
            </a:extLst>
          </p:cNvPr>
          <p:cNvSpPr>
            <a:spLocks xmlns:a="http://schemas.openxmlformats.org/drawingml/2006/main" noGrp="1"/>
          </p:cNvSpPr>
          <p:nvPr/>
        </p:nvSpPr>
        <p:spPr>
          <a:xfrm xmlns:a="http://schemas.openxmlformats.org/drawingml/2006/main">
            <a:off x="666750" y="1619250"/>
            <a:ext cx="4953000" cy="1333500"/>
          </a:xfrm>
          <a:prstGeom xmlns:a="http://schemas.openxmlformats.org/drawingml/2006/main" prst="roundRect">
            <a:avLst>
              <a:gd name="adj" fmla="val 571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7E5FC6-0F82-4D29-86A6-D0205B4DACB7}"/>
              </a:ext>
            </a:extLst>
          </p:cNvPr>
          <p:cNvSpPr>
            <a:spLocks xmlns:a="http://schemas.openxmlformats.org/drawingml/2006/main" noGrp="1"/>
          </p:cNvSpPr>
          <p:nvPr/>
        </p:nvSpPr>
        <p:spPr>
          <a:xfrm xmlns:a="http://schemas.openxmlformats.org/drawingml/2006/main">
            <a:off x="876300" y="1733550"/>
            <a:ext cx="453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a:t>
            </a:r>
          </a:p>
        </p:txBody>
      </p:sp>
      <p:sp>
        <p:nvSpPr>
          <p:cNvPr id="8" name="">
            <a:extLst xmlns:a="http://schemas.openxmlformats.org/drawingml/2006/main">
              <a:ext uri="{FF2B5EF4-FFF2-40B4-BE49-F238E27FC236}">
                <a16:creationId xmlns:a16="http://schemas.microsoft.com/office/drawing/2014/main" id="{7CA52CA5-0C07-48D2-A6A0-C808CF2A8B90}"/>
              </a:ext>
            </a:extLst>
          </p:cNvPr>
          <p:cNvSpPr>
            <a:spLocks xmlns:a="http://schemas.openxmlformats.org/drawingml/2006/main" noGrp="1"/>
          </p:cNvSpPr>
          <p:nvPr/>
        </p:nvSpPr>
        <p:spPr>
          <a:xfrm xmlns:a="http://schemas.openxmlformats.org/drawingml/2006/main">
            <a:off x="876300" y="2019300"/>
            <a:ext cx="4533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MEDIA_URL = "media/"</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MEDIA_ROOT = BASE_DIR / "media"</a:t>
            </a:r>
          </a:p>
        </p:txBody>
      </p:sp>
      <p:sp>
        <p:nvSpPr>
          <p:cNvPr id="9" name="">
            <a:extLst xmlns:a="http://schemas.openxmlformats.org/drawingml/2006/main">
              <a:ext uri="{FF2B5EF4-FFF2-40B4-BE49-F238E27FC236}">
                <a16:creationId xmlns:a16="http://schemas.microsoft.com/office/drawing/2014/main" id="{7170DA3D-7624-476B-A3FA-C9A6D4C3E158}"/>
              </a:ext>
            </a:extLst>
          </p:cNvPr>
          <p:cNvSpPr>
            <a:spLocks xmlns:a="http://schemas.openxmlformats.org/drawingml/2006/main" noGrp="1"/>
          </p:cNvSpPr>
          <p:nvPr/>
        </p:nvSpPr>
        <p:spPr>
          <a:xfrm xmlns:a="http://schemas.openxmlformats.org/drawingml/2006/main">
            <a:off x="6191250" y="1619250"/>
            <a:ext cx="5334000" cy="2238375"/>
          </a:xfrm>
          <a:prstGeom xmlns:a="http://schemas.openxmlformats.org/drawingml/2006/main" prst="roundRect">
            <a:avLst>
              <a:gd name="adj" fmla="val 3404"/>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EFF6921-8240-412A-97F6-A3E88B2EACA6}"/>
              </a:ext>
            </a:extLst>
          </p:cNvPr>
          <p:cNvSpPr>
            <a:spLocks xmlns:a="http://schemas.openxmlformats.org/drawingml/2006/main" noGrp="1"/>
          </p:cNvSpPr>
          <p:nvPr/>
        </p:nvSpPr>
        <p:spPr>
          <a:xfrm xmlns:a="http://schemas.openxmlformats.org/drawingml/2006/main">
            <a:off x="6400800" y="17335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config/urls.py</a:t>
            </a:r>
          </a:p>
        </p:txBody>
      </p:sp>
      <p:sp>
        <p:nvSpPr>
          <p:cNvPr id="11" name="">
            <a:extLst xmlns:a="http://schemas.openxmlformats.org/drawingml/2006/main">
              <a:ext uri="{FF2B5EF4-FFF2-40B4-BE49-F238E27FC236}">
                <a16:creationId xmlns:a16="http://schemas.microsoft.com/office/drawing/2014/main" id="{7103D793-FAEC-4658-95FE-08CCC720C3A5}"/>
              </a:ext>
            </a:extLst>
          </p:cNvPr>
          <p:cNvSpPr>
            <a:spLocks xmlns:a="http://schemas.openxmlformats.org/drawingml/2006/main" noGrp="1"/>
          </p:cNvSpPr>
          <p:nvPr/>
        </p:nvSpPr>
        <p:spPr>
          <a:xfrm xmlns:a="http://schemas.openxmlformats.org/drawingml/2006/main">
            <a:off x="6400800" y="2019300"/>
            <a:ext cx="49149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if settings.DEBUG:</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urlpatterns += static(</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settings.MEDIA_URL,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document_root=settings.MEDIA_ROOT,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t>
            </a:r>
          </a:p>
        </p:txBody>
      </p:sp>
      <p:sp>
        <p:nvSpPr>
          <p:cNvPr id="12" name="">
            <a:extLst xmlns:a="http://schemas.openxmlformats.org/drawingml/2006/main">
              <a:ext uri="{FF2B5EF4-FFF2-40B4-BE49-F238E27FC236}">
                <a16:creationId xmlns:a16="http://schemas.microsoft.com/office/drawing/2014/main" id="{771DCAA7-4F03-464D-A194-D00ACA05DA98}"/>
              </a:ext>
            </a:extLst>
          </p:cNvPr>
          <p:cNvSpPr>
            <a:spLocks xmlns:a="http://schemas.openxmlformats.org/drawingml/2006/main" noGrp="1"/>
          </p:cNvSpPr>
          <p:nvPr/>
        </p:nvSpPr>
        <p:spPr>
          <a:xfrm xmlns:a="http://schemas.openxmlformats.org/drawingml/2006/main">
            <a:off x="666750" y="4286250"/>
            <a:ext cx="4953000" cy="1238250"/>
          </a:xfrm>
          <a:prstGeom xmlns:a="http://schemas.openxmlformats.org/drawingml/2006/main" prst="roundRect">
            <a:avLst>
              <a:gd name="adj" fmla="val 6154"/>
            </a:avLst>
          </a:prstGeom>
          <a:solidFill xmlns:a="http://schemas.openxmlformats.org/drawingml/2006/main">
            <a:srgbClr val="F4F8FB"/>
          </a:solidFill>
          <a:ln xmlns:a="http://schemas.openxmlformats.org/drawingml/2006/main" w="9525">
            <a:solidFill>
              <a:srgbClr val="C9D8E5"/>
            </a:solidFill>
          </a:ln>
        </p:spPr>
      </p:sp>
      <p:sp>
        <p:nvSpPr>
          <p:cNvPr id="13" name="">
            <a:extLst xmlns:a="http://schemas.openxmlformats.org/drawingml/2006/main">
              <a:ext uri="{FF2B5EF4-FFF2-40B4-BE49-F238E27FC236}">
                <a16:creationId xmlns:a16="http://schemas.microsoft.com/office/drawing/2014/main" id="{010C8B6F-FF85-4062-AD8C-2A5128836529}"/>
              </a:ext>
            </a:extLst>
          </p:cNvPr>
          <p:cNvSpPr>
            <a:spLocks xmlns:a="http://schemas.openxmlformats.org/drawingml/2006/main" noGrp="1"/>
          </p:cNvSpPr>
          <p:nvPr/>
        </p:nvSpPr>
        <p:spPr>
          <a:xfrm xmlns:a="http://schemas.openxmlformats.org/drawingml/2006/main">
            <a:off x="666750" y="4286250"/>
            <a:ext cx="76200" cy="12382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9174C8-1B8B-4EA1-8948-45A528043534}"/>
              </a:ext>
            </a:extLst>
          </p:cNvPr>
          <p:cNvSpPr>
            <a:spLocks xmlns:a="http://schemas.openxmlformats.org/drawingml/2006/main" noGrp="1"/>
          </p:cNvSpPr>
          <p:nvPr/>
        </p:nvSpPr>
        <p:spPr>
          <a:xfrm xmlns:a="http://schemas.openxmlformats.org/drawingml/2006/main">
            <a:off x="933450" y="4457700"/>
            <a:ext cx="449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MEDIA_ROOT</a:t>
            </a:r>
          </a:p>
        </p:txBody>
      </p:sp>
      <p:sp>
        <p:nvSpPr>
          <p:cNvPr id="15" name="">
            <a:extLst xmlns:a="http://schemas.openxmlformats.org/drawingml/2006/main">
              <a:ext uri="{FF2B5EF4-FFF2-40B4-BE49-F238E27FC236}">
                <a16:creationId xmlns:a16="http://schemas.microsoft.com/office/drawing/2014/main" id="{7D26334A-7B4E-4C56-8D33-30937A61BD58}"/>
              </a:ext>
            </a:extLst>
          </p:cNvPr>
          <p:cNvSpPr>
            <a:spLocks xmlns:a="http://schemas.openxmlformats.org/drawingml/2006/main" noGrp="1"/>
          </p:cNvSpPr>
          <p:nvPr/>
        </p:nvSpPr>
        <p:spPr>
          <a:xfrm xmlns:a="http://schemas.openxmlformats.org/drawingml/2006/main">
            <a:off x="933450" y="4838700"/>
            <a:ext cx="449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physical folder where uploaded files are saved.</a:t>
            </a:r>
          </a:p>
        </p:txBody>
      </p:sp>
      <p:sp>
        <p:nvSpPr>
          <p:cNvPr id="16" name="">
            <a:extLst xmlns:a="http://schemas.openxmlformats.org/drawingml/2006/main">
              <a:ext uri="{FF2B5EF4-FFF2-40B4-BE49-F238E27FC236}">
                <a16:creationId xmlns:a16="http://schemas.microsoft.com/office/drawing/2014/main" id="{E7EB68D0-6747-4303-B08E-BE5DB9375F36}"/>
              </a:ext>
            </a:extLst>
          </p:cNvPr>
          <p:cNvSpPr>
            <a:spLocks xmlns:a="http://schemas.openxmlformats.org/drawingml/2006/main" noGrp="1"/>
          </p:cNvSpPr>
          <p:nvPr/>
        </p:nvSpPr>
        <p:spPr>
          <a:xfrm xmlns:a="http://schemas.openxmlformats.org/drawingml/2006/main">
            <a:off x="6191250" y="4286250"/>
            <a:ext cx="5334000" cy="1238250"/>
          </a:xfrm>
          <a:prstGeom xmlns:a="http://schemas.openxmlformats.org/drawingml/2006/main" prst="roundRect">
            <a:avLst>
              <a:gd name="adj" fmla="val 6154"/>
            </a:avLst>
          </a:prstGeom>
          <a:solidFill xmlns:a="http://schemas.openxmlformats.org/drawingml/2006/main">
            <a:srgbClr val="F4F8FB"/>
          </a:solidFill>
          <a:ln xmlns:a="http://schemas.openxmlformats.org/drawingml/2006/main" w="9525">
            <a:solidFill>
              <a:srgbClr val="C9D8E5"/>
            </a:solidFill>
          </a:ln>
        </p:spPr>
      </p:sp>
      <p:sp>
        <p:nvSpPr>
          <p:cNvPr id="17" name="">
            <a:extLst xmlns:a="http://schemas.openxmlformats.org/drawingml/2006/main">
              <a:ext uri="{FF2B5EF4-FFF2-40B4-BE49-F238E27FC236}">
                <a16:creationId xmlns:a16="http://schemas.microsoft.com/office/drawing/2014/main" id="{16637C87-A25C-4688-9844-6BEFEC53B3C0}"/>
              </a:ext>
            </a:extLst>
          </p:cNvPr>
          <p:cNvSpPr>
            <a:spLocks xmlns:a="http://schemas.openxmlformats.org/drawingml/2006/main" noGrp="1"/>
          </p:cNvSpPr>
          <p:nvPr/>
        </p:nvSpPr>
        <p:spPr>
          <a:xfrm xmlns:a="http://schemas.openxmlformats.org/drawingml/2006/main">
            <a:off x="6191250" y="4286250"/>
            <a:ext cx="76200" cy="12382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193708-BEBD-4DD5-8239-ABA02F82B75D}"/>
              </a:ext>
            </a:extLst>
          </p:cNvPr>
          <p:cNvSpPr>
            <a:spLocks xmlns:a="http://schemas.openxmlformats.org/drawingml/2006/main" noGrp="1"/>
          </p:cNvSpPr>
          <p:nvPr/>
        </p:nvSpPr>
        <p:spPr>
          <a:xfrm xmlns:a="http://schemas.openxmlformats.org/drawingml/2006/main">
            <a:off x="6457950" y="4457700"/>
            <a:ext cx="487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MEDIA_URL</a:t>
            </a:r>
          </a:p>
        </p:txBody>
      </p:sp>
      <p:sp>
        <p:nvSpPr>
          <p:cNvPr id="19" name="">
            <a:extLst xmlns:a="http://schemas.openxmlformats.org/drawingml/2006/main">
              <a:ext uri="{FF2B5EF4-FFF2-40B4-BE49-F238E27FC236}">
                <a16:creationId xmlns:a16="http://schemas.microsoft.com/office/drawing/2014/main" id="{BB6E244E-3646-4E39-A28E-CC76FE316399}"/>
              </a:ext>
            </a:extLst>
          </p:cNvPr>
          <p:cNvSpPr>
            <a:spLocks xmlns:a="http://schemas.openxmlformats.org/drawingml/2006/main" noGrp="1"/>
          </p:cNvSpPr>
          <p:nvPr/>
        </p:nvSpPr>
        <p:spPr>
          <a:xfrm xmlns:a="http://schemas.openxmlformats.org/drawingml/2006/main">
            <a:off x="6457950" y="4838700"/>
            <a:ext cx="4876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browser URL used to request uploaded files.</a:t>
            </a:r>
          </a:p>
        </p:txBody>
      </p:sp>
    </p:spTree>
    <p:extLst>
      <p:ext uri="{BB962C8B-B14F-4D97-AF65-F5344CB8AC3E}">
        <p14:creationId xmlns:p14="http://schemas.microsoft.com/office/powerpoint/2010/main" val="10476804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44AC82-F4FC-42C0-B83E-C50F4E51CA6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8A149D-173A-4FF8-8D0A-B2FB9F3924BC}"/>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COMPARISON</a:t>
            </a:r>
          </a:p>
        </p:txBody>
      </p:sp>
      <p:sp>
        <p:nvSpPr>
          <p:cNvPr id="3" name="">
            <a:extLst xmlns:a="http://schemas.openxmlformats.org/drawingml/2006/main">
              <a:ext uri="{FF2B5EF4-FFF2-40B4-BE49-F238E27FC236}">
                <a16:creationId xmlns:a16="http://schemas.microsoft.com/office/drawing/2014/main" id="{6DE8B322-2E40-4EA7-BEB8-3D23979DEB76}"/>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Static and media solve different problems</a:t>
            </a:r>
          </a:p>
        </p:txBody>
      </p:sp>
      <p:sp>
        <p:nvSpPr>
          <p:cNvPr id="4" name="">
            <a:extLst xmlns:a="http://schemas.openxmlformats.org/drawingml/2006/main">
              <a:ext uri="{FF2B5EF4-FFF2-40B4-BE49-F238E27FC236}">
                <a16:creationId xmlns:a16="http://schemas.microsoft.com/office/drawing/2014/main" id="{B0540EBD-5E0E-418F-9C7D-E08673A76E3A}"/>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852DDF-D920-48B9-B2DD-1BA5B527088E}"/>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03084668-F5E6-474E-88B3-3CF0309FC917}"/>
              </a:ext>
            </a:extLst>
          </p:cNvPr>
          <p:cNvSpPr>
            <a:spLocks xmlns:a="http://schemas.openxmlformats.org/drawingml/2006/main" noGrp="1"/>
          </p:cNvSpPr>
          <p:nvPr/>
        </p:nvSpPr>
        <p:spPr>
          <a:xfrm xmlns:a="http://schemas.openxmlformats.org/drawingml/2006/main">
            <a:off x="762000" y="1619250"/>
            <a:ext cx="10668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97854222-832B-454E-94EE-54E3D37B92D0}"/>
              </a:ext>
            </a:extLst>
          </p:cNvPr>
          <p:cNvSpPr>
            <a:spLocks xmlns:a="http://schemas.openxmlformats.org/drawingml/2006/main" noGrp="1"/>
          </p:cNvSpPr>
          <p:nvPr/>
        </p:nvSpPr>
        <p:spPr>
          <a:xfrm xmlns:a="http://schemas.openxmlformats.org/drawingml/2006/main">
            <a:off x="762000" y="1619250"/>
            <a:ext cx="10668000" cy="666750"/>
          </a:xfrm>
          <a:prstGeom xmlns:a="http://schemas.openxmlformats.org/drawingml/2006/main" prst="roundRect">
            <a:avLst>
              <a:gd name="adj" fmla="val 11429"/>
            </a:avLst>
          </a:prstGeom>
          <a:solidFill xmlns:a="http://schemas.openxmlformats.org/drawingml/2006/main">
            <a:srgbClr val="082A4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484317-0D03-49A4-B987-650A6DCA8083}"/>
              </a:ext>
            </a:extLst>
          </p:cNvPr>
          <p:cNvSpPr>
            <a:spLocks xmlns:a="http://schemas.openxmlformats.org/drawingml/2006/main" noGrp="1"/>
          </p:cNvSpPr>
          <p:nvPr/>
        </p:nvSpPr>
        <p:spPr>
          <a:xfrm xmlns:a="http://schemas.openxmlformats.org/drawingml/2006/main">
            <a:off x="1000125" y="17430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Question</a:t>
            </a:r>
          </a:p>
        </p:txBody>
      </p:sp>
      <p:sp>
        <p:nvSpPr>
          <p:cNvPr id="9" name="">
            <a:extLst xmlns:a="http://schemas.openxmlformats.org/drawingml/2006/main">
              <a:ext uri="{FF2B5EF4-FFF2-40B4-BE49-F238E27FC236}">
                <a16:creationId xmlns:a16="http://schemas.microsoft.com/office/drawing/2014/main" id="{3DEE511F-8B46-4A82-95EF-9264F2FF7E0C}"/>
              </a:ext>
            </a:extLst>
          </p:cNvPr>
          <p:cNvSpPr>
            <a:spLocks xmlns:a="http://schemas.openxmlformats.org/drawingml/2006/main" noGrp="1"/>
          </p:cNvSpPr>
          <p:nvPr/>
        </p:nvSpPr>
        <p:spPr>
          <a:xfrm xmlns:a="http://schemas.openxmlformats.org/drawingml/2006/main">
            <a:off x="4476750" y="17430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Static</a:t>
            </a:r>
          </a:p>
        </p:txBody>
      </p:sp>
      <p:sp>
        <p:nvSpPr>
          <p:cNvPr id="10" name="">
            <a:extLst xmlns:a="http://schemas.openxmlformats.org/drawingml/2006/main">
              <a:ext uri="{FF2B5EF4-FFF2-40B4-BE49-F238E27FC236}">
                <a16:creationId xmlns:a16="http://schemas.microsoft.com/office/drawing/2014/main" id="{E02EDF4F-1D3E-4837-B7C8-EF7ABD98D4BB}"/>
              </a:ext>
            </a:extLst>
          </p:cNvPr>
          <p:cNvSpPr>
            <a:spLocks xmlns:a="http://schemas.openxmlformats.org/drawingml/2006/main" noGrp="1"/>
          </p:cNvSpPr>
          <p:nvPr/>
        </p:nvSpPr>
        <p:spPr>
          <a:xfrm xmlns:a="http://schemas.openxmlformats.org/drawingml/2006/main">
            <a:off x="8096250" y="17430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Media</a:t>
            </a:r>
          </a:p>
        </p:txBody>
      </p:sp>
      <p:sp>
        <p:nvSpPr>
          <p:cNvPr id="11" name="">
            <a:extLst xmlns:a="http://schemas.openxmlformats.org/drawingml/2006/main">
              <a:ext uri="{FF2B5EF4-FFF2-40B4-BE49-F238E27FC236}">
                <a16:creationId xmlns:a16="http://schemas.microsoft.com/office/drawing/2014/main" id="{E4F3D66D-05B2-4D73-A0ED-D8304401921B}"/>
              </a:ext>
            </a:extLst>
          </p:cNvPr>
          <p:cNvSpPr>
            <a:spLocks xmlns:a="http://schemas.openxmlformats.org/drawingml/2006/main" noGrp="1"/>
          </p:cNvSpPr>
          <p:nvPr/>
        </p:nvSpPr>
        <p:spPr>
          <a:xfrm xmlns:a="http://schemas.openxmlformats.org/drawingml/2006/main">
            <a:off x="771525" y="2286000"/>
            <a:ext cx="10648950" cy="762000"/>
          </a:xfrm>
          <a:prstGeom xmlns:a="http://schemas.openxmlformats.org/drawingml/2006/main" prst="rect">
            <a:avLst/>
          </a:prstGeom>
          <a:solidFill xmlns:a="http://schemas.openxmlformats.org/drawingml/2006/main">
            <a:srgbClr val="F4F8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AB82AC-247A-4EEC-866D-9FE6B86B717E}"/>
              </a:ext>
            </a:extLst>
          </p:cNvPr>
          <p:cNvSpPr>
            <a:spLocks xmlns:a="http://schemas.openxmlformats.org/drawingml/2006/main" noGrp="1"/>
          </p:cNvSpPr>
          <p:nvPr/>
        </p:nvSpPr>
        <p:spPr>
          <a:xfrm xmlns:a="http://schemas.openxmlformats.org/drawingml/2006/main">
            <a:off x="1000125" y="2381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82A4A"/>
                </a:solidFill>
                <a:latin typeface="DejaVu Sans"/>
                <a:ea typeface="DejaVu Sans"/>
                <a:cs typeface="DejaVu Sans"/>
              </a:defRPr>
            </a:pPr>
            <a:r>
              <a:rPr sz="1350" b="1">
                <a:solidFill>
                  <a:srgbClr val="082A4A"/>
                </a:solidFill>
                <a:latin typeface="DejaVu Sans"/>
                <a:ea typeface="DejaVu Sans"/>
                <a:cs typeface="DejaVu Sans"/>
              </a:rPr>
              <a:t>Who adds it?</a:t>
            </a:r>
          </a:p>
        </p:txBody>
      </p:sp>
      <p:sp>
        <p:nvSpPr>
          <p:cNvPr id="13" name="">
            <a:extLst xmlns:a="http://schemas.openxmlformats.org/drawingml/2006/main">
              <a:ext uri="{FF2B5EF4-FFF2-40B4-BE49-F238E27FC236}">
                <a16:creationId xmlns:a16="http://schemas.microsoft.com/office/drawing/2014/main" id="{3B0DF008-5619-44F4-B59F-BAEF8D19AE14}"/>
              </a:ext>
            </a:extLst>
          </p:cNvPr>
          <p:cNvSpPr>
            <a:spLocks xmlns:a="http://schemas.openxmlformats.org/drawingml/2006/main" noGrp="1"/>
          </p:cNvSpPr>
          <p:nvPr/>
        </p:nvSpPr>
        <p:spPr>
          <a:xfrm xmlns:a="http://schemas.openxmlformats.org/drawingml/2006/main">
            <a:off x="4476750" y="2381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Developer</a:t>
            </a:r>
          </a:p>
        </p:txBody>
      </p:sp>
      <p:sp>
        <p:nvSpPr>
          <p:cNvPr id="14" name="">
            <a:extLst xmlns:a="http://schemas.openxmlformats.org/drawingml/2006/main">
              <a:ext uri="{FF2B5EF4-FFF2-40B4-BE49-F238E27FC236}">
                <a16:creationId xmlns:a16="http://schemas.microsoft.com/office/drawing/2014/main" id="{3EB7024D-9819-4836-8565-B3A888F68B4B}"/>
              </a:ext>
            </a:extLst>
          </p:cNvPr>
          <p:cNvSpPr>
            <a:spLocks xmlns:a="http://schemas.openxmlformats.org/drawingml/2006/main" noGrp="1"/>
          </p:cNvSpPr>
          <p:nvPr/>
        </p:nvSpPr>
        <p:spPr>
          <a:xfrm xmlns:a="http://schemas.openxmlformats.org/drawingml/2006/main">
            <a:off x="8096250" y="2381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Application user</a:t>
            </a:r>
          </a:p>
        </p:txBody>
      </p:sp>
      <p:sp>
        <p:nvSpPr>
          <p:cNvPr id="15" name="">
            <a:extLst xmlns:a="http://schemas.openxmlformats.org/drawingml/2006/main">
              <a:ext uri="{FF2B5EF4-FFF2-40B4-BE49-F238E27FC236}">
                <a16:creationId xmlns:a16="http://schemas.microsoft.com/office/drawing/2014/main" id="{44F7F043-D2A6-42DC-B6CA-5DB3CC3E5395}"/>
              </a:ext>
            </a:extLst>
          </p:cNvPr>
          <p:cNvSpPr>
            <a:spLocks xmlns:a="http://schemas.openxmlformats.org/drawingml/2006/main" noGrp="1"/>
          </p:cNvSpPr>
          <p:nvPr/>
        </p:nvSpPr>
        <p:spPr>
          <a:xfrm xmlns:a="http://schemas.openxmlformats.org/drawingml/2006/main">
            <a:off x="1000125" y="3143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82A4A"/>
                </a:solidFill>
                <a:latin typeface="DejaVu Sans"/>
                <a:ea typeface="DejaVu Sans"/>
                <a:cs typeface="DejaVu Sans"/>
              </a:defRPr>
            </a:pPr>
            <a:r>
              <a:rPr sz="1350" b="1">
                <a:solidFill>
                  <a:srgbClr val="082A4A"/>
                </a:solidFill>
                <a:latin typeface="DejaVu Sans"/>
                <a:ea typeface="DejaVu Sans"/>
                <a:cs typeface="DejaVu Sans"/>
              </a:rPr>
              <a:t>Examples</a:t>
            </a:r>
          </a:p>
        </p:txBody>
      </p:sp>
      <p:sp>
        <p:nvSpPr>
          <p:cNvPr id="16" name="">
            <a:extLst xmlns:a="http://schemas.openxmlformats.org/drawingml/2006/main">
              <a:ext uri="{FF2B5EF4-FFF2-40B4-BE49-F238E27FC236}">
                <a16:creationId xmlns:a16="http://schemas.microsoft.com/office/drawing/2014/main" id="{281C0679-F97D-46AD-806B-0CA00912FA6A}"/>
              </a:ext>
            </a:extLst>
          </p:cNvPr>
          <p:cNvSpPr>
            <a:spLocks xmlns:a="http://schemas.openxmlformats.org/drawingml/2006/main" noGrp="1"/>
          </p:cNvSpPr>
          <p:nvPr/>
        </p:nvSpPr>
        <p:spPr>
          <a:xfrm xmlns:a="http://schemas.openxmlformats.org/drawingml/2006/main">
            <a:off x="4476750" y="3143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CSS, JavaScript, logo</a:t>
            </a:r>
          </a:p>
        </p:txBody>
      </p:sp>
      <p:sp>
        <p:nvSpPr>
          <p:cNvPr id="17" name="">
            <a:extLst xmlns:a="http://schemas.openxmlformats.org/drawingml/2006/main">
              <a:ext uri="{FF2B5EF4-FFF2-40B4-BE49-F238E27FC236}">
                <a16:creationId xmlns:a16="http://schemas.microsoft.com/office/drawing/2014/main" id="{C114C72B-375D-4988-9218-E5855DC27C12}"/>
              </a:ext>
            </a:extLst>
          </p:cNvPr>
          <p:cNvSpPr>
            <a:spLocks xmlns:a="http://schemas.openxmlformats.org/drawingml/2006/main" noGrp="1"/>
          </p:cNvSpPr>
          <p:nvPr/>
        </p:nvSpPr>
        <p:spPr>
          <a:xfrm xmlns:a="http://schemas.openxmlformats.org/drawingml/2006/main">
            <a:off x="8096250" y="3143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Profile picture, CV</a:t>
            </a:r>
          </a:p>
        </p:txBody>
      </p:sp>
      <p:sp>
        <p:nvSpPr>
          <p:cNvPr id="18" name="">
            <a:extLst xmlns:a="http://schemas.openxmlformats.org/drawingml/2006/main">
              <a:ext uri="{FF2B5EF4-FFF2-40B4-BE49-F238E27FC236}">
                <a16:creationId xmlns:a16="http://schemas.microsoft.com/office/drawing/2014/main" id="{CCFA8C23-C0F0-440C-BCA7-2F4DD1AA30E3}"/>
              </a:ext>
            </a:extLst>
          </p:cNvPr>
          <p:cNvSpPr>
            <a:spLocks xmlns:a="http://schemas.openxmlformats.org/drawingml/2006/main" noGrp="1"/>
          </p:cNvSpPr>
          <p:nvPr/>
        </p:nvSpPr>
        <p:spPr>
          <a:xfrm xmlns:a="http://schemas.openxmlformats.org/drawingml/2006/main">
            <a:off x="771525" y="3810000"/>
            <a:ext cx="10648950" cy="762000"/>
          </a:xfrm>
          <a:prstGeom xmlns:a="http://schemas.openxmlformats.org/drawingml/2006/main" prst="rect">
            <a:avLst/>
          </a:prstGeom>
          <a:solidFill xmlns:a="http://schemas.openxmlformats.org/drawingml/2006/main">
            <a:srgbClr val="F4F8F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6BD681C-DEB1-4781-B03B-FBD743417F34}"/>
              </a:ext>
            </a:extLst>
          </p:cNvPr>
          <p:cNvSpPr>
            <a:spLocks xmlns:a="http://schemas.openxmlformats.org/drawingml/2006/main" noGrp="1"/>
          </p:cNvSpPr>
          <p:nvPr/>
        </p:nvSpPr>
        <p:spPr>
          <a:xfrm xmlns:a="http://schemas.openxmlformats.org/drawingml/2006/main">
            <a:off x="1000125" y="3905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82A4A"/>
                </a:solidFill>
                <a:latin typeface="DejaVu Sans"/>
                <a:ea typeface="DejaVu Sans"/>
                <a:cs typeface="DejaVu Sans"/>
              </a:defRPr>
            </a:pPr>
            <a:r>
              <a:rPr sz="1350" b="1">
                <a:solidFill>
                  <a:srgbClr val="082A4A"/>
                </a:solidFill>
                <a:latin typeface="DejaVu Sans"/>
                <a:ea typeface="DejaVu Sans"/>
                <a:cs typeface="DejaVu Sans"/>
              </a:rPr>
              <a:t>Typical folder</a:t>
            </a:r>
          </a:p>
        </p:txBody>
      </p:sp>
      <p:sp>
        <p:nvSpPr>
          <p:cNvPr id="20" name="">
            <a:extLst xmlns:a="http://schemas.openxmlformats.org/drawingml/2006/main">
              <a:ext uri="{FF2B5EF4-FFF2-40B4-BE49-F238E27FC236}">
                <a16:creationId xmlns:a16="http://schemas.microsoft.com/office/drawing/2014/main" id="{A0AE42C6-DFAA-419D-B1A8-C75C6F23DE1A}"/>
              </a:ext>
            </a:extLst>
          </p:cNvPr>
          <p:cNvSpPr>
            <a:spLocks xmlns:a="http://schemas.openxmlformats.org/drawingml/2006/main" noGrp="1"/>
          </p:cNvSpPr>
          <p:nvPr/>
        </p:nvSpPr>
        <p:spPr>
          <a:xfrm xmlns:a="http://schemas.openxmlformats.org/drawingml/2006/main">
            <a:off x="4476750" y="3905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static/</a:t>
            </a:r>
          </a:p>
        </p:txBody>
      </p:sp>
      <p:sp>
        <p:nvSpPr>
          <p:cNvPr id="21" name="">
            <a:extLst xmlns:a="http://schemas.openxmlformats.org/drawingml/2006/main">
              <a:ext uri="{FF2B5EF4-FFF2-40B4-BE49-F238E27FC236}">
                <a16:creationId xmlns:a16="http://schemas.microsoft.com/office/drawing/2014/main" id="{1D742BAD-D0C3-4935-9908-2F4992584E56}"/>
              </a:ext>
            </a:extLst>
          </p:cNvPr>
          <p:cNvSpPr>
            <a:spLocks xmlns:a="http://schemas.openxmlformats.org/drawingml/2006/main" noGrp="1"/>
          </p:cNvSpPr>
          <p:nvPr/>
        </p:nvSpPr>
        <p:spPr>
          <a:xfrm xmlns:a="http://schemas.openxmlformats.org/drawingml/2006/main">
            <a:off x="8096250" y="3905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media/</a:t>
            </a:r>
          </a:p>
        </p:txBody>
      </p:sp>
      <p:sp>
        <p:nvSpPr>
          <p:cNvPr id="22" name="">
            <a:extLst xmlns:a="http://schemas.openxmlformats.org/drawingml/2006/main">
              <a:ext uri="{FF2B5EF4-FFF2-40B4-BE49-F238E27FC236}">
                <a16:creationId xmlns:a16="http://schemas.microsoft.com/office/drawing/2014/main" id="{18F3E789-EBC5-4129-8BBE-9C87277A4FF2}"/>
              </a:ext>
            </a:extLst>
          </p:cNvPr>
          <p:cNvSpPr>
            <a:spLocks xmlns:a="http://schemas.openxmlformats.org/drawingml/2006/main" noGrp="1"/>
          </p:cNvSpPr>
          <p:nvPr/>
        </p:nvSpPr>
        <p:spPr>
          <a:xfrm xmlns:a="http://schemas.openxmlformats.org/drawingml/2006/main">
            <a:off x="1000125" y="4667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82A4A"/>
                </a:solidFill>
                <a:latin typeface="DejaVu Sans"/>
                <a:ea typeface="DejaVu Sans"/>
                <a:cs typeface="DejaVu Sans"/>
              </a:defRPr>
            </a:pPr>
            <a:r>
              <a:rPr sz="1350" b="1">
                <a:solidFill>
                  <a:srgbClr val="082A4A"/>
                </a:solidFill>
                <a:latin typeface="DejaVu Sans"/>
                <a:ea typeface="DejaVu Sans"/>
                <a:cs typeface="DejaVu Sans"/>
              </a:rPr>
              <a:t>Main purpose</a:t>
            </a:r>
          </a:p>
        </p:txBody>
      </p:sp>
      <p:sp>
        <p:nvSpPr>
          <p:cNvPr id="23" name="">
            <a:extLst xmlns:a="http://schemas.openxmlformats.org/drawingml/2006/main">
              <a:ext uri="{FF2B5EF4-FFF2-40B4-BE49-F238E27FC236}">
                <a16:creationId xmlns:a16="http://schemas.microsoft.com/office/drawing/2014/main" id="{4F2B5EC2-C6E5-4884-AE25-EC8208F118BA}"/>
              </a:ext>
            </a:extLst>
          </p:cNvPr>
          <p:cNvSpPr>
            <a:spLocks xmlns:a="http://schemas.openxmlformats.org/drawingml/2006/main" noGrp="1"/>
          </p:cNvSpPr>
          <p:nvPr/>
        </p:nvSpPr>
        <p:spPr>
          <a:xfrm xmlns:a="http://schemas.openxmlformats.org/drawingml/2006/main">
            <a:off x="4476750" y="4667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Design and behaviour</a:t>
            </a:r>
          </a:p>
        </p:txBody>
      </p:sp>
      <p:sp>
        <p:nvSpPr>
          <p:cNvPr id="24" name="">
            <a:extLst xmlns:a="http://schemas.openxmlformats.org/drawingml/2006/main">
              <a:ext uri="{FF2B5EF4-FFF2-40B4-BE49-F238E27FC236}">
                <a16:creationId xmlns:a16="http://schemas.microsoft.com/office/drawing/2014/main" id="{31EC5219-048F-42CC-93BC-D35F21FB9900}"/>
              </a:ext>
            </a:extLst>
          </p:cNvPr>
          <p:cNvSpPr>
            <a:spLocks xmlns:a="http://schemas.openxmlformats.org/drawingml/2006/main" noGrp="1"/>
          </p:cNvSpPr>
          <p:nvPr/>
        </p:nvSpPr>
        <p:spPr>
          <a:xfrm xmlns:a="http://schemas.openxmlformats.org/drawingml/2006/main">
            <a:off x="8096250" y="4667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52536"/>
                </a:solidFill>
                <a:latin typeface="DejaVu Sans"/>
                <a:ea typeface="DejaVu Sans"/>
                <a:cs typeface="DejaVu Sans"/>
              </a:defRPr>
            </a:pPr>
            <a:r>
              <a:rPr sz="1350" b="0">
                <a:solidFill>
                  <a:srgbClr val="152536"/>
                </a:solidFill>
                <a:latin typeface="DejaVu Sans"/>
                <a:ea typeface="DejaVu Sans"/>
                <a:cs typeface="DejaVu Sans"/>
              </a:rPr>
              <a:t>User-generated content</a:t>
            </a:r>
          </a:p>
        </p:txBody>
      </p:sp>
    </p:spTree>
    <p:extLst>
      <p:ext uri="{BB962C8B-B14F-4D97-AF65-F5344CB8AC3E}">
        <p14:creationId xmlns:p14="http://schemas.microsoft.com/office/powerpoint/2010/main" val="18021377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D4B9A0C-E7CE-455C-BBD5-84446DEF93F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0930C0-ADFE-491E-89AE-020906639BF5}"/>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F4C7774C-B2FD-4553-AB85-FB4FC9508D07}"/>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database remembers structured information</a:t>
            </a:r>
          </a:p>
        </p:txBody>
      </p:sp>
      <p:sp>
        <p:nvSpPr>
          <p:cNvPr id="4" name="">
            <a:extLst xmlns:a="http://schemas.openxmlformats.org/drawingml/2006/main">
              <a:ext uri="{FF2B5EF4-FFF2-40B4-BE49-F238E27FC236}">
                <a16:creationId xmlns:a16="http://schemas.microsoft.com/office/drawing/2014/main" id="{AB075FE4-289E-4840-9A8A-03B4ED120EC8}"/>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ADB8FF-3B72-40E4-84DD-C37531209705}"/>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5ABD6C05-8200-4A8D-897B-93866A4295E0}"/>
              </a:ext>
            </a:extLst>
          </p:cNvPr>
          <p:cNvSpPr>
            <a:spLocks xmlns:a="http://schemas.openxmlformats.org/drawingml/2006/main" noGrp="1"/>
          </p:cNvSpPr>
          <p:nvPr/>
        </p:nvSpPr>
        <p:spPr>
          <a:xfrm xmlns:a="http://schemas.openxmlformats.org/drawingml/2006/main">
            <a:off x="857250" y="1714500"/>
            <a:ext cx="4191000" cy="3143250"/>
          </a:xfrm>
          <a:prstGeom xmlns:a="http://schemas.openxmlformats.org/drawingml/2006/main" prst="roundRect">
            <a:avLst>
              <a:gd name="adj" fmla="val 2424"/>
            </a:avLst>
          </a:prstGeom>
          <a:solidFill xmlns:a="http://schemas.openxmlformats.org/drawingml/2006/main">
            <a:srgbClr val="DDEF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6994EB-B72A-4433-BCD9-2AB06DEA6FDE}"/>
              </a:ext>
            </a:extLst>
          </p:cNvPr>
          <p:cNvSpPr>
            <a:spLocks xmlns:a="http://schemas.openxmlformats.org/drawingml/2006/main" noGrp="1"/>
          </p:cNvSpPr>
          <p:nvPr/>
        </p:nvSpPr>
        <p:spPr>
          <a:xfrm xmlns:a="http://schemas.openxmlformats.org/drawingml/2006/main">
            <a:off x="1333500" y="204787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82A4A"/>
                </a:solidFill>
                <a:latin typeface="DejaVu Sans"/>
                <a:ea typeface="DejaVu Sans"/>
                <a:cs typeface="DejaVu Sans"/>
              </a:defRPr>
            </a:pPr>
            <a:r>
              <a:rPr sz="2100" b="1">
                <a:solidFill>
                  <a:srgbClr val="082A4A"/>
                </a:solidFill>
                <a:latin typeface="DejaVu Sans"/>
                <a:ea typeface="DejaVu Sans"/>
                <a:cs typeface="DejaVu Sans"/>
              </a:rPr>
              <a:t>Student record</a:t>
            </a:r>
          </a:p>
        </p:txBody>
      </p:sp>
      <p:sp>
        <p:nvSpPr>
          <p:cNvPr id="8" name="">
            <a:extLst xmlns:a="http://schemas.openxmlformats.org/drawingml/2006/main">
              <a:ext uri="{FF2B5EF4-FFF2-40B4-BE49-F238E27FC236}">
                <a16:creationId xmlns:a16="http://schemas.microsoft.com/office/drawing/2014/main" id="{8D51AFFD-7B40-4C04-A9AE-CA98F19B3E30}"/>
              </a:ext>
            </a:extLst>
          </p:cNvPr>
          <p:cNvSpPr>
            <a:spLocks xmlns:a="http://schemas.openxmlformats.org/drawingml/2006/main" noGrp="1"/>
          </p:cNvSpPr>
          <p:nvPr/>
        </p:nvSpPr>
        <p:spPr>
          <a:xfrm xmlns:a="http://schemas.openxmlformats.org/drawingml/2006/main">
            <a:off x="1333500" y="271462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Name: Ada Obi</a:t>
            </a:r>
          </a:p>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Email: ada@example.com</a:t>
            </a:r>
          </a:p>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Age: 20</a:t>
            </a:r>
          </a:p>
          <a:p xmlns:a="http://schemas.openxmlformats.org/drawingml/2006/main">
            <a:pPr algn="l">
              <a:defRPr sz="1575" b="0">
                <a:solidFill>
                  <a:srgbClr val="152536"/>
                </a:solidFill>
                <a:latin typeface="DejaVu Sans"/>
                <a:ea typeface="DejaVu Sans"/>
                <a:cs typeface="DejaVu Sans"/>
              </a:defRPr>
            </a:pPr>
            <a:r>
              <a:rPr sz="1575" b="0">
                <a:solidFill>
                  <a:srgbClr val="152536"/>
                </a:solidFill>
                <a:latin typeface="DejaVu Sans"/>
                <a:ea typeface="DejaVu Sans"/>
                <a:cs typeface="DejaVu Sans"/>
              </a:rPr>
              <a:t>Course: Backend Development</a:t>
            </a:r>
          </a:p>
        </p:txBody>
      </p:sp>
      <p:sp>
        <p:nvSpPr>
          <p:cNvPr id="9" name="">
            <a:extLst xmlns:a="http://schemas.openxmlformats.org/drawingml/2006/main">
              <a:ext uri="{FF2B5EF4-FFF2-40B4-BE49-F238E27FC236}">
                <a16:creationId xmlns:a16="http://schemas.microsoft.com/office/drawing/2014/main" id="{D9D39521-9DF5-42F1-921B-447FC03B99A2}"/>
              </a:ext>
            </a:extLst>
          </p:cNvPr>
          <p:cNvSpPr>
            <a:spLocks xmlns:a="http://schemas.openxmlformats.org/drawingml/2006/main" noGrp="1"/>
          </p:cNvSpPr>
          <p:nvPr/>
        </p:nvSpPr>
        <p:spPr>
          <a:xfrm xmlns:a="http://schemas.openxmlformats.org/drawingml/2006/main">
            <a:off x="5905500" y="1714500"/>
            <a:ext cx="5429250" cy="3143250"/>
          </a:xfrm>
          <a:prstGeom xmlns:a="http://schemas.openxmlformats.org/drawingml/2006/main" prst="roundRect">
            <a:avLst>
              <a:gd name="adj" fmla="val 2424"/>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2DEEF3BD-80AF-4735-9AEA-5798E51A91A1}"/>
              </a:ext>
            </a:extLst>
          </p:cNvPr>
          <p:cNvSpPr>
            <a:spLocks xmlns:a="http://schemas.openxmlformats.org/drawingml/2006/main" noGrp="1"/>
          </p:cNvSpPr>
          <p:nvPr/>
        </p:nvSpPr>
        <p:spPr>
          <a:xfrm xmlns:a="http://schemas.openxmlformats.org/drawingml/2006/main">
            <a:off x="5905500" y="1714500"/>
            <a:ext cx="76200" cy="31432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975C24-BCD7-492C-9EC6-DD2ABC511EC0}"/>
              </a:ext>
            </a:extLst>
          </p:cNvPr>
          <p:cNvSpPr>
            <a:spLocks xmlns:a="http://schemas.openxmlformats.org/drawingml/2006/main" noGrp="1"/>
          </p:cNvSpPr>
          <p:nvPr/>
        </p:nvSpPr>
        <p:spPr>
          <a:xfrm xmlns:a="http://schemas.openxmlformats.org/drawingml/2006/main">
            <a:off x="6172200" y="1885950"/>
            <a:ext cx="497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Why use a database?</a:t>
            </a:r>
          </a:p>
        </p:txBody>
      </p:sp>
      <p:sp>
        <p:nvSpPr>
          <p:cNvPr id="12" name="">
            <a:extLst xmlns:a="http://schemas.openxmlformats.org/drawingml/2006/main">
              <a:ext uri="{FF2B5EF4-FFF2-40B4-BE49-F238E27FC236}">
                <a16:creationId xmlns:a16="http://schemas.microsoft.com/office/drawing/2014/main" id="{52C54C56-604A-4716-BCA4-114405A59E1A}"/>
              </a:ext>
            </a:extLst>
          </p:cNvPr>
          <p:cNvSpPr>
            <a:spLocks xmlns:a="http://schemas.openxmlformats.org/drawingml/2006/main" noGrp="1"/>
          </p:cNvSpPr>
          <p:nvPr/>
        </p:nvSpPr>
        <p:spPr>
          <a:xfrm xmlns:a="http://schemas.openxmlformats.org/drawingml/2006/main">
            <a:off x="6172200" y="2266950"/>
            <a:ext cx="497205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information remains available after the server stops and starts again. Django can search, update and delete the records when needed.</a:t>
            </a:r>
          </a:p>
        </p:txBody>
      </p:sp>
      <p:sp>
        <p:nvSpPr>
          <p:cNvPr id="13" name="">
            <a:extLst xmlns:a="http://schemas.openxmlformats.org/drawingml/2006/main">
              <a:ext uri="{FF2B5EF4-FFF2-40B4-BE49-F238E27FC236}">
                <a16:creationId xmlns:a16="http://schemas.microsoft.com/office/drawing/2014/main" id="{23053110-C7DE-4D3F-94CE-B36D96FE374C}"/>
              </a:ext>
            </a:extLst>
          </p:cNvPr>
          <p:cNvSpPr>
            <a:spLocks xmlns:a="http://schemas.openxmlformats.org/drawingml/2006/main" noGrp="1"/>
          </p:cNvSpPr>
          <p:nvPr/>
        </p:nvSpPr>
        <p:spPr>
          <a:xfrm xmlns:a="http://schemas.openxmlformats.org/drawingml/2006/main">
            <a:off x="3143250" y="5334000"/>
            <a:ext cx="5905500" cy="400050"/>
          </a:xfrm>
          <a:prstGeom xmlns:a="http://schemas.openxmlformats.org/drawingml/2006/main" prst="roundRect">
            <a:avLst>
              <a:gd name="adj" fmla="val 19048"/>
            </a:avLst>
          </a:prstGeom>
          <a:solidFill xmlns:a="http://schemas.openxmlformats.org/drawingml/2006/main">
            <a:srgbClr val="DDEF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2E236D1-60D6-4DDA-BA1E-D986966B313B}"/>
              </a:ext>
            </a:extLst>
          </p:cNvPr>
          <p:cNvSpPr>
            <a:spLocks xmlns:a="http://schemas.openxmlformats.org/drawingml/2006/main" noGrp="1"/>
          </p:cNvSpPr>
          <p:nvPr/>
        </p:nvSpPr>
        <p:spPr>
          <a:xfrm xmlns:a="http://schemas.openxmlformats.org/drawingml/2006/main">
            <a:off x="3257550" y="5372100"/>
            <a:ext cx="567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82A4A"/>
                </a:solidFill>
                <a:latin typeface="DejaVu Sans"/>
                <a:ea typeface="DejaVu Sans"/>
                <a:cs typeface="DejaVu Sans"/>
              </a:defRPr>
            </a:pPr>
            <a:r>
              <a:rPr sz="1200" b="1">
                <a:solidFill>
                  <a:srgbClr val="082A4A"/>
                </a:solidFill>
                <a:latin typeface="DejaVu Sans"/>
                <a:ea typeface="DejaVu Sans"/>
                <a:cs typeface="DejaVu Sans"/>
              </a:rPr>
              <a:t>Data remains available between requests</a:t>
            </a:r>
          </a:p>
        </p:txBody>
      </p:sp>
    </p:spTree>
    <p:extLst>
      <p:ext uri="{BB962C8B-B14F-4D97-AF65-F5344CB8AC3E}">
        <p14:creationId xmlns:p14="http://schemas.microsoft.com/office/powerpoint/2010/main" val="12970350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BCEC02F-6981-476D-BB31-2AF879C6F66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1A5A23-B236-4DEA-922C-7D44F90A1EA7}"/>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CD184BF1-0991-4805-9B58-0136DFEBCF91}"/>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Django starts with SQLite</a:t>
            </a:r>
          </a:p>
        </p:txBody>
      </p:sp>
      <p:sp>
        <p:nvSpPr>
          <p:cNvPr id="4" name="">
            <a:extLst xmlns:a="http://schemas.openxmlformats.org/drawingml/2006/main">
              <a:ext uri="{FF2B5EF4-FFF2-40B4-BE49-F238E27FC236}">
                <a16:creationId xmlns:a16="http://schemas.microsoft.com/office/drawing/2014/main" id="{5F20486A-C425-48FD-BC0C-97D3BDD1FA24}"/>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B1C2F7-DBE9-4BBB-AF8F-3D4F086AC523}"/>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A6C5BB2C-E876-4BF5-83ED-5DC47235E9F0}"/>
              </a:ext>
            </a:extLst>
          </p:cNvPr>
          <p:cNvSpPr>
            <a:spLocks xmlns:a="http://schemas.openxmlformats.org/drawingml/2006/main" noGrp="1"/>
          </p:cNvSpPr>
          <p:nvPr/>
        </p:nvSpPr>
        <p:spPr>
          <a:xfrm xmlns:a="http://schemas.openxmlformats.org/drawingml/2006/main">
            <a:off x="666750" y="1619250"/>
            <a:ext cx="6191250" cy="2857500"/>
          </a:xfrm>
          <a:prstGeom xmlns:a="http://schemas.openxmlformats.org/drawingml/2006/main" prst="roundRect">
            <a:avLst>
              <a:gd name="adj" fmla="val 2667"/>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F6FCF8-A921-4BA4-8BFF-A9F7A269A2DC}"/>
              </a:ext>
            </a:extLst>
          </p:cNvPr>
          <p:cNvSpPr>
            <a:spLocks xmlns:a="http://schemas.openxmlformats.org/drawingml/2006/main" noGrp="1"/>
          </p:cNvSpPr>
          <p:nvPr/>
        </p:nvSpPr>
        <p:spPr>
          <a:xfrm xmlns:a="http://schemas.openxmlformats.org/drawingml/2006/main">
            <a:off x="876300" y="1733550"/>
            <a:ext cx="5772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a:t>
            </a:r>
          </a:p>
        </p:txBody>
      </p:sp>
      <p:sp>
        <p:nvSpPr>
          <p:cNvPr id="8" name="">
            <a:extLst xmlns:a="http://schemas.openxmlformats.org/drawingml/2006/main">
              <a:ext uri="{FF2B5EF4-FFF2-40B4-BE49-F238E27FC236}">
                <a16:creationId xmlns:a16="http://schemas.microsoft.com/office/drawing/2014/main" id="{0E868B45-847A-44BC-8E4E-82F794430D46}"/>
              </a:ext>
            </a:extLst>
          </p:cNvPr>
          <p:cNvSpPr>
            <a:spLocks xmlns:a="http://schemas.openxmlformats.org/drawingml/2006/main" noGrp="1"/>
          </p:cNvSpPr>
          <p:nvPr/>
        </p:nvSpPr>
        <p:spPr>
          <a:xfrm xmlns:a="http://schemas.openxmlformats.org/drawingml/2006/main">
            <a:off x="876300" y="2019300"/>
            <a:ext cx="57721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DATABASES =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"default":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"ENGINE": "django.db.backends.sqlite3",</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"NAME": BASE_DIR / "db.sqlite3",</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DBAD3345-6871-4739-B0E1-705F894B7578}"/>
              </a:ext>
            </a:extLst>
          </p:cNvPr>
          <p:cNvSpPr>
            <a:spLocks xmlns:a="http://schemas.openxmlformats.org/drawingml/2006/main" noGrp="1"/>
          </p:cNvSpPr>
          <p:nvPr/>
        </p:nvSpPr>
        <p:spPr>
          <a:xfrm xmlns:a="http://schemas.openxmlformats.org/drawingml/2006/main">
            <a:off x="7334250" y="1619250"/>
            <a:ext cx="4191000" cy="1952625"/>
          </a:xfrm>
          <a:prstGeom xmlns:a="http://schemas.openxmlformats.org/drawingml/2006/main" prst="roundRect">
            <a:avLst>
              <a:gd name="adj" fmla="val 3902"/>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57127EC0-F54B-4F7B-80A0-90B5614B354B}"/>
              </a:ext>
            </a:extLst>
          </p:cNvPr>
          <p:cNvSpPr>
            <a:spLocks xmlns:a="http://schemas.openxmlformats.org/drawingml/2006/main" noGrp="1"/>
          </p:cNvSpPr>
          <p:nvPr/>
        </p:nvSpPr>
        <p:spPr>
          <a:xfrm xmlns:a="http://schemas.openxmlformats.org/drawingml/2006/main">
            <a:off x="7334250" y="1619250"/>
            <a:ext cx="76200" cy="1952625"/>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502136-A260-48E4-BDC5-BB0A5A14E085}"/>
              </a:ext>
            </a:extLst>
          </p:cNvPr>
          <p:cNvSpPr>
            <a:spLocks xmlns:a="http://schemas.openxmlformats.org/drawingml/2006/main" noGrp="1"/>
          </p:cNvSpPr>
          <p:nvPr/>
        </p:nvSpPr>
        <p:spPr>
          <a:xfrm xmlns:a="http://schemas.openxmlformats.org/drawingml/2006/main">
            <a:off x="7600950" y="17907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Good for learning</a:t>
            </a:r>
          </a:p>
        </p:txBody>
      </p:sp>
      <p:sp>
        <p:nvSpPr>
          <p:cNvPr id="12" name="">
            <a:extLst xmlns:a="http://schemas.openxmlformats.org/drawingml/2006/main">
              <a:ext uri="{FF2B5EF4-FFF2-40B4-BE49-F238E27FC236}">
                <a16:creationId xmlns:a16="http://schemas.microsoft.com/office/drawing/2014/main" id="{E7EAD0E2-26F9-4487-84F0-019FC4C9F0CD}"/>
              </a:ext>
            </a:extLst>
          </p:cNvPr>
          <p:cNvSpPr>
            <a:spLocks xmlns:a="http://schemas.openxmlformats.org/drawingml/2006/main" noGrp="1"/>
          </p:cNvSpPr>
          <p:nvPr/>
        </p:nvSpPr>
        <p:spPr>
          <a:xfrm xmlns:a="http://schemas.openxmlformats.org/drawingml/2006/main">
            <a:off x="7600950" y="2171700"/>
            <a:ext cx="37338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SQLite needs no separate database server. Django creates db.sqlite3 after migrations run.</a:t>
            </a:r>
          </a:p>
        </p:txBody>
      </p:sp>
      <p:sp>
        <p:nvSpPr>
          <p:cNvPr id="13" name="">
            <a:extLst xmlns:a="http://schemas.openxmlformats.org/drawingml/2006/main">
              <a:ext uri="{FF2B5EF4-FFF2-40B4-BE49-F238E27FC236}">
                <a16:creationId xmlns:a16="http://schemas.microsoft.com/office/drawing/2014/main" id="{7250C173-0A42-4CBF-B105-CC1258351A88}"/>
              </a:ext>
            </a:extLst>
          </p:cNvPr>
          <p:cNvSpPr>
            <a:spLocks xmlns:a="http://schemas.openxmlformats.org/drawingml/2006/main" noGrp="1"/>
          </p:cNvSpPr>
          <p:nvPr/>
        </p:nvSpPr>
        <p:spPr>
          <a:xfrm xmlns:a="http://schemas.openxmlformats.org/drawingml/2006/main">
            <a:off x="7334250" y="3905250"/>
            <a:ext cx="4191000" cy="1524000"/>
          </a:xfrm>
          <a:prstGeom xmlns:a="http://schemas.openxmlformats.org/drawingml/2006/main" prst="roundRect">
            <a:avLst>
              <a:gd name="adj" fmla="val 5000"/>
            </a:avLst>
          </a:prstGeom>
          <a:solidFill xmlns:a="http://schemas.openxmlformats.org/drawingml/2006/main">
            <a:srgbClr val="F4F8FB"/>
          </a:solidFill>
          <a:ln xmlns:a="http://schemas.openxmlformats.org/drawingml/2006/main" w="9525">
            <a:solidFill>
              <a:srgbClr val="C9D8E5"/>
            </a:solidFill>
          </a:ln>
        </p:spPr>
      </p:sp>
      <p:sp>
        <p:nvSpPr>
          <p:cNvPr id="14" name="">
            <a:extLst xmlns:a="http://schemas.openxmlformats.org/drawingml/2006/main">
              <a:ext uri="{FF2B5EF4-FFF2-40B4-BE49-F238E27FC236}">
                <a16:creationId xmlns:a16="http://schemas.microsoft.com/office/drawing/2014/main" id="{F1A1057F-4883-47CB-B896-42007B267F13}"/>
              </a:ext>
            </a:extLst>
          </p:cNvPr>
          <p:cNvSpPr>
            <a:spLocks xmlns:a="http://schemas.openxmlformats.org/drawingml/2006/main" noGrp="1"/>
          </p:cNvSpPr>
          <p:nvPr/>
        </p:nvSpPr>
        <p:spPr>
          <a:xfrm xmlns:a="http://schemas.openxmlformats.org/drawingml/2006/main">
            <a:off x="7334250" y="3905250"/>
            <a:ext cx="76200" cy="1524000"/>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606E37-19D3-4049-AA11-9900026804CB}"/>
              </a:ext>
            </a:extLst>
          </p:cNvPr>
          <p:cNvSpPr>
            <a:spLocks xmlns:a="http://schemas.openxmlformats.org/drawingml/2006/main" noGrp="1"/>
          </p:cNvSpPr>
          <p:nvPr/>
        </p:nvSpPr>
        <p:spPr>
          <a:xfrm xmlns:a="http://schemas.openxmlformats.org/drawingml/2006/main">
            <a:off x="7600950" y="40767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Later in production</a:t>
            </a:r>
          </a:p>
        </p:txBody>
      </p:sp>
      <p:sp>
        <p:nvSpPr>
          <p:cNvPr id="16" name="">
            <a:extLst xmlns:a="http://schemas.openxmlformats.org/drawingml/2006/main">
              <a:ext uri="{FF2B5EF4-FFF2-40B4-BE49-F238E27FC236}">
                <a16:creationId xmlns:a16="http://schemas.microsoft.com/office/drawing/2014/main" id="{6E66CA8E-B344-4778-AAC6-6C4C09B2C972}"/>
              </a:ext>
            </a:extLst>
          </p:cNvPr>
          <p:cNvSpPr>
            <a:spLocks xmlns:a="http://schemas.openxmlformats.org/drawingml/2006/main" noGrp="1"/>
          </p:cNvSpPr>
          <p:nvPr/>
        </p:nvSpPr>
        <p:spPr>
          <a:xfrm xmlns:a="http://schemas.openxmlformats.org/drawingml/2006/main">
            <a:off x="7600950" y="4457700"/>
            <a:ext cx="3733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Projects can use PostgreSQL or MySQL. Django models and ORM concepts remain similar.</a:t>
            </a:r>
          </a:p>
        </p:txBody>
      </p:sp>
    </p:spTree>
    <p:extLst>
      <p:ext uri="{BB962C8B-B14F-4D97-AF65-F5344CB8AC3E}">
        <p14:creationId xmlns:p14="http://schemas.microsoft.com/office/powerpoint/2010/main" val="14639959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68E5EF-1740-4B1B-BFC7-A7CFFFCDA44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F4D67-A9F9-487F-A833-8C40AEF9ADA4}"/>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4B92EAA6-3271-4978-95F4-AF4BC823C396}"/>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A model describes one type of record</a:t>
            </a:r>
          </a:p>
        </p:txBody>
      </p:sp>
      <p:sp>
        <p:nvSpPr>
          <p:cNvPr id="4" name="">
            <a:extLst xmlns:a="http://schemas.openxmlformats.org/drawingml/2006/main">
              <a:ext uri="{FF2B5EF4-FFF2-40B4-BE49-F238E27FC236}">
                <a16:creationId xmlns:a16="http://schemas.microsoft.com/office/drawing/2014/main" id="{964681AD-D3C1-4AAD-919D-CDF30E120F9A}"/>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3F93AD-3AD1-4E7A-AB09-9BFC13072219}"/>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D33B8892-D08C-4E50-903A-5E1E63D44F38}"/>
              </a:ext>
            </a:extLst>
          </p:cNvPr>
          <p:cNvSpPr>
            <a:spLocks xmlns:a="http://schemas.openxmlformats.org/drawingml/2006/main" noGrp="1"/>
          </p:cNvSpPr>
          <p:nvPr/>
        </p:nvSpPr>
        <p:spPr>
          <a:xfrm xmlns:a="http://schemas.openxmlformats.org/drawingml/2006/main">
            <a:off x="666750" y="1476375"/>
            <a:ext cx="6858000" cy="4476750"/>
          </a:xfrm>
          <a:prstGeom xmlns:a="http://schemas.openxmlformats.org/drawingml/2006/main" prst="roundRect">
            <a:avLst>
              <a:gd name="adj" fmla="val 1702"/>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A270F9-6877-4162-A1C2-C30B37486F62}"/>
              </a:ext>
            </a:extLst>
          </p:cNvPr>
          <p:cNvSpPr>
            <a:spLocks xmlns:a="http://schemas.openxmlformats.org/drawingml/2006/main" noGrp="1"/>
          </p:cNvSpPr>
          <p:nvPr/>
        </p:nvSpPr>
        <p:spPr>
          <a:xfrm xmlns:a="http://schemas.openxmlformats.org/drawingml/2006/main">
            <a:off x="876300" y="1590675"/>
            <a:ext cx="643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students/models.py</a:t>
            </a:r>
          </a:p>
        </p:txBody>
      </p:sp>
      <p:sp>
        <p:nvSpPr>
          <p:cNvPr id="8" name="">
            <a:extLst xmlns:a="http://schemas.openxmlformats.org/drawingml/2006/main">
              <a:ext uri="{FF2B5EF4-FFF2-40B4-BE49-F238E27FC236}">
                <a16:creationId xmlns:a16="http://schemas.microsoft.com/office/drawing/2014/main" id="{79B3F278-3C8A-4D93-836F-E99574FBA443}"/>
              </a:ext>
            </a:extLst>
          </p:cNvPr>
          <p:cNvSpPr>
            <a:spLocks xmlns:a="http://schemas.openxmlformats.org/drawingml/2006/main" noGrp="1"/>
          </p:cNvSpPr>
          <p:nvPr/>
        </p:nvSpPr>
        <p:spPr>
          <a:xfrm xmlns:a="http://schemas.openxmlformats.org/drawingml/2006/main">
            <a:off x="876300" y="1876425"/>
            <a:ext cx="643890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class Student(models.Model):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name = models.CharField(max_length=100)</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email = models.EmailField(unique=True)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age = models.PositiveIntegerField()</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course = models.CharField(max_length=100)</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profile_picture = models.ImageField(</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upload_to="student_profiles/",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blank=True, null=True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created_at = models.DateTimeField(auto_now_add=True)</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def __str__(self):</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return self.name</a:t>
            </a:r>
          </a:p>
        </p:txBody>
      </p:sp>
      <p:sp>
        <p:nvSpPr>
          <p:cNvPr id="9" name="">
            <a:extLst xmlns:a="http://schemas.openxmlformats.org/drawingml/2006/main">
              <a:ext uri="{FF2B5EF4-FFF2-40B4-BE49-F238E27FC236}">
                <a16:creationId xmlns:a16="http://schemas.microsoft.com/office/drawing/2014/main" id="{A98C463F-2381-4C3B-96A2-86DD02B6DD08}"/>
              </a:ext>
            </a:extLst>
          </p:cNvPr>
          <p:cNvSpPr>
            <a:spLocks xmlns:a="http://schemas.openxmlformats.org/drawingml/2006/main" noGrp="1"/>
          </p:cNvSpPr>
          <p:nvPr/>
        </p:nvSpPr>
        <p:spPr>
          <a:xfrm xmlns:a="http://schemas.openxmlformats.org/drawingml/2006/main">
            <a:off x="7905750" y="1666875"/>
            <a:ext cx="3619500" cy="1952625"/>
          </a:xfrm>
          <a:prstGeom xmlns:a="http://schemas.openxmlformats.org/drawingml/2006/main" prst="roundRect">
            <a:avLst>
              <a:gd name="adj" fmla="val 3902"/>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D8204739-772F-47E5-8E1E-1E57235A346D}"/>
              </a:ext>
            </a:extLst>
          </p:cNvPr>
          <p:cNvSpPr>
            <a:spLocks xmlns:a="http://schemas.openxmlformats.org/drawingml/2006/main" noGrp="1"/>
          </p:cNvSpPr>
          <p:nvPr/>
        </p:nvSpPr>
        <p:spPr>
          <a:xfrm xmlns:a="http://schemas.openxmlformats.org/drawingml/2006/main">
            <a:off x="7905750" y="1666875"/>
            <a:ext cx="76200" cy="1952625"/>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74C05A-C58E-4D2E-B1C9-1EC630BF8A97}"/>
              </a:ext>
            </a:extLst>
          </p:cNvPr>
          <p:cNvSpPr>
            <a:spLocks xmlns:a="http://schemas.openxmlformats.org/drawingml/2006/main" noGrp="1"/>
          </p:cNvSpPr>
          <p:nvPr/>
        </p:nvSpPr>
        <p:spPr>
          <a:xfrm xmlns:a="http://schemas.openxmlformats.org/drawingml/2006/main">
            <a:off x="8172450" y="1838325"/>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Read it like English</a:t>
            </a:r>
          </a:p>
        </p:txBody>
      </p:sp>
      <p:sp>
        <p:nvSpPr>
          <p:cNvPr id="12" name="">
            <a:extLst xmlns:a="http://schemas.openxmlformats.org/drawingml/2006/main">
              <a:ext uri="{FF2B5EF4-FFF2-40B4-BE49-F238E27FC236}">
                <a16:creationId xmlns:a16="http://schemas.microsoft.com/office/drawing/2014/main" id="{C3B4DE0E-BE79-46E3-B04B-79DE0663888A}"/>
              </a:ext>
            </a:extLst>
          </p:cNvPr>
          <p:cNvSpPr>
            <a:spLocks xmlns:a="http://schemas.openxmlformats.org/drawingml/2006/main" noGrp="1"/>
          </p:cNvSpPr>
          <p:nvPr/>
        </p:nvSpPr>
        <p:spPr>
          <a:xfrm xmlns:a="http://schemas.openxmlformats.org/drawingml/2006/main">
            <a:off x="8172450" y="2219325"/>
            <a:ext cx="31623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 Student has a name, email, age, course, optional profile picture and creation date.</a:t>
            </a:r>
          </a:p>
        </p:txBody>
      </p:sp>
      <p:sp>
        <p:nvSpPr>
          <p:cNvPr id="13" name="">
            <a:extLst xmlns:a="http://schemas.openxmlformats.org/drawingml/2006/main">
              <a:ext uri="{FF2B5EF4-FFF2-40B4-BE49-F238E27FC236}">
                <a16:creationId xmlns:a16="http://schemas.microsoft.com/office/drawing/2014/main" id="{3F2ECF51-7188-47BB-89C9-0A3247C29296}"/>
              </a:ext>
            </a:extLst>
          </p:cNvPr>
          <p:cNvSpPr>
            <a:spLocks xmlns:a="http://schemas.openxmlformats.org/drawingml/2006/main" noGrp="1"/>
          </p:cNvSpPr>
          <p:nvPr/>
        </p:nvSpPr>
        <p:spPr>
          <a:xfrm xmlns:a="http://schemas.openxmlformats.org/drawingml/2006/main">
            <a:off x="7905750" y="3952875"/>
            <a:ext cx="3619500" cy="1524000"/>
          </a:xfrm>
          <a:prstGeom xmlns:a="http://schemas.openxmlformats.org/drawingml/2006/main" prst="roundRect">
            <a:avLst>
              <a:gd name="adj" fmla="val 5000"/>
            </a:avLst>
          </a:prstGeom>
          <a:solidFill xmlns:a="http://schemas.openxmlformats.org/drawingml/2006/main">
            <a:srgbClr val="F4F8FB"/>
          </a:solidFill>
          <a:ln xmlns:a="http://schemas.openxmlformats.org/drawingml/2006/main" w="9525">
            <a:solidFill>
              <a:srgbClr val="C9D8E5"/>
            </a:solidFill>
          </a:ln>
        </p:spPr>
      </p:sp>
      <p:sp>
        <p:nvSpPr>
          <p:cNvPr id="14" name="">
            <a:extLst xmlns:a="http://schemas.openxmlformats.org/drawingml/2006/main">
              <a:ext uri="{FF2B5EF4-FFF2-40B4-BE49-F238E27FC236}">
                <a16:creationId xmlns:a16="http://schemas.microsoft.com/office/drawing/2014/main" id="{59D7B6CB-1C6A-4F58-B957-1A3A02034DB3}"/>
              </a:ext>
            </a:extLst>
          </p:cNvPr>
          <p:cNvSpPr>
            <a:spLocks xmlns:a="http://schemas.openxmlformats.org/drawingml/2006/main" noGrp="1"/>
          </p:cNvSpPr>
          <p:nvPr/>
        </p:nvSpPr>
        <p:spPr>
          <a:xfrm xmlns:a="http://schemas.openxmlformats.org/drawingml/2006/main">
            <a:off x="7905750" y="3952875"/>
            <a:ext cx="76200" cy="1524000"/>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0635F4F-FBE1-4947-AF44-F5B5FC8F616B}"/>
              </a:ext>
            </a:extLst>
          </p:cNvPr>
          <p:cNvSpPr>
            <a:spLocks xmlns:a="http://schemas.openxmlformats.org/drawingml/2006/main" noGrp="1"/>
          </p:cNvSpPr>
          <p:nvPr/>
        </p:nvSpPr>
        <p:spPr>
          <a:xfrm xmlns:a="http://schemas.openxmlformats.org/drawingml/2006/main">
            <a:off x="8172450" y="4124325"/>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Each field becomes data</a:t>
            </a:r>
          </a:p>
        </p:txBody>
      </p:sp>
      <p:sp>
        <p:nvSpPr>
          <p:cNvPr id="16" name="">
            <a:extLst xmlns:a="http://schemas.openxmlformats.org/drawingml/2006/main">
              <a:ext uri="{FF2B5EF4-FFF2-40B4-BE49-F238E27FC236}">
                <a16:creationId xmlns:a16="http://schemas.microsoft.com/office/drawing/2014/main" id="{E9BE8271-E882-4F04-B08E-DF1E7490082B}"/>
              </a:ext>
            </a:extLst>
          </p:cNvPr>
          <p:cNvSpPr>
            <a:spLocks xmlns:a="http://schemas.openxmlformats.org/drawingml/2006/main" noGrp="1"/>
          </p:cNvSpPr>
          <p:nvPr/>
        </p:nvSpPr>
        <p:spPr>
          <a:xfrm xmlns:a="http://schemas.openxmlformats.org/drawingml/2006/main">
            <a:off x="8172450" y="4505325"/>
            <a:ext cx="316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Django uses the model to create a database table with suitable columns.</a:t>
            </a:r>
          </a:p>
        </p:txBody>
      </p:sp>
    </p:spTree>
    <p:extLst>
      <p:ext uri="{BB962C8B-B14F-4D97-AF65-F5344CB8AC3E}">
        <p14:creationId xmlns:p14="http://schemas.microsoft.com/office/powerpoint/2010/main" val="18571455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A385C7-24B7-4473-8623-11698B13825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215A86-7511-469D-B7AD-09869E546D41}"/>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E9E76E9F-89D4-4C7D-B077-3768539BA57F}"/>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Migrations turn the model into database changes</a:t>
            </a:r>
          </a:p>
        </p:txBody>
      </p:sp>
      <p:sp>
        <p:nvSpPr>
          <p:cNvPr id="4" name="">
            <a:extLst xmlns:a="http://schemas.openxmlformats.org/drawingml/2006/main">
              <a:ext uri="{FF2B5EF4-FFF2-40B4-BE49-F238E27FC236}">
                <a16:creationId xmlns:a16="http://schemas.microsoft.com/office/drawing/2014/main" id="{88D0CFE8-FCB6-4ED6-8D33-8E0883EB85E6}"/>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BFEE49-9B0E-46AA-ACB2-695258B048DD}"/>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A74EB6CE-4705-4962-9FD4-08FEABC82EB3}"/>
              </a:ext>
            </a:extLst>
          </p:cNvPr>
          <p:cNvSpPr>
            <a:spLocks xmlns:a="http://schemas.openxmlformats.org/drawingml/2006/main" noGrp="1"/>
          </p:cNvSpPr>
          <p:nvPr/>
        </p:nvSpPr>
        <p:spPr>
          <a:xfrm xmlns:a="http://schemas.openxmlformats.org/drawingml/2006/main">
            <a:off x="1809750" y="1714500"/>
            <a:ext cx="8572500" cy="1333500"/>
          </a:xfrm>
          <a:prstGeom xmlns:a="http://schemas.openxmlformats.org/drawingml/2006/main" prst="roundRect">
            <a:avLst>
              <a:gd name="adj" fmla="val 571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8006DE-D0E3-45F8-ACCC-D6B83B2824B7}"/>
              </a:ext>
            </a:extLst>
          </p:cNvPr>
          <p:cNvSpPr>
            <a:spLocks xmlns:a="http://schemas.openxmlformats.org/drawingml/2006/main" noGrp="1"/>
          </p:cNvSpPr>
          <p:nvPr/>
        </p:nvSpPr>
        <p:spPr>
          <a:xfrm xmlns:a="http://schemas.openxmlformats.org/drawingml/2006/main">
            <a:off x="2019300" y="1828800"/>
            <a:ext cx="815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TERMINAL</a:t>
            </a:r>
          </a:p>
        </p:txBody>
      </p:sp>
      <p:sp>
        <p:nvSpPr>
          <p:cNvPr id="8" name="">
            <a:extLst xmlns:a="http://schemas.openxmlformats.org/drawingml/2006/main">
              <a:ext uri="{FF2B5EF4-FFF2-40B4-BE49-F238E27FC236}">
                <a16:creationId xmlns:a16="http://schemas.microsoft.com/office/drawing/2014/main" id="{BF39ABAA-45DA-4B1D-8E5B-CC7AF0279590}"/>
              </a:ext>
            </a:extLst>
          </p:cNvPr>
          <p:cNvSpPr>
            <a:spLocks xmlns:a="http://schemas.openxmlformats.org/drawingml/2006/main" noGrp="1"/>
          </p:cNvSpPr>
          <p:nvPr/>
        </p:nvSpPr>
        <p:spPr>
          <a:xfrm xmlns:a="http://schemas.openxmlformats.org/drawingml/2006/main">
            <a:off x="2019300" y="2114550"/>
            <a:ext cx="8153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makemigrations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migrate</a:t>
            </a:r>
          </a:p>
        </p:txBody>
      </p:sp>
      <p:sp>
        <p:nvSpPr>
          <p:cNvPr id="9" name="">
            <a:extLst xmlns:a="http://schemas.openxmlformats.org/drawingml/2006/main">
              <a:ext uri="{FF2B5EF4-FFF2-40B4-BE49-F238E27FC236}">
                <a16:creationId xmlns:a16="http://schemas.microsoft.com/office/drawing/2014/main" id="{C1118979-1B5D-4D5F-ABED-0FEBBBE49B44}"/>
              </a:ext>
            </a:extLst>
          </p:cNvPr>
          <p:cNvSpPr>
            <a:spLocks xmlns:a="http://schemas.openxmlformats.org/drawingml/2006/main" noGrp="1"/>
          </p:cNvSpPr>
          <p:nvPr/>
        </p:nvSpPr>
        <p:spPr>
          <a:xfrm xmlns:a="http://schemas.openxmlformats.org/drawingml/2006/main">
            <a:off x="857250" y="3667125"/>
            <a:ext cx="4762500" cy="1619250"/>
          </a:xfrm>
          <a:prstGeom xmlns:a="http://schemas.openxmlformats.org/drawingml/2006/main" prst="roundRect">
            <a:avLst>
              <a:gd name="adj" fmla="val 4706"/>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A52AE906-6CBE-4936-A15A-7B7D40B6A4A7}"/>
              </a:ext>
            </a:extLst>
          </p:cNvPr>
          <p:cNvSpPr>
            <a:spLocks xmlns:a="http://schemas.openxmlformats.org/drawingml/2006/main" noGrp="1"/>
          </p:cNvSpPr>
          <p:nvPr/>
        </p:nvSpPr>
        <p:spPr>
          <a:xfrm xmlns:a="http://schemas.openxmlformats.org/drawingml/2006/main">
            <a:off x="857250" y="3667125"/>
            <a:ext cx="76200" cy="1619250"/>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C15369-8526-4B21-8798-753CBD7B1241}"/>
              </a:ext>
            </a:extLst>
          </p:cNvPr>
          <p:cNvSpPr>
            <a:spLocks xmlns:a="http://schemas.openxmlformats.org/drawingml/2006/main" noGrp="1"/>
          </p:cNvSpPr>
          <p:nvPr/>
        </p:nvSpPr>
        <p:spPr>
          <a:xfrm xmlns:a="http://schemas.openxmlformats.org/drawingml/2006/main">
            <a:off x="1123950" y="3838575"/>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makemigrations</a:t>
            </a:r>
          </a:p>
        </p:txBody>
      </p:sp>
      <p:sp>
        <p:nvSpPr>
          <p:cNvPr id="12" name="">
            <a:extLst xmlns:a="http://schemas.openxmlformats.org/drawingml/2006/main">
              <a:ext uri="{FF2B5EF4-FFF2-40B4-BE49-F238E27FC236}">
                <a16:creationId xmlns:a16="http://schemas.microsoft.com/office/drawing/2014/main" id="{731AE0B5-4330-408A-913F-138C3AEED558}"/>
              </a:ext>
            </a:extLst>
          </p:cNvPr>
          <p:cNvSpPr>
            <a:spLocks xmlns:a="http://schemas.openxmlformats.org/drawingml/2006/main" noGrp="1"/>
          </p:cNvSpPr>
          <p:nvPr/>
        </p:nvSpPr>
        <p:spPr>
          <a:xfrm xmlns:a="http://schemas.openxmlformats.org/drawingml/2006/main">
            <a:off x="1123950" y="4219575"/>
            <a:ext cx="4305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Django examines the models and writes instructions for the changes.</a:t>
            </a:r>
          </a:p>
        </p:txBody>
      </p:sp>
      <p:sp>
        <p:nvSpPr>
          <p:cNvPr id="13" name="">
            <a:extLst xmlns:a="http://schemas.openxmlformats.org/drawingml/2006/main">
              <a:ext uri="{FF2B5EF4-FFF2-40B4-BE49-F238E27FC236}">
                <a16:creationId xmlns:a16="http://schemas.microsoft.com/office/drawing/2014/main" id="{6B894F40-39A1-4ED2-AD07-8E373336AF25}"/>
              </a:ext>
            </a:extLst>
          </p:cNvPr>
          <p:cNvSpPr>
            <a:spLocks xmlns:a="http://schemas.openxmlformats.org/drawingml/2006/main" noGrp="1"/>
          </p:cNvSpPr>
          <p:nvPr/>
        </p:nvSpPr>
        <p:spPr>
          <a:xfrm xmlns:a="http://schemas.openxmlformats.org/drawingml/2006/main">
            <a:off x="6572250" y="3667125"/>
            <a:ext cx="4762500" cy="1619250"/>
          </a:xfrm>
          <a:prstGeom xmlns:a="http://schemas.openxmlformats.org/drawingml/2006/main" prst="roundRect">
            <a:avLst>
              <a:gd name="adj" fmla="val 4706"/>
            </a:avLst>
          </a:prstGeom>
          <a:solidFill xmlns:a="http://schemas.openxmlformats.org/drawingml/2006/main">
            <a:srgbClr val="F4F8FB"/>
          </a:solidFill>
          <a:ln xmlns:a="http://schemas.openxmlformats.org/drawingml/2006/main" w="9525">
            <a:solidFill>
              <a:srgbClr val="C9D8E5"/>
            </a:solidFill>
          </a:ln>
        </p:spPr>
      </p:sp>
      <p:sp>
        <p:nvSpPr>
          <p:cNvPr id="14" name="">
            <a:extLst xmlns:a="http://schemas.openxmlformats.org/drawingml/2006/main">
              <a:ext uri="{FF2B5EF4-FFF2-40B4-BE49-F238E27FC236}">
                <a16:creationId xmlns:a16="http://schemas.microsoft.com/office/drawing/2014/main" id="{93A45526-3CDA-4894-91A1-60991940DCEC}"/>
              </a:ext>
            </a:extLst>
          </p:cNvPr>
          <p:cNvSpPr>
            <a:spLocks xmlns:a="http://schemas.openxmlformats.org/drawingml/2006/main" noGrp="1"/>
          </p:cNvSpPr>
          <p:nvPr/>
        </p:nvSpPr>
        <p:spPr>
          <a:xfrm xmlns:a="http://schemas.openxmlformats.org/drawingml/2006/main">
            <a:off x="6572250" y="3667125"/>
            <a:ext cx="76200" cy="16192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8414EB5-6650-447B-9D94-C60024DA78EE}"/>
              </a:ext>
            </a:extLst>
          </p:cNvPr>
          <p:cNvSpPr>
            <a:spLocks xmlns:a="http://schemas.openxmlformats.org/drawingml/2006/main" noGrp="1"/>
          </p:cNvSpPr>
          <p:nvPr/>
        </p:nvSpPr>
        <p:spPr>
          <a:xfrm xmlns:a="http://schemas.openxmlformats.org/drawingml/2006/main">
            <a:off x="6838950" y="3838575"/>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migrate</a:t>
            </a:r>
          </a:p>
        </p:txBody>
      </p:sp>
      <p:sp>
        <p:nvSpPr>
          <p:cNvPr id="16" name="">
            <a:extLst xmlns:a="http://schemas.openxmlformats.org/drawingml/2006/main">
              <a:ext uri="{FF2B5EF4-FFF2-40B4-BE49-F238E27FC236}">
                <a16:creationId xmlns:a16="http://schemas.microsoft.com/office/drawing/2014/main" id="{51E47472-2893-4849-9D2F-34CFEAE853A6}"/>
              </a:ext>
            </a:extLst>
          </p:cNvPr>
          <p:cNvSpPr>
            <a:spLocks xmlns:a="http://schemas.openxmlformats.org/drawingml/2006/main" noGrp="1"/>
          </p:cNvSpPr>
          <p:nvPr/>
        </p:nvSpPr>
        <p:spPr>
          <a:xfrm xmlns:a="http://schemas.openxmlformats.org/drawingml/2006/main">
            <a:off x="6838950" y="4219575"/>
            <a:ext cx="4305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Django executes those instructions and creates or updates the tables.</a:t>
            </a:r>
          </a:p>
        </p:txBody>
      </p:sp>
      <p:sp>
        <p:nvSpPr>
          <p:cNvPr id="17" name="">
            <a:extLst xmlns:a="http://schemas.openxmlformats.org/drawingml/2006/main">
              <a:ext uri="{FF2B5EF4-FFF2-40B4-BE49-F238E27FC236}">
                <a16:creationId xmlns:a16="http://schemas.microsoft.com/office/drawing/2014/main" id="{183E103B-0C85-453B-9F58-7242D8B3F514}"/>
              </a:ext>
            </a:extLst>
          </p:cNvPr>
          <p:cNvSpPr>
            <a:spLocks xmlns:a="http://schemas.openxmlformats.org/drawingml/2006/main" noGrp="1"/>
          </p:cNvSpPr>
          <p:nvPr/>
        </p:nvSpPr>
        <p:spPr>
          <a:xfrm xmlns:a="http://schemas.openxmlformats.org/drawingml/2006/main">
            <a:off x="1524000" y="566737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a:solidFill>
                  <a:srgbClr val="082A4A"/>
                </a:solidFill>
                <a:latin typeface="DejaVu Sans"/>
                <a:ea typeface="DejaVu Sans"/>
                <a:cs typeface="DejaVu Sans"/>
              </a:defRPr>
            </a:pPr>
            <a:r>
              <a:rPr sz="1500" b="1">
                <a:solidFill>
                  <a:srgbClr val="082A4A"/>
                </a:solidFill>
                <a:latin typeface="DejaVu Sans"/>
                <a:ea typeface="DejaVu Sans"/>
                <a:cs typeface="DejaVu Sans"/>
              </a:rPr>
              <a:t>Model = plan     Migration = instructions     Database = finished structure</a:t>
            </a:r>
          </a:p>
        </p:txBody>
      </p:sp>
    </p:spTree>
    <p:extLst>
      <p:ext uri="{BB962C8B-B14F-4D97-AF65-F5344CB8AC3E}">
        <p14:creationId xmlns:p14="http://schemas.microsoft.com/office/powerpoint/2010/main" val="1576500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80E1C3-F0E5-4C3B-99F0-9731B1A4932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99788D-2A76-47A2-ACCE-61D300CCCCBE}"/>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86BF5AA6-BE2B-4BCA-ACCF-30568E4643B6}"/>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Django admin gives us a ready-made data screen</a:t>
            </a:r>
          </a:p>
        </p:txBody>
      </p:sp>
      <p:sp>
        <p:nvSpPr>
          <p:cNvPr id="4" name="">
            <a:extLst xmlns:a="http://schemas.openxmlformats.org/drawingml/2006/main">
              <a:ext uri="{FF2B5EF4-FFF2-40B4-BE49-F238E27FC236}">
                <a16:creationId xmlns:a16="http://schemas.microsoft.com/office/drawing/2014/main" id="{E34F049E-3665-4555-B1C0-5104D1941CE4}"/>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ECC341-364F-4C3E-9A27-F43F23B07330}"/>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19</a:t>
            </a:r>
          </a:p>
        </p:txBody>
      </p:sp>
      <p:sp>
        <p:nvSpPr>
          <p:cNvPr id="6" name="">
            <a:extLst xmlns:a="http://schemas.openxmlformats.org/drawingml/2006/main">
              <a:ext uri="{FF2B5EF4-FFF2-40B4-BE49-F238E27FC236}">
                <a16:creationId xmlns:a16="http://schemas.microsoft.com/office/drawing/2014/main" id="{39273DA9-2AB6-4A10-8F63-A2D2A9415B18}"/>
              </a:ext>
            </a:extLst>
          </p:cNvPr>
          <p:cNvSpPr>
            <a:spLocks xmlns:a="http://schemas.openxmlformats.org/drawingml/2006/main" noGrp="1"/>
          </p:cNvSpPr>
          <p:nvPr/>
        </p:nvSpPr>
        <p:spPr>
          <a:xfrm xmlns:a="http://schemas.openxmlformats.org/drawingml/2006/main">
            <a:off x="666750" y="1619250"/>
            <a:ext cx="4953000" cy="1714500"/>
          </a:xfrm>
          <a:prstGeom xmlns:a="http://schemas.openxmlformats.org/drawingml/2006/main" prst="roundRect">
            <a:avLst>
              <a:gd name="adj" fmla="val 444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FF362C-2DDE-433F-841A-B0897495AA6E}"/>
              </a:ext>
            </a:extLst>
          </p:cNvPr>
          <p:cNvSpPr>
            <a:spLocks xmlns:a="http://schemas.openxmlformats.org/drawingml/2006/main" noGrp="1"/>
          </p:cNvSpPr>
          <p:nvPr/>
        </p:nvSpPr>
        <p:spPr>
          <a:xfrm xmlns:a="http://schemas.openxmlformats.org/drawingml/2006/main">
            <a:off x="876300" y="1733550"/>
            <a:ext cx="453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students/admin.py</a:t>
            </a:r>
          </a:p>
        </p:txBody>
      </p:sp>
      <p:sp>
        <p:nvSpPr>
          <p:cNvPr id="8" name="">
            <a:extLst xmlns:a="http://schemas.openxmlformats.org/drawingml/2006/main">
              <a:ext uri="{FF2B5EF4-FFF2-40B4-BE49-F238E27FC236}">
                <a16:creationId xmlns:a16="http://schemas.microsoft.com/office/drawing/2014/main" id="{FB3F9332-7845-4ABF-927B-6FEF2BE09FE6}"/>
              </a:ext>
            </a:extLst>
          </p:cNvPr>
          <p:cNvSpPr>
            <a:spLocks xmlns:a="http://schemas.openxmlformats.org/drawingml/2006/main" noGrp="1"/>
          </p:cNvSpPr>
          <p:nvPr/>
        </p:nvSpPr>
        <p:spPr>
          <a:xfrm xmlns:a="http://schemas.openxmlformats.org/drawingml/2006/main">
            <a:off x="876300" y="2019300"/>
            <a:ext cx="45339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django.contrib import admin</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.models import Student</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admin.site.register(Student)</a:t>
            </a:r>
          </a:p>
        </p:txBody>
      </p:sp>
      <p:sp>
        <p:nvSpPr>
          <p:cNvPr id="9" name="">
            <a:extLst xmlns:a="http://schemas.openxmlformats.org/drawingml/2006/main">
              <a:ext uri="{FF2B5EF4-FFF2-40B4-BE49-F238E27FC236}">
                <a16:creationId xmlns:a16="http://schemas.microsoft.com/office/drawing/2014/main" id="{B32794B8-E3CF-4558-8987-0D64CB817B49}"/>
              </a:ext>
            </a:extLst>
          </p:cNvPr>
          <p:cNvSpPr>
            <a:spLocks xmlns:a="http://schemas.openxmlformats.org/drawingml/2006/main" noGrp="1"/>
          </p:cNvSpPr>
          <p:nvPr/>
        </p:nvSpPr>
        <p:spPr>
          <a:xfrm xmlns:a="http://schemas.openxmlformats.org/drawingml/2006/main">
            <a:off x="6191250" y="1619250"/>
            <a:ext cx="5334000" cy="1333500"/>
          </a:xfrm>
          <a:prstGeom xmlns:a="http://schemas.openxmlformats.org/drawingml/2006/main" prst="roundRect">
            <a:avLst>
              <a:gd name="adj" fmla="val 5714"/>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A8F730-9425-4C28-9F0F-EC3BD7FF1733}"/>
              </a:ext>
            </a:extLst>
          </p:cNvPr>
          <p:cNvSpPr>
            <a:spLocks xmlns:a="http://schemas.openxmlformats.org/drawingml/2006/main" noGrp="1"/>
          </p:cNvSpPr>
          <p:nvPr/>
        </p:nvSpPr>
        <p:spPr>
          <a:xfrm xmlns:a="http://schemas.openxmlformats.org/drawingml/2006/main">
            <a:off x="6400800" y="17335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TERMINAL</a:t>
            </a:r>
          </a:p>
        </p:txBody>
      </p:sp>
      <p:sp>
        <p:nvSpPr>
          <p:cNvPr id="11" name="">
            <a:extLst xmlns:a="http://schemas.openxmlformats.org/drawingml/2006/main">
              <a:ext uri="{FF2B5EF4-FFF2-40B4-BE49-F238E27FC236}">
                <a16:creationId xmlns:a16="http://schemas.microsoft.com/office/drawing/2014/main" id="{AE817518-390F-4983-8C0F-A5A151A6C7C8}"/>
              </a:ext>
            </a:extLst>
          </p:cNvPr>
          <p:cNvSpPr>
            <a:spLocks xmlns:a="http://schemas.openxmlformats.org/drawingml/2006/main" noGrp="1"/>
          </p:cNvSpPr>
          <p:nvPr/>
        </p:nvSpPr>
        <p:spPr>
          <a:xfrm xmlns:a="http://schemas.openxmlformats.org/drawingml/2006/main">
            <a:off x="6400800" y="2019300"/>
            <a:ext cx="4914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createsuperuser</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runserver</a:t>
            </a:r>
          </a:p>
        </p:txBody>
      </p:sp>
      <p:sp>
        <p:nvSpPr>
          <p:cNvPr id="12" name="">
            <a:extLst xmlns:a="http://schemas.openxmlformats.org/drawingml/2006/main">
              <a:ext uri="{FF2B5EF4-FFF2-40B4-BE49-F238E27FC236}">
                <a16:creationId xmlns:a16="http://schemas.microsoft.com/office/drawing/2014/main" id="{56CC3341-6318-410F-A600-EFA925E035B1}"/>
              </a:ext>
            </a:extLst>
          </p:cNvPr>
          <p:cNvSpPr>
            <a:spLocks xmlns:a="http://schemas.openxmlformats.org/drawingml/2006/main" noGrp="1"/>
          </p:cNvSpPr>
          <p:nvPr/>
        </p:nvSpPr>
        <p:spPr>
          <a:xfrm xmlns:a="http://schemas.openxmlformats.org/drawingml/2006/main">
            <a:off x="666750" y="3905250"/>
            <a:ext cx="10858500" cy="1428750"/>
          </a:xfrm>
          <a:prstGeom xmlns:a="http://schemas.openxmlformats.org/drawingml/2006/main" prst="roundRect">
            <a:avLst>
              <a:gd name="adj" fmla="val 5333"/>
            </a:avLst>
          </a:prstGeom>
          <a:solidFill xmlns:a="http://schemas.openxmlformats.org/drawingml/2006/main">
            <a:srgbClr val="F4F8FB"/>
          </a:solidFill>
          <a:ln xmlns:a="http://schemas.openxmlformats.org/drawingml/2006/main" w="9525">
            <a:solidFill>
              <a:srgbClr val="C9D8E5"/>
            </a:solidFill>
          </a:ln>
        </p:spPr>
      </p:sp>
      <p:sp>
        <p:nvSpPr>
          <p:cNvPr id="13" name="">
            <a:extLst xmlns:a="http://schemas.openxmlformats.org/drawingml/2006/main">
              <a:ext uri="{FF2B5EF4-FFF2-40B4-BE49-F238E27FC236}">
                <a16:creationId xmlns:a16="http://schemas.microsoft.com/office/drawing/2014/main" id="{BA3E1BB3-9149-450F-9BEF-6AE3605E9A97}"/>
              </a:ext>
            </a:extLst>
          </p:cNvPr>
          <p:cNvSpPr>
            <a:spLocks xmlns:a="http://schemas.openxmlformats.org/drawingml/2006/main" noGrp="1"/>
          </p:cNvSpPr>
          <p:nvPr/>
        </p:nvSpPr>
        <p:spPr>
          <a:xfrm xmlns:a="http://schemas.openxmlformats.org/drawingml/2006/main">
            <a:off x="666750" y="3905250"/>
            <a:ext cx="76200" cy="14287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5A96F7-30BE-419A-8D80-91BAD3598874}"/>
              </a:ext>
            </a:extLst>
          </p:cNvPr>
          <p:cNvSpPr>
            <a:spLocks xmlns:a="http://schemas.openxmlformats.org/drawingml/2006/main" noGrp="1"/>
          </p:cNvSpPr>
          <p:nvPr/>
        </p:nvSpPr>
        <p:spPr>
          <a:xfrm xmlns:a="http://schemas.openxmlformats.org/drawingml/2006/main">
            <a:off x="933450" y="4076700"/>
            <a:ext cx="10401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Class demonstration</a:t>
            </a:r>
          </a:p>
        </p:txBody>
      </p:sp>
      <p:sp>
        <p:nvSpPr>
          <p:cNvPr id="15" name="">
            <a:extLst xmlns:a="http://schemas.openxmlformats.org/drawingml/2006/main">
              <a:ext uri="{FF2B5EF4-FFF2-40B4-BE49-F238E27FC236}">
                <a16:creationId xmlns:a16="http://schemas.microsoft.com/office/drawing/2014/main" id="{BADE44FE-38A7-4851-BA88-EC47DD113FC4}"/>
              </a:ext>
            </a:extLst>
          </p:cNvPr>
          <p:cNvSpPr>
            <a:spLocks xmlns:a="http://schemas.openxmlformats.org/drawingml/2006/main" noGrp="1"/>
          </p:cNvSpPr>
          <p:nvPr/>
        </p:nvSpPr>
        <p:spPr>
          <a:xfrm xmlns:a="http://schemas.openxmlformats.org/drawingml/2006/main">
            <a:off x="933450" y="4457700"/>
            <a:ext cx="1040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Open /admin, sign in, add a student and upload a profile picture. Then inspect media/student_profiles/.</a:t>
            </a:r>
          </a:p>
        </p:txBody>
      </p:sp>
    </p:spTree>
    <p:extLst>
      <p:ext uri="{BB962C8B-B14F-4D97-AF65-F5344CB8AC3E}">
        <p14:creationId xmlns:p14="http://schemas.microsoft.com/office/powerpoint/2010/main" val="10541664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4F433F-0A1C-4CE5-8D38-B455503BC8D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47250C-0898-4B06-B5F2-C27AEB8015AE}"/>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 + MEDIA</a:t>
            </a:r>
          </a:p>
        </p:txBody>
      </p:sp>
      <p:sp>
        <p:nvSpPr>
          <p:cNvPr id="3" name="">
            <a:extLst xmlns:a="http://schemas.openxmlformats.org/drawingml/2006/main">
              <a:ext uri="{FF2B5EF4-FFF2-40B4-BE49-F238E27FC236}">
                <a16:creationId xmlns:a16="http://schemas.microsoft.com/office/drawing/2014/main" id="{7F84F382-393B-49D2-8F9C-347FEC26F938}"/>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image file and its path live in different places</a:t>
            </a:r>
          </a:p>
        </p:txBody>
      </p:sp>
      <p:sp>
        <p:nvSpPr>
          <p:cNvPr id="4" name="">
            <a:extLst xmlns:a="http://schemas.openxmlformats.org/drawingml/2006/main">
              <a:ext uri="{FF2B5EF4-FFF2-40B4-BE49-F238E27FC236}">
                <a16:creationId xmlns:a16="http://schemas.microsoft.com/office/drawing/2014/main" id="{27B434D4-E470-4C48-A124-D03506B33CD3}"/>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51EB6A-3160-4A75-A20B-AAE1D2392006}"/>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20</a:t>
            </a:r>
          </a:p>
        </p:txBody>
      </p:sp>
      <p:sp>
        <p:nvSpPr>
          <p:cNvPr id="6" name="">
            <a:extLst xmlns:a="http://schemas.openxmlformats.org/drawingml/2006/main">
              <a:ext uri="{FF2B5EF4-FFF2-40B4-BE49-F238E27FC236}">
                <a16:creationId xmlns:a16="http://schemas.microsoft.com/office/drawing/2014/main" id="{65CC5E18-348C-46FD-91A1-3E75368A21A2}"/>
              </a:ext>
            </a:extLst>
          </p:cNvPr>
          <p:cNvSpPr>
            <a:spLocks xmlns:a="http://schemas.openxmlformats.org/drawingml/2006/main" noGrp="1"/>
          </p:cNvSpPr>
          <p:nvPr/>
        </p:nvSpPr>
        <p:spPr>
          <a:xfrm xmlns:a="http://schemas.openxmlformats.org/drawingml/2006/main">
            <a:off x="762000" y="1809750"/>
            <a:ext cx="4762500" cy="2571750"/>
          </a:xfrm>
          <a:prstGeom xmlns:a="http://schemas.openxmlformats.org/drawingml/2006/main" prst="roundRect">
            <a:avLst>
              <a:gd name="adj" fmla="val 2963"/>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1F410AF1-48DE-4AB7-8F60-3C95768E9F79}"/>
              </a:ext>
            </a:extLst>
          </p:cNvPr>
          <p:cNvSpPr>
            <a:spLocks xmlns:a="http://schemas.openxmlformats.org/drawingml/2006/main" noGrp="1"/>
          </p:cNvSpPr>
          <p:nvPr/>
        </p:nvSpPr>
        <p:spPr>
          <a:xfrm xmlns:a="http://schemas.openxmlformats.org/drawingml/2006/main">
            <a:off x="762000" y="1809750"/>
            <a:ext cx="76200" cy="25717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4EE577-40DC-44C0-923A-245639337EE7}"/>
              </a:ext>
            </a:extLst>
          </p:cNvPr>
          <p:cNvSpPr>
            <a:spLocks xmlns:a="http://schemas.openxmlformats.org/drawingml/2006/main" noGrp="1"/>
          </p:cNvSpPr>
          <p:nvPr/>
        </p:nvSpPr>
        <p:spPr>
          <a:xfrm xmlns:a="http://schemas.openxmlformats.org/drawingml/2006/main">
            <a:off x="1028700" y="19812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File system</a:t>
            </a:r>
          </a:p>
        </p:txBody>
      </p:sp>
      <p:sp>
        <p:nvSpPr>
          <p:cNvPr id="9" name="">
            <a:extLst xmlns:a="http://schemas.openxmlformats.org/drawingml/2006/main">
              <a:ext uri="{FF2B5EF4-FFF2-40B4-BE49-F238E27FC236}">
                <a16:creationId xmlns:a16="http://schemas.microsoft.com/office/drawing/2014/main" id="{F5247B1A-9A8E-4EBC-890E-C955B67B6767}"/>
              </a:ext>
            </a:extLst>
          </p:cNvPr>
          <p:cNvSpPr>
            <a:spLocks xmlns:a="http://schemas.openxmlformats.org/drawingml/2006/main" noGrp="1"/>
          </p:cNvSpPr>
          <p:nvPr/>
        </p:nvSpPr>
        <p:spPr>
          <a:xfrm xmlns:a="http://schemas.openxmlformats.org/drawingml/2006/main">
            <a:off x="1028700" y="2362200"/>
            <a:ext cx="43053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media/student_profiles/ada.jpg</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Contains the actual image bytes.</a:t>
            </a:r>
          </a:p>
        </p:txBody>
      </p:sp>
      <p:sp>
        <p:nvSpPr>
          <p:cNvPr id="10" name="">
            <a:extLst xmlns:a="http://schemas.openxmlformats.org/drawingml/2006/main">
              <a:ext uri="{FF2B5EF4-FFF2-40B4-BE49-F238E27FC236}">
                <a16:creationId xmlns:a16="http://schemas.microsoft.com/office/drawing/2014/main" id="{4F6B7042-3176-4434-BE0F-511E6E2B61A1}"/>
              </a:ext>
            </a:extLst>
          </p:cNvPr>
          <p:cNvSpPr>
            <a:spLocks xmlns:a="http://schemas.openxmlformats.org/drawingml/2006/main" noGrp="1"/>
          </p:cNvSpPr>
          <p:nvPr/>
        </p:nvSpPr>
        <p:spPr>
          <a:xfrm xmlns:a="http://schemas.openxmlformats.org/drawingml/2006/main">
            <a:off x="6667500" y="1809750"/>
            <a:ext cx="4762500" cy="2571750"/>
          </a:xfrm>
          <a:prstGeom xmlns:a="http://schemas.openxmlformats.org/drawingml/2006/main" prst="roundRect">
            <a:avLst>
              <a:gd name="adj" fmla="val 2963"/>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7C0302D1-1A3E-4CC9-B66E-129D123CEFBF}"/>
              </a:ext>
            </a:extLst>
          </p:cNvPr>
          <p:cNvSpPr>
            <a:spLocks xmlns:a="http://schemas.openxmlformats.org/drawingml/2006/main" noGrp="1"/>
          </p:cNvSpPr>
          <p:nvPr/>
        </p:nvSpPr>
        <p:spPr>
          <a:xfrm xmlns:a="http://schemas.openxmlformats.org/drawingml/2006/main">
            <a:off x="6667500" y="1809750"/>
            <a:ext cx="76200" cy="25717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7D605D-6C48-4ACA-996A-909C483E331E}"/>
              </a:ext>
            </a:extLst>
          </p:cNvPr>
          <p:cNvSpPr>
            <a:spLocks xmlns:a="http://schemas.openxmlformats.org/drawingml/2006/main" noGrp="1"/>
          </p:cNvSpPr>
          <p:nvPr/>
        </p:nvSpPr>
        <p:spPr>
          <a:xfrm xmlns:a="http://schemas.openxmlformats.org/drawingml/2006/main">
            <a:off x="6934200" y="19812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Database</a:t>
            </a:r>
          </a:p>
        </p:txBody>
      </p:sp>
      <p:sp>
        <p:nvSpPr>
          <p:cNvPr id="13" name="">
            <a:extLst xmlns:a="http://schemas.openxmlformats.org/drawingml/2006/main">
              <a:ext uri="{FF2B5EF4-FFF2-40B4-BE49-F238E27FC236}">
                <a16:creationId xmlns:a16="http://schemas.microsoft.com/office/drawing/2014/main" id="{A59C59A5-C6EE-4643-B5E7-573BB26DF09F}"/>
              </a:ext>
            </a:extLst>
          </p:cNvPr>
          <p:cNvSpPr>
            <a:spLocks xmlns:a="http://schemas.openxmlformats.org/drawingml/2006/main" noGrp="1"/>
          </p:cNvSpPr>
          <p:nvPr/>
        </p:nvSpPr>
        <p:spPr>
          <a:xfrm xmlns:a="http://schemas.openxmlformats.org/drawingml/2006/main">
            <a:off x="6934200" y="2362200"/>
            <a:ext cx="43053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student_profiles/ada.jpg</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Stores the path that points to the image.</a:t>
            </a:r>
          </a:p>
        </p:txBody>
      </p:sp>
      <p:sp>
        <p:nvSpPr>
          <p:cNvPr id="14" name="">
            <a:extLst xmlns:a="http://schemas.openxmlformats.org/drawingml/2006/main">
              <a:ext uri="{FF2B5EF4-FFF2-40B4-BE49-F238E27FC236}">
                <a16:creationId xmlns:a16="http://schemas.microsoft.com/office/drawing/2014/main" id="{D3B03A41-8B40-4DC2-98E1-C040C27A5BA3}"/>
              </a:ext>
            </a:extLst>
          </p:cNvPr>
          <p:cNvSpPr>
            <a:spLocks xmlns:a="http://schemas.openxmlformats.org/drawingml/2006/main" noGrp="1"/>
          </p:cNvSpPr>
          <p:nvPr/>
        </p:nvSpPr>
        <p:spPr>
          <a:xfrm xmlns:a="http://schemas.openxmlformats.org/drawingml/2006/main">
            <a:off x="5286375" y="2809875"/>
            <a:ext cx="1619250" cy="171450"/>
          </a:xfrm>
          <a:prstGeom xmlns:a="http://schemas.openxmlformats.org/drawingml/2006/main" prst="roundRect">
            <a:avLst>
              <a:gd name="adj" fmla="val 44444"/>
            </a:avLst>
          </a:prstGeom>
          <a:solidFill xmlns:a="http://schemas.openxmlformats.org/drawingml/2006/main">
            <a:srgbClr val="16A3C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0D74B5-9AE6-4DDF-913C-821F73C11829}"/>
              </a:ext>
            </a:extLst>
          </p:cNvPr>
          <p:cNvSpPr>
            <a:spLocks xmlns:a="http://schemas.openxmlformats.org/drawingml/2006/main" noGrp="1"/>
          </p:cNvSpPr>
          <p:nvPr/>
        </p:nvSpPr>
        <p:spPr>
          <a:xfrm xmlns:a="http://schemas.openxmlformats.org/drawingml/2006/main">
            <a:off x="5095875" y="3143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6A3C7"/>
                </a:solidFill>
                <a:latin typeface="DejaVu Sans"/>
                <a:ea typeface="DejaVu Sans"/>
                <a:cs typeface="DejaVu Sans"/>
              </a:defRPr>
            </a:pPr>
            <a:r>
              <a:rPr sz="1200" b="1">
                <a:solidFill>
                  <a:srgbClr val="16A3C7"/>
                </a:solidFill>
                <a:latin typeface="DejaVu Sans"/>
                <a:ea typeface="DejaVu Sans"/>
                <a:cs typeface="DejaVu Sans"/>
              </a:rPr>
              <a:t>CONNECTED</a:t>
            </a:r>
          </a:p>
        </p:txBody>
      </p:sp>
      <p:sp>
        <p:nvSpPr>
          <p:cNvPr id="16" name="">
            <a:extLst xmlns:a="http://schemas.openxmlformats.org/drawingml/2006/main">
              <a:ext uri="{FF2B5EF4-FFF2-40B4-BE49-F238E27FC236}">
                <a16:creationId xmlns:a16="http://schemas.microsoft.com/office/drawing/2014/main" id="{72BF8889-7289-4275-B3EF-0CD4F8A2E756}"/>
              </a:ext>
            </a:extLst>
          </p:cNvPr>
          <p:cNvSpPr>
            <a:spLocks xmlns:a="http://schemas.openxmlformats.org/drawingml/2006/main" noGrp="1"/>
          </p:cNvSpPr>
          <p:nvPr/>
        </p:nvSpPr>
        <p:spPr>
          <a:xfrm xmlns:a="http://schemas.openxmlformats.org/drawingml/2006/main">
            <a:off x="1619250" y="5095875"/>
            <a:ext cx="895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82A4A"/>
                </a:solidFill>
                <a:latin typeface="DejaVu Sans"/>
                <a:ea typeface="DejaVu Sans"/>
                <a:cs typeface="DejaVu Sans"/>
              </a:defRPr>
            </a:pPr>
            <a:r>
              <a:rPr sz="1800" b="1">
                <a:solidFill>
                  <a:srgbClr val="082A4A"/>
                </a:solidFill>
                <a:latin typeface="DejaVu Sans"/>
                <a:ea typeface="DejaVu Sans"/>
                <a:cs typeface="DejaVu Sans"/>
              </a:rPr>
              <a:t>Django uses the saved path to locate and display the uploaded file.</a:t>
            </a:r>
          </a:p>
        </p:txBody>
      </p:sp>
    </p:spTree>
    <p:extLst>
      <p:ext uri="{BB962C8B-B14F-4D97-AF65-F5344CB8AC3E}">
        <p14:creationId xmlns:p14="http://schemas.microsoft.com/office/powerpoint/2010/main" val="6375501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A4375A3-0BF3-4F34-80DC-D3239D7556E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236E3E-C31F-45FD-9CFA-BE9EBFCF6852}"/>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DATABASE</a:t>
            </a:r>
          </a:p>
        </p:txBody>
      </p:sp>
      <p:sp>
        <p:nvSpPr>
          <p:cNvPr id="3" name="">
            <a:extLst xmlns:a="http://schemas.openxmlformats.org/drawingml/2006/main">
              <a:ext uri="{FF2B5EF4-FFF2-40B4-BE49-F238E27FC236}">
                <a16:creationId xmlns:a16="http://schemas.microsoft.com/office/drawing/2014/main" id="{95BA921A-1635-447C-821F-8AE6820AB4AE}"/>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ORM lets Python work with the database</a:t>
            </a:r>
          </a:p>
        </p:txBody>
      </p:sp>
      <p:sp>
        <p:nvSpPr>
          <p:cNvPr id="4" name="">
            <a:extLst xmlns:a="http://schemas.openxmlformats.org/drawingml/2006/main">
              <a:ext uri="{FF2B5EF4-FFF2-40B4-BE49-F238E27FC236}">
                <a16:creationId xmlns:a16="http://schemas.microsoft.com/office/drawing/2014/main" id="{F495C44A-A0C6-4EBC-92CC-09C8FE87B8AF}"/>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15A61A-A1B5-46BE-8708-CA66B73563E4}"/>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75AC6AFA-456B-436A-9C52-A96F16702EE2}"/>
              </a:ext>
            </a:extLst>
          </p:cNvPr>
          <p:cNvSpPr>
            <a:spLocks xmlns:a="http://schemas.openxmlformats.org/drawingml/2006/main" noGrp="1"/>
          </p:cNvSpPr>
          <p:nvPr/>
        </p:nvSpPr>
        <p:spPr>
          <a:xfrm xmlns:a="http://schemas.openxmlformats.org/drawingml/2006/main">
            <a:off x="523875" y="1571625"/>
            <a:ext cx="2667000" cy="3810000"/>
          </a:xfrm>
          <a:prstGeom xmlns:a="http://schemas.openxmlformats.org/drawingml/2006/main" prst="roundRect">
            <a:avLst>
              <a:gd name="adj" fmla="val 2857"/>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4E213564-4BED-4903-88AA-32FC6038F14D}"/>
              </a:ext>
            </a:extLst>
          </p:cNvPr>
          <p:cNvSpPr>
            <a:spLocks xmlns:a="http://schemas.openxmlformats.org/drawingml/2006/main" noGrp="1"/>
          </p:cNvSpPr>
          <p:nvPr/>
        </p:nvSpPr>
        <p:spPr>
          <a:xfrm xmlns:a="http://schemas.openxmlformats.org/drawingml/2006/main">
            <a:off x="523875" y="1571625"/>
            <a:ext cx="2667000" cy="533400"/>
          </a:xfrm>
          <a:prstGeom xmlns:a="http://schemas.openxmlformats.org/drawingml/2006/main" prst="roundRect">
            <a:avLst>
              <a:gd name="adj" fmla="val 14286"/>
            </a:avLst>
          </a:prstGeom>
          <a:solidFill xmlns:a="http://schemas.openxmlformats.org/drawingml/2006/main">
            <a:srgbClr val="15805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F68886-624C-43AB-B2D3-58275C197401}"/>
              </a:ext>
            </a:extLst>
          </p:cNvPr>
          <p:cNvSpPr>
            <a:spLocks xmlns:a="http://schemas.openxmlformats.org/drawingml/2006/main" noGrp="1"/>
          </p:cNvSpPr>
          <p:nvPr/>
        </p:nvSpPr>
        <p:spPr>
          <a:xfrm xmlns:a="http://schemas.openxmlformats.org/drawingml/2006/main">
            <a:off x="666750" y="16478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CREATE</a:t>
            </a:r>
          </a:p>
        </p:txBody>
      </p:sp>
      <p:sp>
        <p:nvSpPr>
          <p:cNvPr id="9" name="">
            <a:extLst xmlns:a="http://schemas.openxmlformats.org/drawingml/2006/main">
              <a:ext uri="{FF2B5EF4-FFF2-40B4-BE49-F238E27FC236}">
                <a16:creationId xmlns:a16="http://schemas.microsoft.com/office/drawing/2014/main" id="{79A3234C-FC7F-4624-A3AB-10CCA36C71BC}"/>
              </a:ext>
            </a:extLst>
          </p:cNvPr>
          <p:cNvSpPr>
            <a:spLocks xmlns:a="http://schemas.openxmlformats.org/drawingml/2006/main" noGrp="1"/>
          </p:cNvSpPr>
          <p:nvPr/>
        </p:nvSpPr>
        <p:spPr>
          <a:xfrm xmlns:a="http://schemas.openxmlformats.org/drawingml/2006/main">
            <a:off x="714375" y="2381250"/>
            <a:ext cx="2286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Student.objects.create(</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    name="Ada Obi", age=20,</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    email="ada@example.com",</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    course="Backend Development"</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a:t>
            </a:r>
          </a:p>
        </p:txBody>
      </p:sp>
      <p:sp>
        <p:nvSpPr>
          <p:cNvPr id="10" name="">
            <a:extLst xmlns:a="http://schemas.openxmlformats.org/drawingml/2006/main">
              <a:ext uri="{FF2B5EF4-FFF2-40B4-BE49-F238E27FC236}">
                <a16:creationId xmlns:a16="http://schemas.microsoft.com/office/drawing/2014/main" id="{45E79B34-5269-4EC9-B6A7-6243F4C0085B}"/>
              </a:ext>
            </a:extLst>
          </p:cNvPr>
          <p:cNvSpPr>
            <a:spLocks xmlns:a="http://schemas.openxmlformats.org/drawingml/2006/main" noGrp="1"/>
          </p:cNvSpPr>
          <p:nvPr/>
        </p:nvSpPr>
        <p:spPr>
          <a:xfrm xmlns:a="http://schemas.openxmlformats.org/drawingml/2006/main">
            <a:off x="3429000" y="1571625"/>
            <a:ext cx="2667000" cy="3810000"/>
          </a:xfrm>
          <a:prstGeom xmlns:a="http://schemas.openxmlformats.org/drawingml/2006/main" prst="roundRect">
            <a:avLst>
              <a:gd name="adj" fmla="val 2857"/>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E2E611E6-E243-44F4-BE08-B3ED4023A507}"/>
              </a:ext>
            </a:extLst>
          </p:cNvPr>
          <p:cNvSpPr>
            <a:spLocks xmlns:a="http://schemas.openxmlformats.org/drawingml/2006/main" noGrp="1"/>
          </p:cNvSpPr>
          <p:nvPr/>
        </p:nvSpPr>
        <p:spPr>
          <a:xfrm xmlns:a="http://schemas.openxmlformats.org/drawingml/2006/main">
            <a:off x="3429000" y="1571625"/>
            <a:ext cx="2667000" cy="533400"/>
          </a:xfrm>
          <a:prstGeom xmlns:a="http://schemas.openxmlformats.org/drawingml/2006/main" prst="roundRect">
            <a:avLst>
              <a:gd name="adj" fmla="val 14286"/>
            </a:avLst>
          </a:prstGeom>
          <a:solidFill xmlns:a="http://schemas.openxmlformats.org/drawingml/2006/main">
            <a:srgbClr val="1261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A404D2-9E2E-41B8-B0B1-2F2EB343A7FE}"/>
              </a:ext>
            </a:extLst>
          </p:cNvPr>
          <p:cNvSpPr>
            <a:spLocks xmlns:a="http://schemas.openxmlformats.org/drawingml/2006/main" noGrp="1"/>
          </p:cNvSpPr>
          <p:nvPr/>
        </p:nvSpPr>
        <p:spPr>
          <a:xfrm xmlns:a="http://schemas.openxmlformats.org/drawingml/2006/main">
            <a:off x="3571875" y="16478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READ</a:t>
            </a:r>
          </a:p>
        </p:txBody>
      </p:sp>
      <p:sp>
        <p:nvSpPr>
          <p:cNvPr id="13" name="">
            <a:extLst xmlns:a="http://schemas.openxmlformats.org/drawingml/2006/main">
              <a:ext uri="{FF2B5EF4-FFF2-40B4-BE49-F238E27FC236}">
                <a16:creationId xmlns:a16="http://schemas.microsoft.com/office/drawing/2014/main" id="{6B9B3DE2-A529-4E67-B8C5-35973D5ADAD5}"/>
              </a:ext>
            </a:extLst>
          </p:cNvPr>
          <p:cNvSpPr>
            <a:spLocks xmlns:a="http://schemas.openxmlformats.org/drawingml/2006/main" noGrp="1"/>
          </p:cNvSpPr>
          <p:nvPr/>
        </p:nvSpPr>
        <p:spPr>
          <a:xfrm xmlns:a="http://schemas.openxmlformats.org/drawingml/2006/main">
            <a:off x="3619500" y="2381250"/>
            <a:ext cx="2286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Student.objects.all()</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Student.objects.get(id=1)</a:t>
            </a:r>
          </a:p>
        </p:txBody>
      </p:sp>
      <p:sp>
        <p:nvSpPr>
          <p:cNvPr id="14" name="">
            <a:extLst xmlns:a="http://schemas.openxmlformats.org/drawingml/2006/main">
              <a:ext uri="{FF2B5EF4-FFF2-40B4-BE49-F238E27FC236}">
                <a16:creationId xmlns:a16="http://schemas.microsoft.com/office/drawing/2014/main" id="{0BDB45FC-5528-4A4A-8F34-73EA497B43BD}"/>
              </a:ext>
            </a:extLst>
          </p:cNvPr>
          <p:cNvSpPr>
            <a:spLocks xmlns:a="http://schemas.openxmlformats.org/drawingml/2006/main" noGrp="1"/>
          </p:cNvSpPr>
          <p:nvPr/>
        </p:nvSpPr>
        <p:spPr>
          <a:xfrm xmlns:a="http://schemas.openxmlformats.org/drawingml/2006/main">
            <a:off x="6334125" y="1571625"/>
            <a:ext cx="2667000" cy="3810000"/>
          </a:xfrm>
          <a:prstGeom xmlns:a="http://schemas.openxmlformats.org/drawingml/2006/main" prst="roundRect">
            <a:avLst>
              <a:gd name="adj" fmla="val 2857"/>
            </a:avLst>
          </a:prstGeom>
          <a:solidFill xmlns:a="http://schemas.openxmlformats.org/drawingml/2006/main">
            <a:srgbClr val="F4F8FB"/>
          </a:solidFill>
          <a:ln xmlns:a="http://schemas.openxmlformats.org/drawingml/2006/main" w="9525">
            <a:solidFill>
              <a:srgbClr val="C9D8E5"/>
            </a:solidFill>
          </a:ln>
        </p:spPr>
      </p:sp>
      <p:sp>
        <p:nvSpPr>
          <p:cNvPr id="15" name="">
            <a:extLst xmlns:a="http://schemas.openxmlformats.org/drawingml/2006/main">
              <a:ext uri="{FF2B5EF4-FFF2-40B4-BE49-F238E27FC236}">
                <a16:creationId xmlns:a16="http://schemas.microsoft.com/office/drawing/2014/main" id="{AFE1DC72-81F4-4A22-898A-722F29D4DED1}"/>
              </a:ext>
            </a:extLst>
          </p:cNvPr>
          <p:cNvSpPr>
            <a:spLocks xmlns:a="http://schemas.openxmlformats.org/drawingml/2006/main" noGrp="1"/>
          </p:cNvSpPr>
          <p:nvPr/>
        </p:nvSpPr>
        <p:spPr>
          <a:xfrm xmlns:a="http://schemas.openxmlformats.org/drawingml/2006/main">
            <a:off x="6334125" y="1571625"/>
            <a:ext cx="2667000" cy="533400"/>
          </a:xfrm>
          <a:prstGeom xmlns:a="http://schemas.openxmlformats.org/drawingml/2006/main" prst="roundRect">
            <a:avLst>
              <a:gd name="adj" fmla="val 14286"/>
            </a:avLst>
          </a:prstGeom>
          <a:solidFill xmlns:a="http://schemas.openxmlformats.org/drawingml/2006/main">
            <a:srgbClr val="E57A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363E51-2B7A-4937-B238-B1431684C073}"/>
              </a:ext>
            </a:extLst>
          </p:cNvPr>
          <p:cNvSpPr>
            <a:spLocks xmlns:a="http://schemas.openxmlformats.org/drawingml/2006/main" noGrp="1"/>
          </p:cNvSpPr>
          <p:nvPr/>
        </p:nvSpPr>
        <p:spPr>
          <a:xfrm xmlns:a="http://schemas.openxmlformats.org/drawingml/2006/main">
            <a:off x="6477000" y="16478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UPDATE</a:t>
            </a:r>
          </a:p>
        </p:txBody>
      </p:sp>
      <p:sp>
        <p:nvSpPr>
          <p:cNvPr id="17" name="">
            <a:extLst xmlns:a="http://schemas.openxmlformats.org/drawingml/2006/main">
              <a:ext uri="{FF2B5EF4-FFF2-40B4-BE49-F238E27FC236}">
                <a16:creationId xmlns:a16="http://schemas.microsoft.com/office/drawing/2014/main" id="{4472672E-4876-4E4A-8CE9-16E784A659C0}"/>
              </a:ext>
            </a:extLst>
          </p:cNvPr>
          <p:cNvSpPr>
            <a:spLocks xmlns:a="http://schemas.openxmlformats.org/drawingml/2006/main" noGrp="1"/>
          </p:cNvSpPr>
          <p:nvPr/>
        </p:nvSpPr>
        <p:spPr>
          <a:xfrm xmlns:a="http://schemas.openxmlformats.org/drawingml/2006/main">
            <a:off x="6524625" y="2381250"/>
            <a:ext cx="2286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student.age = 21</a:t>
            </a:r>
          </a:p>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student.save()</a:t>
            </a:r>
          </a:p>
        </p:txBody>
      </p:sp>
      <p:sp>
        <p:nvSpPr>
          <p:cNvPr id="18" name="">
            <a:extLst xmlns:a="http://schemas.openxmlformats.org/drawingml/2006/main">
              <a:ext uri="{FF2B5EF4-FFF2-40B4-BE49-F238E27FC236}">
                <a16:creationId xmlns:a16="http://schemas.microsoft.com/office/drawing/2014/main" id="{A16A8042-4526-477E-B97A-4B064F782543}"/>
              </a:ext>
            </a:extLst>
          </p:cNvPr>
          <p:cNvSpPr>
            <a:spLocks xmlns:a="http://schemas.openxmlformats.org/drawingml/2006/main" noGrp="1"/>
          </p:cNvSpPr>
          <p:nvPr/>
        </p:nvSpPr>
        <p:spPr>
          <a:xfrm xmlns:a="http://schemas.openxmlformats.org/drawingml/2006/main">
            <a:off x="9239250" y="1571625"/>
            <a:ext cx="2667000" cy="3810000"/>
          </a:xfrm>
          <a:prstGeom xmlns:a="http://schemas.openxmlformats.org/drawingml/2006/main" prst="roundRect">
            <a:avLst>
              <a:gd name="adj" fmla="val 2857"/>
            </a:avLst>
          </a:prstGeom>
          <a:solidFill xmlns:a="http://schemas.openxmlformats.org/drawingml/2006/main">
            <a:srgbClr val="F4F8FB"/>
          </a:solidFill>
          <a:ln xmlns:a="http://schemas.openxmlformats.org/drawingml/2006/main" w="9525">
            <a:solidFill>
              <a:srgbClr val="C9D8E5"/>
            </a:solidFill>
          </a:ln>
        </p:spPr>
      </p:sp>
      <p:sp>
        <p:nvSpPr>
          <p:cNvPr id="19" name="">
            <a:extLst xmlns:a="http://schemas.openxmlformats.org/drawingml/2006/main">
              <a:ext uri="{FF2B5EF4-FFF2-40B4-BE49-F238E27FC236}">
                <a16:creationId xmlns:a16="http://schemas.microsoft.com/office/drawing/2014/main" id="{06497555-5546-4E8E-BBF7-391B72BD9EAA}"/>
              </a:ext>
            </a:extLst>
          </p:cNvPr>
          <p:cNvSpPr>
            <a:spLocks xmlns:a="http://schemas.openxmlformats.org/drawingml/2006/main" noGrp="1"/>
          </p:cNvSpPr>
          <p:nvPr/>
        </p:nvSpPr>
        <p:spPr>
          <a:xfrm xmlns:a="http://schemas.openxmlformats.org/drawingml/2006/main">
            <a:off x="9239250" y="1571625"/>
            <a:ext cx="2667000" cy="533400"/>
          </a:xfrm>
          <a:prstGeom xmlns:a="http://schemas.openxmlformats.org/drawingml/2006/main" prst="roundRect">
            <a:avLst>
              <a:gd name="adj" fmla="val 14286"/>
            </a:avLst>
          </a:prstGeom>
          <a:solidFill xmlns:a="http://schemas.openxmlformats.org/drawingml/2006/main">
            <a:srgbClr val="C84C4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AB4DE7F-75AD-4EF0-84E2-754A1A514D22}"/>
              </a:ext>
            </a:extLst>
          </p:cNvPr>
          <p:cNvSpPr>
            <a:spLocks xmlns:a="http://schemas.openxmlformats.org/drawingml/2006/main" noGrp="1"/>
          </p:cNvSpPr>
          <p:nvPr/>
        </p:nvSpPr>
        <p:spPr>
          <a:xfrm xmlns:a="http://schemas.openxmlformats.org/drawingml/2006/main">
            <a:off x="9382125" y="16478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DELETE</a:t>
            </a:r>
          </a:p>
        </p:txBody>
      </p:sp>
      <p:sp>
        <p:nvSpPr>
          <p:cNvPr id="21" name="">
            <a:extLst xmlns:a="http://schemas.openxmlformats.org/drawingml/2006/main">
              <a:ext uri="{FF2B5EF4-FFF2-40B4-BE49-F238E27FC236}">
                <a16:creationId xmlns:a16="http://schemas.microsoft.com/office/drawing/2014/main" id="{1613F0FB-1F1C-411B-AF09-BEA41AC66195}"/>
              </a:ext>
            </a:extLst>
          </p:cNvPr>
          <p:cNvSpPr>
            <a:spLocks xmlns:a="http://schemas.openxmlformats.org/drawingml/2006/main" noGrp="1"/>
          </p:cNvSpPr>
          <p:nvPr/>
        </p:nvSpPr>
        <p:spPr>
          <a:xfrm xmlns:a="http://schemas.openxmlformats.org/drawingml/2006/main">
            <a:off x="9429750" y="2381250"/>
            <a:ext cx="2286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152536"/>
                </a:solidFill>
                <a:latin typeface="DejaVu Sans Mono"/>
                <a:ea typeface="DejaVu Sans Mono"/>
                <a:cs typeface="DejaVu Sans Mono"/>
              </a:defRPr>
            </a:pPr>
            <a:r>
              <a:rPr sz="1125" b="0">
                <a:solidFill>
                  <a:srgbClr val="152536"/>
                </a:solidFill>
                <a:latin typeface="DejaVu Sans Mono"/>
                <a:ea typeface="DejaVu Sans Mono"/>
                <a:cs typeface="DejaVu Sans Mono"/>
              </a:rPr>
              <a:t>student.delete()</a:t>
            </a:r>
          </a:p>
        </p:txBody>
      </p:sp>
      <p:sp>
        <p:nvSpPr>
          <p:cNvPr id="22" name="">
            <a:extLst xmlns:a="http://schemas.openxmlformats.org/drawingml/2006/main">
              <a:ext uri="{FF2B5EF4-FFF2-40B4-BE49-F238E27FC236}">
                <a16:creationId xmlns:a16="http://schemas.microsoft.com/office/drawing/2014/main" id="{656F6A52-846A-44DA-AB26-85208A70E8CA}"/>
              </a:ext>
            </a:extLst>
          </p:cNvPr>
          <p:cNvSpPr>
            <a:spLocks xmlns:a="http://schemas.openxmlformats.org/drawingml/2006/main" noGrp="1"/>
          </p:cNvSpPr>
          <p:nvPr/>
        </p:nvSpPr>
        <p:spPr>
          <a:xfrm xmlns:a="http://schemas.openxmlformats.org/drawingml/2006/main">
            <a:off x="3429000" y="57150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082A4A"/>
                </a:solidFill>
                <a:latin typeface="DejaVu Sans"/>
                <a:ea typeface="DejaVu Sans"/>
                <a:cs typeface="DejaVu Sans"/>
              </a:defRPr>
            </a:pPr>
            <a:r>
              <a:rPr sz="1650" b="1">
                <a:solidFill>
                  <a:srgbClr val="082A4A"/>
                </a:solidFill>
                <a:latin typeface="DejaVu Sans"/>
                <a:ea typeface="DejaVu Sans"/>
                <a:cs typeface="DejaVu Sans"/>
              </a:rPr>
              <a:t>ORM means Object-Relational Mapper</a:t>
            </a:r>
          </a:p>
        </p:txBody>
      </p:sp>
    </p:spTree>
    <p:extLst>
      <p:ext uri="{BB962C8B-B14F-4D97-AF65-F5344CB8AC3E}">
        <p14:creationId xmlns:p14="http://schemas.microsoft.com/office/powerpoint/2010/main" val="3906826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664C072-F0C0-4A0E-9CC3-5A44A55FCFB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A346DD-F234-46F6-A09D-17556E295A12}"/>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CLASS ACTIVITY</a:t>
            </a:r>
          </a:p>
        </p:txBody>
      </p:sp>
      <p:sp>
        <p:nvSpPr>
          <p:cNvPr id="3" name="">
            <a:extLst xmlns:a="http://schemas.openxmlformats.org/drawingml/2006/main">
              <a:ext uri="{FF2B5EF4-FFF2-40B4-BE49-F238E27FC236}">
                <a16:creationId xmlns:a16="http://schemas.microsoft.com/office/drawing/2014/main" id="{E93FF7CD-4C2D-400C-AC08-3FA11D851758}"/>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Student practice</a:t>
            </a:r>
          </a:p>
        </p:txBody>
      </p:sp>
      <p:sp>
        <p:nvSpPr>
          <p:cNvPr id="4" name="">
            <a:extLst xmlns:a="http://schemas.openxmlformats.org/drawingml/2006/main">
              <a:ext uri="{FF2B5EF4-FFF2-40B4-BE49-F238E27FC236}">
                <a16:creationId xmlns:a16="http://schemas.microsoft.com/office/drawing/2014/main" id="{A262A7C3-3D4A-48B8-94AE-09F7D01A5A0A}"/>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26DD3E-1A12-460A-A17C-96F4E4FC9564}"/>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F8355C05-738B-4970-AAD7-6E2F32E0B4F8}"/>
              </a:ext>
            </a:extLst>
          </p:cNvPr>
          <p:cNvSpPr>
            <a:spLocks xmlns:a="http://schemas.openxmlformats.org/drawingml/2006/main" noGrp="1"/>
          </p:cNvSpPr>
          <p:nvPr/>
        </p:nvSpPr>
        <p:spPr>
          <a:xfrm xmlns:a="http://schemas.openxmlformats.org/drawingml/2006/main">
            <a:off x="666750" y="1666875"/>
            <a:ext cx="5143500" cy="1476375"/>
          </a:xfrm>
          <a:prstGeom xmlns:a="http://schemas.openxmlformats.org/drawingml/2006/main" prst="roundRect">
            <a:avLst>
              <a:gd name="adj" fmla="val 5161"/>
            </a:avLst>
          </a:prstGeom>
          <a:solidFill xmlns:a="http://schemas.openxmlformats.org/drawingml/2006/main">
            <a:srgbClr val="F4F8FB"/>
          </a:solidFill>
          <a:ln xmlns:a="http://schemas.openxmlformats.org/drawingml/2006/main" w="9525">
            <a:solidFill>
              <a:srgbClr val="C9D8E5"/>
            </a:solidFill>
          </a:ln>
        </p:spPr>
      </p:sp>
      <p:sp>
        <p:nvSpPr>
          <p:cNvPr id="7" name="">
            <a:extLst xmlns:a="http://schemas.openxmlformats.org/drawingml/2006/main">
              <a:ext uri="{FF2B5EF4-FFF2-40B4-BE49-F238E27FC236}">
                <a16:creationId xmlns:a16="http://schemas.microsoft.com/office/drawing/2014/main" id="{5DAA7693-0DAD-4D8C-A98D-DA899CAB6A2F}"/>
              </a:ext>
            </a:extLst>
          </p:cNvPr>
          <p:cNvSpPr>
            <a:spLocks xmlns:a="http://schemas.openxmlformats.org/drawingml/2006/main" noGrp="1"/>
          </p:cNvSpPr>
          <p:nvPr/>
        </p:nvSpPr>
        <p:spPr>
          <a:xfrm xmlns:a="http://schemas.openxmlformats.org/drawingml/2006/main">
            <a:off x="666750" y="1666875"/>
            <a:ext cx="76200" cy="1476375"/>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D2C2AB-14CE-49AA-A2B4-09AF5B0D9C8B}"/>
              </a:ext>
            </a:extLst>
          </p:cNvPr>
          <p:cNvSpPr>
            <a:spLocks xmlns:a="http://schemas.openxmlformats.org/drawingml/2006/main" noGrp="1"/>
          </p:cNvSpPr>
          <p:nvPr/>
        </p:nvSpPr>
        <p:spPr>
          <a:xfrm xmlns:a="http://schemas.openxmlformats.org/drawingml/2006/main">
            <a:off x="933450" y="1838325"/>
            <a:ext cx="468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Task A</a:t>
            </a:r>
          </a:p>
        </p:txBody>
      </p:sp>
      <p:sp>
        <p:nvSpPr>
          <p:cNvPr id="9" name="">
            <a:extLst xmlns:a="http://schemas.openxmlformats.org/drawingml/2006/main">
              <a:ext uri="{FF2B5EF4-FFF2-40B4-BE49-F238E27FC236}">
                <a16:creationId xmlns:a16="http://schemas.microsoft.com/office/drawing/2014/main" id="{38427CC5-7B19-4568-8A20-747EE7C77A1C}"/>
              </a:ext>
            </a:extLst>
          </p:cNvPr>
          <p:cNvSpPr>
            <a:spLocks xmlns:a="http://schemas.openxmlformats.org/drawingml/2006/main" noGrp="1"/>
          </p:cNvSpPr>
          <p:nvPr/>
        </p:nvSpPr>
        <p:spPr>
          <a:xfrm xmlns:a="http://schemas.openxmlformats.org/drawingml/2006/main">
            <a:off x="933450" y="221932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Change the homepage background colour and heading colour through style.css.</a:t>
            </a:r>
          </a:p>
        </p:txBody>
      </p:sp>
      <p:sp>
        <p:nvSpPr>
          <p:cNvPr id="10" name="">
            <a:extLst xmlns:a="http://schemas.openxmlformats.org/drawingml/2006/main">
              <a:ext uri="{FF2B5EF4-FFF2-40B4-BE49-F238E27FC236}">
                <a16:creationId xmlns:a16="http://schemas.microsoft.com/office/drawing/2014/main" id="{556F92EB-9224-4AB5-B36A-01724901C0BD}"/>
              </a:ext>
            </a:extLst>
          </p:cNvPr>
          <p:cNvSpPr>
            <a:spLocks xmlns:a="http://schemas.openxmlformats.org/drawingml/2006/main" noGrp="1"/>
          </p:cNvSpPr>
          <p:nvPr/>
        </p:nvSpPr>
        <p:spPr>
          <a:xfrm xmlns:a="http://schemas.openxmlformats.org/drawingml/2006/main">
            <a:off x="6381750" y="1666875"/>
            <a:ext cx="5143500" cy="1476375"/>
          </a:xfrm>
          <a:prstGeom xmlns:a="http://schemas.openxmlformats.org/drawingml/2006/main" prst="roundRect">
            <a:avLst>
              <a:gd name="adj" fmla="val 5161"/>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84CB1E3F-261A-4BE5-9275-F687AF07C3F5}"/>
              </a:ext>
            </a:extLst>
          </p:cNvPr>
          <p:cNvSpPr>
            <a:spLocks xmlns:a="http://schemas.openxmlformats.org/drawingml/2006/main" noGrp="1"/>
          </p:cNvSpPr>
          <p:nvPr/>
        </p:nvSpPr>
        <p:spPr>
          <a:xfrm xmlns:a="http://schemas.openxmlformats.org/drawingml/2006/main">
            <a:off x="6381750" y="1666875"/>
            <a:ext cx="76200" cy="1476375"/>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2EEC732-55BA-4A1F-ADA5-23A68DB2AC24}"/>
              </a:ext>
            </a:extLst>
          </p:cNvPr>
          <p:cNvSpPr>
            <a:spLocks xmlns:a="http://schemas.openxmlformats.org/drawingml/2006/main" noGrp="1"/>
          </p:cNvSpPr>
          <p:nvPr/>
        </p:nvSpPr>
        <p:spPr>
          <a:xfrm xmlns:a="http://schemas.openxmlformats.org/drawingml/2006/main">
            <a:off x="6648450" y="1838325"/>
            <a:ext cx="468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Task B</a:t>
            </a:r>
          </a:p>
        </p:txBody>
      </p:sp>
      <p:sp>
        <p:nvSpPr>
          <p:cNvPr id="13" name="">
            <a:extLst xmlns:a="http://schemas.openxmlformats.org/drawingml/2006/main">
              <a:ext uri="{FF2B5EF4-FFF2-40B4-BE49-F238E27FC236}">
                <a16:creationId xmlns:a16="http://schemas.microsoft.com/office/drawing/2014/main" id="{C1908178-B630-458E-977E-905571A64053}"/>
              </a:ext>
            </a:extLst>
          </p:cNvPr>
          <p:cNvSpPr>
            <a:spLocks xmlns:a="http://schemas.openxmlformats.org/drawingml/2006/main" noGrp="1"/>
          </p:cNvSpPr>
          <p:nvPr/>
        </p:nvSpPr>
        <p:spPr>
          <a:xfrm xmlns:a="http://schemas.openxmlformats.org/drawingml/2006/main">
            <a:off x="6648450" y="221932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Add a phone_number field to Student, then create and apply migrations.</a:t>
            </a:r>
          </a:p>
        </p:txBody>
      </p:sp>
      <p:sp>
        <p:nvSpPr>
          <p:cNvPr id="14" name="">
            <a:extLst xmlns:a="http://schemas.openxmlformats.org/drawingml/2006/main">
              <a:ext uri="{FF2B5EF4-FFF2-40B4-BE49-F238E27FC236}">
                <a16:creationId xmlns:a16="http://schemas.microsoft.com/office/drawing/2014/main" id="{E342194F-CED7-4760-8F0F-E618B360E28B}"/>
              </a:ext>
            </a:extLst>
          </p:cNvPr>
          <p:cNvSpPr>
            <a:spLocks xmlns:a="http://schemas.openxmlformats.org/drawingml/2006/main" noGrp="1"/>
          </p:cNvSpPr>
          <p:nvPr/>
        </p:nvSpPr>
        <p:spPr>
          <a:xfrm xmlns:a="http://schemas.openxmlformats.org/drawingml/2006/main">
            <a:off x="666750" y="3571875"/>
            <a:ext cx="5143500" cy="1476375"/>
          </a:xfrm>
          <a:prstGeom xmlns:a="http://schemas.openxmlformats.org/drawingml/2006/main" prst="roundRect">
            <a:avLst>
              <a:gd name="adj" fmla="val 5161"/>
            </a:avLst>
          </a:prstGeom>
          <a:solidFill xmlns:a="http://schemas.openxmlformats.org/drawingml/2006/main">
            <a:srgbClr val="F4F8FB"/>
          </a:solidFill>
          <a:ln xmlns:a="http://schemas.openxmlformats.org/drawingml/2006/main" w="9525">
            <a:solidFill>
              <a:srgbClr val="C9D8E5"/>
            </a:solidFill>
          </a:ln>
        </p:spPr>
      </p:sp>
      <p:sp>
        <p:nvSpPr>
          <p:cNvPr id="15" name="">
            <a:extLst xmlns:a="http://schemas.openxmlformats.org/drawingml/2006/main">
              <a:ext uri="{FF2B5EF4-FFF2-40B4-BE49-F238E27FC236}">
                <a16:creationId xmlns:a16="http://schemas.microsoft.com/office/drawing/2014/main" id="{DC899DCA-5C1A-4015-BCF9-23F554696580}"/>
              </a:ext>
            </a:extLst>
          </p:cNvPr>
          <p:cNvSpPr>
            <a:spLocks xmlns:a="http://schemas.openxmlformats.org/drawingml/2006/main" noGrp="1"/>
          </p:cNvSpPr>
          <p:nvPr/>
        </p:nvSpPr>
        <p:spPr>
          <a:xfrm xmlns:a="http://schemas.openxmlformats.org/drawingml/2006/main">
            <a:off x="666750" y="3571875"/>
            <a:ext cx="76200" cy="1476375"/>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C23913-49F6-44FC-89AA-082F67A250E0}"/>
              </a:ext>
            </a:extLst>
          </p:cNvPr>
          <p:cNvSpPr>
            <a:spLocks xmlns:a="http://schemas.openxmlformats.org/drawingml/2006/main" noGrp="1"/>
          </p:cNvSpPr>
          <p:nvPr/>
        </p:nvSpPr>
        <p:spPr>
          <a:xfrm xmlns:a="http://schemas.openxmlformats.org/drawingml/2006/main">
            <a:off x="933450" y="3743325"/>
            <a:ext cx="468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Task C</a:t>
            </a:r>
          </a:p>
        </p:txBody>
      </p:sp>
      <p:sp>
        <p:nvSpPr>
          <p:cNvPr id="17" name="">
            <a:extLst xmlns:a="http://schemas.openxmlformats.org/drawingml/2006/main">
              <a:ext uri="{FF2B5EF4-FFF2-40B4-BE49-F238E27FC236}">
                <a16:creationId xmlns:a16="http://schemas.microsoft.com/office/drawing/2014/main" id="{ACDEBAB5-C952-4A07-81C9-F6B36D6ED7F4}"/>
              </a:ext>
            </a:extLst>
          </p:cNvPr>
          <p:cNvSpPr>
            <a:spLocks xmlns:a="http://schemas.openxmlformats.org/drawingml/2006/main" noGrp="1"/>
          </p:cNvSpPr>
          <p:nvPr/>
        </p:nvSpPr>
        <p:spPr>
          <a:xfrm xmlns:a="http://schemas.openxmlformats.org/drawingml/2006/main">
            <a:off x="933450" y="412432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Create two students in admin. Give only one student a profile picture.</a:t>
            </a:r>
          </a:p>
        </p:txBody>
      </p:sp>
      <p:sp>
        <p:nvSpPr>
          <p:cNvPr id="18" name="">
            <a:extLst xmlns:a="http://schemas.openxmlformats.org/drawingml/2006/main">
              <a:ext uri="{FF2B5EF4-FFF2-40B4-BE49-F238E27FC236}">
                <a16:creationId xmlns:a16="http://schemas.microsoft.com/office/drawing/2014/main" id="{7C1815E1-CEE1-461C-BBC5-C387FBDA636E}"/>
              </a:ext>
            </a:extLst>
          </p:cNvPr>
          <p:cNvSpPr>
            <a:spLocks xmlns:a="http://schemas.openxmlformats.org/drawingml/2006/main" noGrp="1"/>
          </p:cNvSpPr>
          <p:nvPr/>
        </p:nvSpPr>
        <p:spPr>
          <a:xfrm xmlns:a="http://schemas.openxmlformats.org/drawingml/2006/main">
            <a:off x="6381750" y="3571875"/>
            <a:ext cx="5143500" cy="1476375"/>
          </a:xfrm>
          <a:prstGeom xmlns:a="http://schemas.openxmlformats.org/drawingml/2006/main" prst="roundRect">
            <a:avLst>
              <a:gd name="adj" fmla="val 5161"/>
            </a:avLst>
          </a:prstGeom>
          <a:solidFill xmlns:a="http://schemas.openxmlformats.org/drawingml/2006/main">
            <a:srgbClr val="F4F8FB"/>
          </a:solidFill>
          <a:ln xmlns:a="http://schemas.openxmlformats.org/drawingml/2006/main" w="9525">
            <a:solidFill>
              <a:srgbClr val="C9D8E5"/>
            </a:solidFill>
          </a:ln>
        </p:spPr>
      </p:sp>
      <p:sp>
        <p:nvSpPr>
          <p:cNvPr id="19" name="">
            <a:extLst xmlns:a="http://schemas.openxmlformats.org/drawingml/2006/main">
              <a:ext uri="{FF2B5EF4-FFF2-40B4-BE49-F238E27FC236}">
                <a16:creationId xmlns:a16="http://schemas.microsoft.com/office/drawing/2014/main" id="{4496B28A-258D-47B3-811F-0E8AC8C931BA}"/>
              </a:ext>
            </a:extLst>
          </p:cNvPr>
          <p:cNvSpPr>
            <a:spLocks xmlns:a="http://schemas.openxmlformats.org/drawingml/2006/main" noGrp="1"/>
          </p:cNvSpPr>
          <p:nvPr/>
        </p:nvSpPr>
        <p:spPr>
          <a:xfrm xmlns:a="http://schemas.openxmlformats.org/drawingml/2006/main">
            <a:off x="6381750" y="3571875"/>
            <a:ext cx="76200" cy="1476375"/>
          </a:xfrm>
          <a:prstGeom xmlns:a="http://schemas.openxmlformats.org/drawingml/2006/main" prst="roundRect">
            <a:avLst>
              <a:gd name="adj" fmla="val 50000"/>
            </a:avLst>
          </a:prstGeom>
          <a:solidFill xmlns:a="http://schemas.openxmlformats.org/drawingml/2006/main">
            <a:srgbClr val="16A3C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B47266-086A-48A9-AE67-F6B8A7ECC3A3}"/>
              </a:ext>
            </a:extLst>
          </p:cNvPr>
          <p:cNvSpPr>
            <a:spLocks xmlns:a="http://schemas.openxmlformats.org/drawingml/2006/main" noGrp="1"/>
          </p:cNvSpPr>
          <p:nvPr/>
        </p:nvSpPr>
        <p:spPr>
          <a:xfrm xmlns:a="http://schemas.openxmlformats.org/drawingml/2006/main">
            <a:off x="6648450" y="3743325"/>
            <a:ext cx="468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Check understanding</a:t>
            </a:r>
          </a:p>
        </p:txBody>
      </p:sp>
      <p:sp>
        <p:nvSpPr>
          <p:cNvPr id="21" name="">
            <a:extLst xmlns:a="http://schemas.openxmlformats.org/drawingml/2006/main">
              <a:ext uri="{FF2B5EF4-FFF2-40B4-BE49-F238E27FC236}">
                <a16:creationId xmlns:a16="http://schemas.microsoft.com/office/drawing/2014/main" id="{1413C646-B6CB-4B51-BD38-05871BDCFAAB}"/>
              </a:ext>
            </a:extLst>
          </p:cNvPr>
          <p:cNvSpPr>
            <a:spLocks xmlns:a="http://schemas.openxmlformats.org/drawingml/2006/main" noGrp="1"/>
          </p:cNvSpPr>
          <p:nvPr/>
        </p:nvSpPr>
        <p:spPr>
          <a:xfrm xmlns:a="http://schemas.openxmlformats.org/drawingml/2006/main">
            <a:off x="6648450" y="4124325"/>
            <a:ext cx="4686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Ask each student to identify one static file, one media file and one database field.</a:t>
            </a:r>
          </a:p>
        </p:txBody>
      </p:sp>
    </p:spTree>
    <p:extLst>
      <p:ext uri="{BB962C8B-B14F-4D97-AF65-F5344CB8AC3E}">
        <p14:creationId xmlns:p14="http://schemas.microsoft.com/office/powerpoint/2010/main" val="10366610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BE581D5-DBD9-4DCD-838A-A3BC28D7967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9A31D9-6492-461F-9761-05DF8804B608}"/>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TEACHING PLAN</a:t>
            </a:r>
          </a:p>
        </p:txBody>
      </p:sp>
      <p:sp>
        <p:nvSpPr>
          <p:cNvPr id="3" name="">
            <a:extLst xmlns:a="http://schemas.openxmlformats.org/drawingml/2006/main">
              <a:ext uri="{FF2B5EF4-FFF2-40B4-BE49-F238E27FC236}">
                <a16:creationId xmlns:a16="http://schemas.microsoft.com/office/drawing/2014/main" id="{04DDCC46-7C79-48DB-AB81-4F9C11052E7D}"/>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The complete classroom sequence</a:t>
            </a:r>
          </a:p>
        </p:txBody>
      </p:sp>
      <p:sp>
        <p:nvSpPr>
          <p:cNvPr id="4" name="">
            <a:extLst xmlns:a="http://schemas.openxmlformats.org/drawingml/2006/main">
              <a:ext uri="{FF2B5EF4-FFF2-40B4-BE49-F238E27FC236}">
                <a16:creationId xmlns:a16="http://schemas.microsoft.com/office/drawing/2014/main" id="{C990C4A0-5664-46FD-94C5-53DF9505E469}"/>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07DA13-C937-49BD-8AAE-3626F125DBAE}"/>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23</a:t>
            </a:r>
          </a:p>
        </p:txBody>
      </p:sp>
      <p:sp>
        <p:nvSpPr>
          <p:cNvPr id="6" name="">
            <a:extLst xmlns:a="http://schemas.openxmlformats.org/drawingml/2006/main">
              <a:ext uri="{FF2B5EF4-FFF2-40B4-BE49-F238E27FC236}">
                <a16:creationId xmlns:a16="http://schemas.microsoft.com/office/drawing/2014/main" id="{B8CB4055-4113-4916-AAC5-86C652B9B036}"/>
              </a:ext>
            </a:extLst>
          </p:cNvPr>
          <p:cNvSpPr>
            <a:spLocks xmlns:a="http://schemas.openxmlformats.org/drawingml/2006/main" noGrp="1"/>
          </p:cNvSpPr>
          <p:nvPr/>
        </p:nvSpPr>
        <p:spPr>
          <a:xfrm xmlns:a="http://schemas.openxmlformats.org/drawingml/2006/main">
            <a:off x="857250" y="1524000"/>
            <a:ext cx="4762500" cy="609600"/>
          </a:xfrm>
          <a:prstGeom xmlns:a="http://schemas.openxmlformats.org/drawingml/2006/main" prst="roundRect">
            <a:avLst>
              <a:gd name="adj" fmla="val 12500"/>
            </a:avLst>
          </a:prstGeom>
          <a:solidFill xmlns:a="http://schemas.openxmlformats.org/drawingml/2006/main">
            <a:srgbClr val="DDEF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57F85B-8FA5-4731-A4D9-7014F78B2FFB}"/>
              </a:ext>
            </a:extLst>
          </p:cNvPr>
          <p:cNvSpPr>
            <a:spLocks xmlns:a="http://schemas.openxmlformats.org/drawingml/2006/main" noGrp="1"/>
          </p:cNvSpPr>
          <p:nvPr/>
        </p:nvSpPr>
        <p:spPr>
          <a:xfrm xmlns:a="http://schemas.openxmlformats.org/drawingml/2006/main">
            <a:off x="971550" y="16192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D90831-8F8B-4347-A5D2-4796841110DB}"/>
              </a:ext>
            </a:extLst>
          </p:cNvPr>
          <p:cNvSpPr>
            <a:spLocks xmlns:a="http://schemas.openxmlformats.org/drawingml/2006/main" noGrp="1"/>
          </p:cNvSpPr>
          <p:nvPr/>
        </p:nvSpPr>
        <p:spPr>
          <a:xfrm xmlns:a="http://schemas.openxmlformats.org/drawingml/2006/main">
            <a:off x="971550" y="16192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1</a:t>
            </a:r>
          </a:p>
        </p:txBody>
      </p:sp>
      <p:sp>
        <p:nvSpPr>
          <p:cNvPr id="9" name="">
            <a:extLst xmlns:a="http://schemas.openxmlformats.org/drawingml/2006/main">
              <a:ext uri="{FF2B5EF4-FFF2-40B4-BE49-F238E27FC236}">
                <a16:creationId xmlns:a16="http://schemas.microsoft.com/office/drawing/2014/main" id="{3687E4C9-86E4-4B91-9E1E-C5A0BD33B80D}"/>
              </a:ext>
            </a:extLst>
          </p:cNvPr>
          <p:cNvSpPr>
            <a:spLocks xmlns:a="http://schemas.openxmlformats.org/drawingml/2006/main" noGrp="1"/>
          </p:cNvSpPr>
          <p:nvPr/>
        </p:nvSpPr>
        <p:spPr>
          <a:xfrm xmlns:a="http://schemas.openxmlformats.org/drawingml/2006/main">
            <a:off x="1571625" y="16002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Create and activate venv</a:t>
            </a:r>
          </a:p>
        </p:txBody>
      </p:sp>
      <p:sp>
        <p:nvSpPr>
          <p:cNvPr id="10" name="">
            <a:extLst xmlns:a="http://schemas.openxmlformats.org/drawingml/2006/main">
              <a:ext uri="{FF2B5EF4-FFF2-40B4-BE49-F238E27FC236}">
                <a16:creationId xmlns:a16="http://schemas.microsoft.com/office/drawing/2014/main" id="{1E6A299C-7DFA-4A3E-8E4B-BFB9CE8960DF}"/>
              </a:ext>
            </a:extLst>
          </p:cNvPr>
          <p:cNvSpPr>
            <a:spLocks xmlns:a="http://schemas.openxmlformats.org/drawingml/2006/main" noGrp="1"/>
          </p:cNvSpPr>
          <p:nvPr/>
        </p:nvSpPr>
        <p:spPr>
          <a:xfrm xmlns:a="http://schemas.openxmlformats.org/drawingml/2006/main">
            <a:off x="857250" y="2400300"/>
            <a:ext cx="4762500" cy="609600"/>
          </a:xfrm>
          <a:prstGeom xmlns:a="http://schemas.openxmlformats.org/drawingml/2006/main" prst="roundRect">
            <a:avLst>
              <a:gd name="adj" fmla="val 12500"/>
            </a:avLst>
          </a:prstGeom>
          <a:solidFill xmlns:a="http://schemas.openxmlformats.org/drawingml/2006/main">
            <a:srgbClr val="F4F8FB"/>
          </a:solidFill>
          <a:ln xmlns:a="http://schemas.openxmlformats.org/drawingml/2006/main" w="9525">
            <a:solidFill>
              <a:srgbClr val="C9D8E5"/>
            </a:solidFill>
          </a:ln>
        </p:spPr>
      </p:sp>
      <p:sp>
        <p:nvSpPr>
          <p:cNvPr id="11" name="">
            <a:extLst xmlns:a="http://schemas.openxmlformats.org/drawingml/2006/main">
              <a:ext uri="{FF2B5EF4-FFF2-40B4-BE49-F238E27FC236}">
                <a16:creationId xmlns:a16="http://schemas.microsoft.com/office/drawing/2014/main" id="{88374673-CC02-42B6-998B-4D3661D5DC83}"/>
              </a:ext>
            </a:extLst>
          </p:cNvPr>
          <p:cNvSpPr>
            <a:spLocks xmlns:a="http://schemas.openxmlformats.org/drawingml/2006/main" noGrp="1"/>
          </p:cNvSpPr>
          <p:nvPr/>
        </p:nvSpPr>
        <p:spPr>
          <a:xfrm xmlns:a="http://schemas.openxmlformats.org/drawingml/2006/main">
            <a:off x="971550" y="24955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065158-6340-49AF-B50F-E51D3B7A055A}"/>
              </a:ext>
            </a:extLst>
          </p:cNvPr>
          <p:cNvSpPr>
            <a:spLocks xmlns:a="http://schemas.openxmlformats.org/drawingml/2006/main" noGrp="1"/>
          </p:cNvSpPr>
          <p:nvPr/>
        </p:nvSpPr>
        <p:spPr>
          <a:xfrm xmlns:a="http://schemas.openxmlformats.org/drawingml/2006/main">
            <a:off x="971550" y="24955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2</a:t>
            </a:r>
          </a:p>
        </p:txBody>
      </p:sp>
      <p:sp>
        <p:nvSpPr>
          <p:cNvPr id="13" name="">
            <a:extLst xmlns:a="http://schemas.openxmlformats.org/drawingml/2006/main">
              <a:ext uri="{FF2B5EF4-FFF2-40B4-BE49-F238E27FC236}">
                <a16:creationId xmlns:a16="http://schemas.microsoft.com/office/drawing/2014/main" id="{2577F982-F389-4A66-B8AF-3DE18383AE17}"/>
              </a:ext>
            </a:extLst>
          </p:cNvPr>
          <p:cNvSpPr>
            <a:spLocks xmlns:a="http://schemas.openxmlformats.org/drawingml/2006/main" noGrp="1"/>
          </p:cNvSpPr>
          <p:nvPr/>
        </p:nvSpPr>
        <p:spPr>
          <a:xfrm xmlns:a="http://schemas.openxmlformats.org/drawingml/2006/main">
            <a:off x="1571625" y="24765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Install Django and Pillow</a:t>
            </a:r>
          </a:p>
        </p:txBody>
      </p:sp>
      <p:sp>
        <p:nvSpPr>
          <p:cNvPr id="14" name="">
            <a:extLst xmlns:a="http://schemas.openxmlformats.org/drawingml/2006/main">
              <a:ext uri="{FF2B5EF4-FFF2-40B4-BE49-F238E27FC236}">
                <a16:creationId xmlns:a16="http://schemas.microsoft.com/office/drawing/2014/main" id="{6117A408-BB00-4CDC-A5C8-D11BC06E2A3C}"/>
              </a:ext>
            </a:extLst>
          </p:cNvPr>
          <p:cNvSpPr>
            <a:spLocks xmlns:a="http://schemas.openxmlformats.org/drawingml/2006/main" noGrp="1"/>
          </p:cNvSpPr>
          <p:nvPr/>
        </p:nvSpPr>
        <p:spPr>
          <a:xfrm xmlns:a="http://schemas.openxmlformats.org/drawingml/2006/main">
            <a:off x="857250" y="3276600"/>
            <a:ext cx="4762500" cy="609600"/>
          </a:xfrm>
          <a:prstGeom xmlns:a="http://schemas.openxmlformats.org/drawingml/2006/main" prst="roundRect">
            <a:avLst>
              <a:gd name="adj" fmla="val 12500"/>
            </a:avLst>
          </a:prstGeom>
          <a:solidFill xmlns:a="http://schemas.openxmlformats.org/drawingml/2006/main">
            <a:srgbClr val="DDEFF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7BDEB3E-715B-41FF-8FB6-A1F9EC053867}"/>
              </a:ext>
            </a:extLst>
          </p:cNvPr>
          <p:cNvSpPr>
            <a:spLocks xmlns:a="http://schemas.openxmlformats.org/drawingml/2006/main" noGrp="1"/>
          </p:cNvSpPr>
          <p:nvPr/>
        </p:nvSpPr>
        <p:spPr>
          <a:xfrm xmlns:a="http://schemas.openxmlformats.org/drawingml/2006/main">
            <a:off x="971550" y="33718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A0D1CF-4EAF-4BBC-B575-AE7F7890A495}"/>
              </a:ext>
            </a:extLst>
          </p:cNvPr>
          <p:cNvSpPr>
            <a:spLocks xmlns:a="http://schemas.openxmlformats.org/drawingml/2006/main" noGrp="1"/>
          </p:cNvSpPr>
          <p:nvPr/>
        </p:nvSpPr>
        <p:spPr>
          <a:xfrm xmlns:a="http://schemas.openxmlformats.org/drawingml/2006/main">
            <a:off x="971550" y="33718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3</a:t>
            </a:r>
          </a:p>
        </p:txBody>
      </p:sp>
      <p:sp>
        <p:nvSpPr>
          <p:cNvPr id="17" name="">
            <a:extLst xmlns:a="http://schemas.openxmlformats.org/drawingml/2006/main">
              <a:ext uri="{FF2B5EF4-FFF2-40B4-BE49-F238E27FC236}">
                <a16:creationId xmlns:a16="http://schemas.microsoft.com/office/drawing/2014/main" id="{DEB6989A-23A5-4A4B-81F0-5B1E7F8CB1A6}"/>
              </a:ext>
            </a:extLst>
          </p:cNvPr>
          <p:cNvSpPr>
            <a:spLocks xmlns:a="http://schemas.openxmlformats.org/drawingml/2006/main" noGrp="1"/>
          </p:cNvSpPr>
          <p:nvPr/>
        </p:nvSpPr>
        <p:spPr>
          <a:xfrm xmlns:a="http://schemas.openxmlformats.org/drawingml/2006/main">
            <a:off x="1571625" y="33528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Create project and students app</a:t>
            </a:r>
          </a:p>
        </p:txBody>
      </p:sp>
      <p:sp>
        <p:nvSpPr>
          <p:cNvPr id="18" name="">
            <a:extLst xmlns:a="http://schemas.openxmlformats.org/drawingml/2006/main">
              <a:ext uri="{FF2B5EF4-FFF2-40B4-BE49-F238E27FC236}">
                <a16:creationId xmlns:a16="http://schemas.microsoft.com/office/drawing/2014/main" id="{095F5A2F-013A-4886-BECF-63B2B3F47081}"/>
              </a:ext>
            </a:extLst>
          </p:cNvPr>
          <p:cNvSpPr>
            <a:spLocks xmlns:a="http://schemas.openxmlformats.org/drawingml/2006/main" noGrp="1"/>
          </p:cNvSpPr>
          <p:nvPr/>
        </p:nvSpPr>
        <p:spPr>
          <a:xfrm xmlns:a="http://schemas.openxmlformats.org/drawingml/2006/main">
            <a:off x="857250" y="4152900"/>
            <a:ext cx="4762500" cy="609600"/>
          </a:xfrm>
          <a:prstGeom xmlns:a="http://schemas.openxmlformats.org/drawingml/2006/main" prst="roundRect">
            <a:avLst>
              <a:gd name="adj" fmla="val 12500"/>
            </a:avLst>
          </a:prstGeom>
          <a:solidFill xmlns:a="http://schemas.openxmlformats.org/drawingml/2006/main">
            <a:srgbClr val="F4F8FB"/>
          </a:solidFill>
          <a:ln xmlns:a="http://schemas.openxmlformats.org/drawingml/2006/main" w="9525">
            <a:solidFill>
              <a:srgbClr val="C9D8E5"/>
            </a:solidFill>
          </a:ln>
        </p:spPr>
      </p:sp>
      <p:sp>
        <p:nvSpPr>
          <p:cNvPr id="19" name="">
            <a:extLst xmlns:a="http://schemas.openxmlformats.org/drawingml/2006/main">
              <a:ext uri="{FF2B5EF4-FFF2-40B4-BE49-F238E27FC236}">
                <a16:creationId xmlns:a16="http://schemas.microsoft.com/office/drawing/2014/main" id="{BC737694-C0AF-48F3-85F9-449B5105861D}"/>
              </a:ext>
            </a:extLst>
          </p:cNvPr>
          <p:cNvSpPr>
            <a:spLocks xmlns:a="http://schemas.openxmlformats.org/drawingml/2006/main" noGrp="1"/>
          </p:cNvSpPr>
          <p:nvPr/>
        </p:nvSpPr>
        <p:spPr>
          <a:xfrm xmlns:a="http://schemas.openxmlformats.org/drawingml/2006/main">
            <a:off x="971550" y="42481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20E7D25-D8EA-4196-A708-CA741ECAEBE7}"/>
              </a:ext>
            </a:extLst>
          </p:cNvPr>
          <p:cNvSpPr>
            <a:spLocks xmlns:a="http://schemas.openxmlformats.org/drawingml/2006/main" noGrp="1"/>
          </p:cNvSpPr>
          <p:nvPr/>
        </p:nvSpPr>
        <p:spPr>
          <a:xfrm xmlns:a="http://schemas.openxmlformats.org/drawingml/2006/main">
            <a:off x="971550" y="42481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4</a:t>
            </a:r>
          </a:p>
        </p:txBody>
      </p:sp>
      <p:sp>
        <p:nvSpPr>
          <p:cNvPr id="21" name="">
            <a:extLst xmlns:a="http://schemas.openxmlformats.org/drawingml/2006/main">
              <a:ext uri="{FF2B5EF4-FFF2-40B4-BE49-F238E27FC236}">
                <a16:creationId xmlns:a16="http://schemas.microsoft.com/office/drawing/2014/main" id="{61BF513A-07F8-4A5B-9DA9-D8E11DAE979E}"/>
              </a:ext>
            </a:extLst>
          </p:cNvPr>
          <p:cNvSpPr>
            <a:spLocks xmlns:a="http://schemas.openxmlformats.org/drawingml/2006/main" noGrp="1"/>
          </p:cNvSpPr>
          <p:nvPr/>
        </p:nvSpPr>
        <p:spPr>
          <a:xfrm xmlns:a="http://schemas.openxmlformats.org/drawingml/2006/main">
            <a:off x="1571625" y="42291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Build URL, view and template</a:t>
            </a:r>
          </a:p>
        </p:txBody>
      </p:sp>
      <p:sp>
        <p:nvSpPr>
          <p:cNvPr id="22" name="">
            <a:extLst xmlns:a="http://schemas.openxmlformats.org/drawingml/2006/main">
              <a:ext uri="{FF2B5EF4-FFF2-40B4-BE49-F238E27FC236}">
                <a16:creationId xmlns:a16="http://schemas.microsoft.com/office/drawing/2014/main" id="{69FE6149-1FDB-499C-91C8-48CAA4E7DBA7}"/>
              </a:ext>
            </a:extLst>
          </p:cNvPr>
          <p:cNvSpPr>
            <a:spLocks xmlns:a="http://schemas.openxmlformats.org/drawingml/2006/main" noGrp="1"/>
          </p:cNvSpPr>
          <p:nvPr/>
        </p:nvSpPr>
        <p:spPr>
          <a:xfrm xmlns:a="http://schemas.openxmlformats.org/drawingml/2006/main">
            <a:off x="857250" y="5029200"/>
            <a:ext cx="4762500" cy="609600"/>
          </a:xfrm>
          <a:prstGeom xmlns:a="http://schemas.openxmlformats.org/drawingml/2006/main" prst="roundRect">
            <a:avLst>
              <a:gd name="adj" fmla="val 12500"/>
            </a:avLst>
          </a:prstGeom>
          <a:solidFill xmlns:a="http://schemas.openxmlformats.org/drawingml/2006/main">
            <a:srgbClr val="DDEFF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E04AB49-6244-4387-A86F-A2D111A6D230}"/>
              </a:ext>
            </a:extLst>
          </p:cNvPr>
          <p:cNvSpPr>
            <a:spLocks xmlns:a="http://schemas.openxmlformats.org/drawingml/2006/main" noGrp="1"/>
          </p:cNvSpPr>
          <p:nvPr/>
        </p:nvSpPr>
        <p:spPr>
          <a:xfrm xmlns:a="http://schemas.openxmlformats.org/drawingml/2006/main">
            <a:off x="971550" y="51244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E25B805-4BE5-4CE9-997F-5B83BF19E143}"/>
              </a:ext>
            </a:extLst>
          </p:cNvPr>
          <p:cNvSpPr>
            <a:spLocks xmlns:a="http://schemas.openxmlformats.org/drawingml/2006/main" noGrp="1"/>
          </p:cNvSpPr>
          <p:nvPr/>
        </p:nvSpPr>
        <p:spPr>
          <a:xfrm xmlns:a="http://schemas.openxmlformats.org/drawingml/2006/main">
            <a:off x="971550" y="51244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5</a:t>
            </a:r>
          </a:p>
        </p:txBody>
      </p:sp>
      <p:sp>
        <p:nvSpPr>
          <p:cNvPr id="25" name="">
            <a:extLst xmlns:a="http://schemas.openxmlformats.org/drawingml/2006/main">
              <a:ext uri="{FF2B5EF4-FFF2-40B4-BE49-F238E27FC236}">
                <a16:creationId xmlns:a16="http://schemas.microsoft.com/office/drawing/2014/main" id="{A8B045BB-AF3D-4D8A-BFE7-1D901E2BD662}"/>
              </a:ext>
            </a:extLst>
          </p:cNvPr>
          <p:cNvSpPr>
            <a:spLocks xmlns:a="http://schemas.openxmlformats.org/drawingml/2006/main" noGrp="1"/>
          </p:cNvSpPr>
          <p:nvPr/>
        </p:nvSpPr>
        <p:spPr>
          <a:xfrm xmlns:a="http://schemas.openxmlformats.org/drawingml/2006/main">
            <a:off x="1571625" y="51054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Add CSS through static files</a:t>
            </a:r>
          </a:p>
        </p:txBody>
      </p:sp>
      <p:sp>
        <p:nvSpPr>
          <p:cNvPr id="26" name="">
            <a:extLst xmlns:a="http://schemas.openxmlformats.org/drawingml/2006/main">
              <a:ext uri="{FF2B5EF4-FFF2-40B4-BE49-F238E27FC236}">
                <a16:creationId xmlns:a16="http://schemas.microsoft.com/office/drawing/2014/main" id="{DB5624F0-A458-408D-9369-0BBB7F25DE70}"/>
              </a:ext>
            </a:extLst>
          </p:cNvPr>
          <p:cNvSpPr>
            <a:spLocks xmlns:a="http://schemas.openxmlformats.org/drawingml/2006/main" noGrp="1"/>
          </p:cNvSpPr>
          <p:nvPr/>
        </p:nvSpPr>
        <p:spPr>
          <a:xfrm xmlns:a="http://schemas.openxmlformats.org/drawingml/2006/main">
            <a:off x="6477000" y="1524000"/>
            <a:ext cx="4762500" cy="609600"/>
          </a:xfrm>
          <a:prstGeom xmlns:a="http://schemas.openxmlformats.org/drawingml/2006/main" prst="roundRect">
            <a:avLst>
              <a:gd name="adj" fmla="val 12500"/>
            </a:avLst>
          </a:prstGeom>
          <a:solidFill xmlns:a="http://schemas.openxmlformats.org/drawingml/2006/main">
            <a:srgbClr val="F4F8FB"/>
          </a:solidFill>
          <a:ln xmlns:a="http://schemas.openxmlformats.org/drawingml/2006/main" w="9525">
            <a:solidFill>
              <a:srgbClr val="C9D8E5"/>
            </a:solidFill>
          </a:ln>
        </p:spPr>
      </p:sp>
      <p:sp>
        <p:nvSpPr>
          <p:cNvPr id="27" name="">
            <a:extLst xmlns:a="http://schemas.openxmlformats.org/drawingml/2006/main">
              <a:ext uri="{FF2B5EF4-FFF2-40B4-BE49-F238E27FC236}">
                <a16:creationId xmlns:a16="http://schemas.microsoft.com/office/drawing/2014/main" id="{81F96AAC-C671-4EFA-8921-EC83A83BEF16}"/>
              </a:ext>
            </a:extLst>
          </p:cNvPr>
          <p:cNvSpPr>
            <a:spLocks xmlns:a="http://schemas.openxmlformats.org/drawingml/2006/main" noGrp="1"/>
          </p:cNvSpPr>
          <p:nvPr/>
        </p:nvSpPr>
        <p:spPr>
          <a:xfrm xmlns:a="http://schemas.openxmlformats.org/drawingml/2006/main">
            <a:off x="6591300" y="16192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4FA4D7D-07C0-4A36-A671-D6DBA82A2D51}"/>
              </a:ext>
            </a:extLst>
          </p:cNvPr>
          <p:cNvSpPr>
            <a:spLocks xmlns:a="http://schemas.openxmlformats.org/drawingml/2006/main" noGrp="1"/>
          </p:cNvSpPr>
          <p:nvPr/>
        </p:nvSpPr>
        <p:spPr>
          <a:xfrm xmlns:a="http://schemas.openxmlformats.org/drawingml/2006/main">
            <a:off x="6591300" y="16192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6</a:t>
            </a:r>
          </a:p>
        </p:txBody>
      </p:sp>
      <p:sp>
        <p:nvSpPr>
          <p:cNvPr id="29" name="">
            <a:extLst xmlns:a="http://schemas.openxmlformats.org/drawingml/2006/main">
              <a:ext uri="{FF2B5EF4-FFF2-40B4-BE49-F238E27FC236}">
                <a16:creationId xmlns:a16="http://schemas.microsoft.com/office/drawing/2014/main" id="{BDA5ADB4-9636-430B-8FC5-EE8E4F4AC9EE}"/>
              </a:ext>
            </a:extLst>
          </p:cNvPr>
          <p:cNvSpPr>
            <a:spLocks xmlns:a="http://schemas.openxmlformats.org/drawingml/2006/main" noGrp="1"/>
          </p:cNvSpPr>
          <p:nvPr/>
        </p:nvSpPr>
        <p:spPr>
          <a:xfrm xmlns:a="http://schemas.openxmlformats.org/drawingml/2006/main">
            <a:off x="7191375" y="16002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Configure media uploads</a:t>
            </a:r>
          </a:p>
        </p:txBody>
      </p:sp>
      <p:sp>
        <p:nvSpPr>
          <p:cNvPr id="30" name="">
            <a:extLst xmlns:a="http://schemas.openxmlformats.org/drawingml/2006/main">
              <a:ext uri="{FF2B5EF4-FFF2-40B4-BE49-F238E27FC236}">
                <a16:creationId xmlns:a16="http://schemas.microsoft.com/office/drawing/2014/main" id="{02FE46B3-4CC5-4195-A601-325D8947C993}"/>
              </a:ext>
            </a:extLst>
          </p:cNvPr>
          <p:cNvSpPr>
            <a:spLocks xmlns:a="http://schemas.openxmlformats.org/drawingml/2006/main" noGrp="1"/>
          </p:cNvSpPr>
          <p:nvPr/>
        </p:nvSpPr>
        <p:spPr>
          <a:xfrm xmlns:a="http://schemas.openxmlformats.org/drawingml/2006/main">
            <a:off x="6477000" y="2400300"/>
            <a:ext cx="4762500" cy="609600"/>
          </a:xfrm>
          <a:prstGeom xmlns:a="http://schemas.openxmlformats.org/drawingml/2006/main" prst="roundRect">
            <a:avLst>
              <a:gd name="adj" fmla="val 12500"/>
            </a:avLst>
          </a:prstGeom>
          <a:solidFill xmlns:a="http://schemas.openxmlformats.org/drawingml/2006/main">
            <a:srgbClr val="DDEFF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5A4084C-1092-46F0-A0ED-8E95D5B5CE7E}"/>
              </a:ext>
            </a:extLst>
          </p:cNvPr>
          <p:cNvSpPr>
            <a:spLocks xmlns:a="http://schemas.openxmlformats.org/drawingml/2006/main" noGrp="1"/>
          </p:cNvSpPr>
          <p:nvPr/>
        </p:nvSpPr>
        <p:spPr>
          <a:xfrm xmlns:a="http://schemas.openxmlformats.org/drawingml/2006/main">
            <a:off x="6591300" y="24955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3AC2916-B3D6-4A42-97D4-CE236D57754C}"/>
              </a:ext>
            </a:extLst>
          </p:cNvPr>
          <p:cNvSpPr>
            <a:spLocks xmlns:a="http://schemas.openxmlformats.org/drawingml/2006/main" noGrp="1"/>
          </p:cNvSpPr>
          <p:nvPr/>
        </p:nvSpPr>
        <p:spPr>
          <a:xfrm xmlns:a="http://schemas.openxmlformats.org/drawingml/2006/main">
            <a:off x="6591300" y="24955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7</a:t>
            </a:r>
          </a:p>
        </p:txBody>
      </p:sp>
      <p:sp>
        <p:nvSpPr>
          <p:cNvPr id="33" name="">
            <a:extLst xmlns:a="http://schemas.openxmlformats.org/drawingml/2006/main">
              <a:ext uri="{FF2B5EF4-FFF2-40B4-BE49-F238E27FC236}">
                <a16:creationId xmlns:a16="http://schemas.microsoft.com/office/drawing/2014/main" id="{D237D9FD-C8F1-4217-8E4E-ACA5F06388C9}"/>
              </a:ext>
            </a:extLst>
          </p:cNvPr>
          <p:cNvSpPr>
            <a:spLocks xmlns:a="http://schemas.openxmlformats.org/drawingml/2006/main" noGrp="1"/>
          </p:cNvSpPr>
          <p:nvPr/>
        </p:nvSpPr>
        <p:spPr>
          <a:xfrm xmlns:a="http://schemas.openxmlformats.org/drawingml/2006/main">
            <a:off x="7191375" y="24765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Create Student model</a:t>
            </a:r>
          </a:p>
        </p:txBody>
      </p:sp>
      <p:sp>
        <p:nvSpPr>
          <p:cNvPr id="34" name="">
            <a:extLst xmlns:a="http://schemas.openxmlformats.org/drawingml/2006/main">
              <a:ext uri="{FF2B5EF4-FFF2-40B4-BE49-F238E27FC236}">
                <a16:creationId xmlns:a16="http://schemas.microsoft.com/office/drawing/2014/main" id="{B9A713DF-45C0-4A52-8F2B-E9EC92D523B8}"/>
              </a:ext>
            </a:extLst>
          </p:cNvPr>
          <p:cNvSpPr>
            <a:spLocks xmlns:a="http://schemas.openxmlformats.org/drawingml/2006/main" noGrp="1"/>
          </p:cNvSpPr>
          <p:nvPr/>
        </p:nvSpPr>
        <p:spPr>
          <a:xfrm xmlns:a="http://schemas.openxmlformats.org/drawingml/2006/main">
            <a:off x="6477000" y="3276600"/>
            <a:ext cx="4762500" cy="609600"/>
          </a:xfrm>
          <a:prstGeom xmlns:a="http://schemas.openxmlformats.org/drawingml/2006/main" prst="roundRect">
            <a:avLst>
              <a:gd name="adj" fmla="val 12500"/>
            </a:avLst>
          </a:prstGeom>
          <a:solidFill xmlns:a="http://schemas.openxmlformats.org/drawingml/2006/main">
            <a:srgbClr val="F4F8FB"/>
          </a:solidFill>
          <a:ln xmlns:a="http://schemas.openxmlformats.org/drawingml/2006/main" w="9525">
            <a:solidFill>
              <a:srgbClr val="C9D8E5"/>
            </a:solidFill>
          </a:ln>
        </p:spPr>
      </p:sp>
      <p:sp>
        <p:nvSpPr>
          <p:cNvPr id="35" name="">
            <a:extLst xmlns:a="http://schemas.openxmlformats.org/drawingml/2006/main">
              <a:ext uri="{FF2B5EF4-FFF2-40B4-BE49-F238E27FC236}">
                <a16:creationId xmlns:a16="http://schemas.microsoft.com/office/drawing/2014/main" id="{09D260AA-44E6-410E-84A1-8236AA06DED8}"/>
              </a:ext>
            </a:extLst>
          </p:cNvPr>
          <p:cNvSpPr>
            <a:spLocks xmlns:a="http://schemas.openxmlformats.org/drawingml/2006/main" noGrp="1"/>
          </p:cNvSpPr>
          <p:nvPr/>
        </p:nvSpPr>
        <p:spPr>
          <a:xfrm xmlns:a="http://schemas.openxmlformats.org/drawingml/2006/main">
            <a:off x="6591300" y="33718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D57DD72-096B-4D0C-82A6-9F811D8F1D35}"/>
              </a:ext>
            </a:extLst>
          </p:cNvPr>
          <p:cNvSpPr>
            <a:spLocks xmlns:a="http://schemas.openxmlformats.org/drawingml/2006/main" noGrp="1"/>
          </p:cNvSpPr>
          <p:nvPr/>
        </p:nvSpPr>
        <p:spPr>
          <a:xfrm xmlns:a="http://schemas.openxmlformats.org/drawingml/2006/main">
            <a:off x="6591300" y="33718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8</a:t>
            </a:r>
          </a:p>
        </p:txBody>
      </p:sp>
      <p:sp>
        <p:nvSpPr>
          <p:cNvPr id="37" name="">
            <a:extLst xmlns:a="http://schemas.openxmlformats.org/drawingml/2006/main">
              <a:ext uri="{FF2B5EF4-FFF2-40B4-BE49-F238E27FC236}">
                <a16:creationId xmlns:a16="http://schemas.microsoft.com/office/drawing/2014/main" id="{FD5FCFFB-A2BA-41D4-B525-61DF31235C4C}"/>
              </a:ext>
            </a:extLst>
          </p:cNvPr>
          <p:cNvSpPr>
            <a:spLocks xmlns:a="http://schemas.openxmlformats.org/drawingml/2006/main" noGrp="1"/>
          </p:cNvSpPr>
          <p:nvPr/>
        </p:nvSpPr>
        <p:spPr>
          <a:xfrm xmlns:a="http://schemas.openxmlformats.org/drawingml/2006/main">
            <a:off x="7191375" y="33528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Run migrations and use admin</a:t>
            </a:r>
          </a:p>
        </p:txBody>
      </p:sp>
      <p:sp>
        <p:nvSpPr>
          <p:cNvPr id="38" name="">
            <a:extLst xmlns:a="http://schemas.openxmlformats.org/drawingml/2006/main">
              <a:ext uri="{FF2B5EF4-FFF2-40B4-BE49-F238E27FC236}">
                <a16:creationId xmlns:a16="http://schemas.microsoft.com/office/drawing/2014/main" id="{CA6BAA25-4032-4F09-879D-32D241E0B312}"/>
              </a:ext>
            </a:extLst>
          </p:cNvPr>
          <p:cNvSpPr>
            <a:spLocks xmlns:a="http://schemas.openxmlformats.org/drawingml/2006/main" noGrp="1"/>
          </p:cNvSpPr>
          <p:nvPr/>
        </p:nvSpPr>
        <p:spPr>
          <a:xfrm xmlns:a="http://schemas.openxmlformats.org/drawingml/2006/main">
            <a:off x="6477000" y="4152900"/>
            <a:ext cx="4762500" cy="609600"/>
          </a:xfrm>
          <a:prstGeom xmlns:a="http://schemas.openxmlformats.org/drawingml/2006/main" prst="roundRect">
            <a:avLst>
              <a:gd name="adj" fmla="val 12500"/>
            </a:avLst>
          </a:prstGeom>
          <a:solidFill xmlns:a="http://schemas.openxmlformats.org/drawingml/2006/main">
            <a:srgbClr val="DDEFFC"/>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A68D398-D651-4315-B0B5-A32A6063597A}"/>
              </a:ext>
            </a:extLst>
          </p:cNvPr>
          <p:cNvSpPr>
            <a:spLocks xmlns:a="http://schemas.openxmlformats.org/drawingml/2006/main" noGrp="1"/>
          </p:cNvSpPr>
          <p:nvPr/>
        </p:nvSpPr>
        <p:spPr>
          <a:xfrm xmlns:a="http://schemas.openxmlformats.org/drawingml/2006/main">
            <a:off x="6591300" y="4248150"/>
            <a:ext cx="419100" cy="419100"/>
          </a:xfrm>
          <a:prstGeom xmlns:a="http://schemas.openxmlformats.org/drawingml/2006/main" prst="roundRect">
            <a:avLst>
              <a:gd name="adj" fmla="val 18182"/>
            </a:avLst>
          </a:prstGeom>
          <a:solidFill xmlns:a="http://schemas.openxmlformats.org/drawingml/2006/main">
            <a:srgbClr val="1261A0"/>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D4F4271-62D0-442C-95B0-C52FC310CAE9}"/>
              </a:ext>
            </a:extLst>
          </p:cNvPr>
          <p:cNvSpPr>
            <a:spLocks xmlns:a="http://schemas.openxmlformats.org/drawingml/2006/main" noGrp="1"/>
          </p:cNvSpPr>
          <p:nvPr/>
        </p:nvSpPr>
        <p:spPr>
          <a:xfrm xmlns:a="http://schemas.openxmlformats.org/drawingml/2006/main">
            <a:off x="6591300" y="42481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9</a:t>
            </a:r>
          </a:p>
        </p:txBody>
      </p:sp>
      <p:sp>
        <p:nvSpPr>
          <p:cNvPr id="41" name="">
            <a:extLst xmlns:a="http://schemas.openxmlformats.org/drawingml/2006/main">
              <a:ext uri="{FF2B5EF4-FFF2-40B4-BE49-F238E27FC236}">
                <a16:creationId xmlns:a16="http://schemas.microsoft.com/office/drawing/2014/main" id="{C19F294D-00D5-4FE1-9C3C-F071EA184BE0}"/>
              </a:ext>
            </a:extLst>
          </p:cNvPr>
          <p:cNvSpPr>
            <a:spLocks xmlns:a="http://schemas.openxmlformats.org/drawingml/2006/main" noGrp="1"/>
          </p:cNvSpPr>
          <p:nvPr/>
        </p:nvSpPr>
        <p:spPr>
          <a:xfrm xmlns:a="http://schemas.openxmlformats.org/drawingml/2006/main">
            <a:off x="7191375" y="42291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82A4A"/>
                </a:solidFill>
                <a:latin typeface="DejaVu Sans"/>
                <a:ea typeface="DejaVu Sans"/>
                <a:cs typeface="DejaVu Sans"/>
              </a:defRPr>
            </a:pPr>
            <a:r>
              <a:rPr sz="1275" b="1">
                <a:solidFill>
                  <a:srgbClr val="082A4A"/>
                </a:solidFill>
                <a:latin typeface="DejaVu Sans"/>
                <a:ea typeface="DejaVu Sans"/>
                <a:cs typeface="DejaVu Sans"/>
              </a:rPr>
              <a:t>Practise CRUD in Django shell</a:t>
            </a:r>
          </a:p>
        </p:txBody>
      </p:sp>
    </p:spTree>
    <p:extLst>
      <p:ext uri="{BB962C8B-B14F-4D97-AF65-F5344CB8AC3E}">
        <p14:creationId xmlns:p14="http://schemas.microsoft.com/office/powerpoint/2010/main" val="898506813"/>
      </p:ext>
    </p:extLst>
  </p:cSld>
</p:sld>
</file>

<file path=ppt/slides/slide24.xml><?xml version="1.0" encoding="utf-8"?>
<p:sld xmlns:p="http://schemas.openxmlformats.org/presentationml/2006/main">
  <p:cSld>
    <p:bg>
      <p:bgPr>
        <a:solidFill xmlns:a="http://schemas.openxmlformats.org/drawingml/2006/main">
          <a:srgbClr val="082A4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40D4D0-9BC6-4D02-9DD0-53D3190D9C2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080830-8CDC-4CEA-AFB6-E59C0184CA62}"/>
              </a:ext>
            </a:extLst>
          </p:cNvPr>
          <p:cNvSpPr>
            <a:spLocks xmlns:a="http://schemas.openxmlformats.org/drawingml/2006/main" noGrp="1"/>
          </p:cNvSpPr>
          <p:nvPr/>
        </p:nvSpPr>
        <p:spPr>
          <a:xfrm xmlns:a="http://schemas.openxmlformats.org/drawingml/2006/main">
            <a:off x="762000" y="762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Copy-and-paste code reference</a:t>
            </a:r>
          </a:p>
        </p:txBody>
      </p:sp>
      <p:sp>
        <p:nvSpPr>
          <p:cNvPr id="3" name="">
            <a:extLst xmlns:a="http://schemas.openxmlformats.org/drawingml/2006/main">
              <a:ext uri="{FF2B5EF4-FFF2-40B4-BE49-F238E27FC236}">
                <a16:creationId xmlns:a16="http://schemas.microsoft.com/office/drawing/2014/main" id="{52D239E5-F4CB-4CD2-B305-3BD9A8F353A4}"/>
              </a:ext>
            </a:extLst>
          </p:cNvPr>
          <p:cNvSpPr>
            <a:spLocks xmlns:a="http://schemas.openxmlformats.org/drawingml/2006/main" noGrp="1"/>
          </p:cNvSpPr>
          <p:nvPr/>
        </p:nvSpPr>
        <p:spPr>
          <a:xfrm xmlns:a="http://schemas.openxmlformats.org/drawingml/2006/main">
            <a:off x="1619250" y="1619250"/>
            <a:ext cx="895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B9D7EA"/>
                </a:solidFill>
                <a:latin typeface="DejaVu Sans"/>
                <a:ea typeface="DejaVu Sans"/>
                <a:cs typeface="DejaVu Sans"/>
              </a:defRPr>
            </a:pPr>
            <a:r>
              <a:rPr sz="1800" b="0">
                <a:solidFill>
                  <a:srgbClr val="B9D7EA"/>
                </a:solidFill>
                <a:latin typeface="DejaVu Sans"/>
                <a:ea typeface="DejaVu Sans"/>
                <a:cs typeface="DejaVu Sans"/>
              </a:rPr>
              <a:t>Use the next slides as complete file references while working in VS Code.</a:t>
            </a:r>
          </a:p>
        </p:txBody>
      </p:sp>
      <p:sp>
        <p:nvSpPr>
          <p:cNvPr id="4" name="">
            <a:extLst xmlns:a="http://schemas.openxmlformats.org/drawingml/2006/main">
              <a:ext uri="{FF2B5EF4-FFF2-40B4-BE49-F238E27FC236}">
                <a16:creationId xmlns:a16="http://schemas.microsoft.com/office/drawing/2014/main" id="{AD30A178-CB87-42E2-8099-0B791E7911A5}"/>
              </a:ext>
            </a:extLst>
          </p:cNvPr>
          <p:cNvSpPr>
            <a:spLocks xmlns:a="http://schemas.openxmlformats.org/drawingml/2006/main" noGrp="1"/>
          </p:cNvSpPr>
          <p:nvPr/>
        </p:nvSpPr>
        <p:spPr>
          <a:xfrm xmlns:a="http://schemas.openxmlformats.org/drawingml/2006/main">
            <a:off x="2190750" y="2714625"/>
            <a:ext cx="7810500" cy="2095500"/>
          </a:xfrm>
          <a:prstGeom xmlns:a="http://schemas.openxmlformats.org/drawingml/2006/main" prst="roundRect">
            <a:avLst>
              <a:gd name="adj" fmla="val 3636"/>
            </a:avLst>
          </a:prstGeom>
          <a:solidFill xmlns:a="http://schemas.openxmlformats.org/drawingml/2006/main">
            <a:srgbClr val="082A4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E4758F-13C0-41E5-85F1-4B5947200671}"/>
              </a:ext>
            </a:extLst>
          </p:cNvPr>
          <p:cNvSpPr>
            <a:spLocks xmlns:a="http://schemas.openxmlformats.org/drawingml/2006/main" noGrp="1"/>
          </p:cNvSpPr>
          <p:nvPr/>
        </p:nvSpPr>
        <p:spPr>
          <a:xfrm xmlns:a="http://schemas.openxmlformats.org/drawingml/2006/main">
            <a:off x="2400300" y="2828925"/>
            <a:ext cx="7391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HOW TO USE THIS SECTION</a:t>
            </a:r>
          </a:p>
        </p:txBody>
      </p:sp>
      <p:sp>
        <p:nvSpPr>
          <p:cNvPr id="6" name="">
            <a:extLst xmlns:a="http://schemas.openxmlformats.org/drawingml/2006/main">
              <a:ext uri="{FF2B5EF4-FFF2-40B4-BE49-F238E27FC236}">
                <a16:creationId xmlns:a16="http://schemas.microsoft.com/office/drawing/2014/main" id="{F1D21DEC-8BB6-4740-AA13-9398264E3F79}"/>
              </a:ext>
            </a:extLst>
          </p:cNvPr>
          <p:cNvSpPr>
            <a:spLocks xmlns:a="http://schemas.openxmlformats.org/drawingml/2006/main" noGrp="1"/>
          </p:cNvSpPr>
          <p:nvPr/>
        </p:nvSpPr>
        <p:spPr>
          <a:xfrm xmlns:a="http://schemas.openxmlformats.org/drawingml/2006/main">
            <a:off x="2400300" y="3114675"/>
            <a:ext cx="73914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1. Check the filename above each code block.</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2. Create or open that exact file in VS Code.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3. Copy the full code block.</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4. Save the file before running the next command.</a:t>
            </a:r>
          </a:p>
        </p:txBody>
      </p:sp>
      <p:sp>
        <p:nvSpPr>
          <p:cNvPr id="7" name="">
            <a:extLst xmlns:a="http://schemas.openxmlformats.org/drawingml/2006/main">
              <a:ext uri="{FF2B5EF4-FFF2-40B4-BE49-F238E27FC236}">
                <a16:creationId xmlns:a16="http://schemas.microsoft.com/office/drawing/2014/main" id="{3C1D6476-5860-4E05-A75F-6662DA4F10C4}"/>
              </a:ext>
            </a:extLst>
          </p:cNvPr>
          <p:cNvSpPr>
            <a:spLocks xmlns:a="http://schemas.openxmlformats.org/drawingml/2006/main" noGrp="1"/>
          </p:cNvSpPr>
          <p:nvPr/>
        </p:nvSpPr>
        <p:spPr>
          <a:xfrm xmlns:a="http://schemas.openxmlformats.org/drawingml/2006/main">
            <a:off x="3714750" y="5286375"/>
            <a:ext cx="4762500" cy="400050"/>
          </a:xfrm>
          <a:prstGeom xmlns:a="http://schemas.openxmlformats.org/drawingml/2006/main" prst="roundRect">
            <a:avLst>
              <a:gd name="adj" fmla="val 19048"/>
            </a:avLst>
          </a:prstGeom>
          <a:solidFill xmlns:a="http://schemas.openxmlformats.org/drawingml/2006/main">
            <a:srgbClr val="16A3C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38BD0A-ADD1-45C8-9F9D-FE0FB5592A4E}"/>
              </a:ext>
            </a:extLst>
          </p:cNvPr>
          <p:cNvSpPr>
            <a:spLocks xmlns:a="http://schemas.openxmlformats.org/drawingml/2006/main" noGrp="1"/>
          </p:cNvSpPr>
          <p:nvPr/>
        </p:nvSpPr>
        <p:spPr>
          <a:xfrm xmlns:a="http://schemas.openxmlformats.org/drawingml/2006/main">
            <a:off x="3829050" y="5324475"/>
            <a:ext cx="4533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Reference section: slides 25 to 33</a:t>
            </a:r>
          </a:p>
        </p:txBody>
      </p:sp>
    </p:spTree>
    <p:extLst>
      <p:ext uri="{BB962C8B-B14F-4D97-AF65-F5344CB8AC3E}">
        <p14:creationId xmlns:p14="http://schemas.microsoft.com/office/powerpoint/2010/main" val="20189759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D39E40-5C89-4238-9F77-D34D0CD88AB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57510F-9CBD-4FF2-9B5E-336880FFFCDB}"/>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29D211BE-EE6B-477B-A35C-209C72D165D7}"/>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Homepage view</a:t>
            </a:r>
          </a:p>
        </p:txBody>
      </p:sp>
      <p:sp>
        <p:nvSpPr>
          <p:cNvPr id="4" name="">
            <a:extLst xmlns:a="http://schemas.openxmlformats.org/drawingml/2006/main">
              <a:ext uri="{FF2B5EF4-FFF2-40B4-BE49-F238E27FC236}">
                <a16:creationId xmlns:a16="http://schemas.microsoft.com/office/drawing/2014/main" id="{61A38656-020A-4DED-B023-87317FBB9EE5}"/>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CC2AF1-4CD6-4B2E-A7C4-A9B8E92D50E2}"/>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25</a:t>
            </a:r>
          </a:p>
        </p:txBody>
      </p:sp>
      <p:sp>
        <p:nvSpPr>
          <p:cNvPr id="6" name="">
            <a:extLst xmlns:a="http://schemas.openxmlformats.org/drawingml/2006/main">
              <a:ext uri="{FF2B5EF4-FFF2-40B4-BE49-F238E27FC236}">
                <a16:creationId xmlns:a16="http://schemas.microsoft.com/office/drawing/2014/main" id="{587A294F-6883-4D91-91AB-DB6551D7E61E}"/>
              </a:ext>
            </a:extLst>
          </p:cNvPr>
          <p:cNvSpPr>
            <a:spLocks xmlns:a="http://schemas.openxmlformats.org/drawingml/2006/main" noGrp="1"/>
          </p:cNvSpPr>
          <p:nvPr/>
        </p:nvSpPr>
        <p:spPr>
          <a:xfrm xmlns:a="http://schemas.openxmlformats.org/drawingml/2006/main">
            <a:off x="1047750" y="1714500"/>
            <a:ext cx="10096500" cy="2381250"/>
          </a:xfrm>
          <a:prstGeom xmlns:a="http://schemas.openxmlformats.org/drawingml/2006/main" prst="roundRect">
            <a:avLst>
              <a:gd name="adj" fmla="val 3200"/>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89C307-8694-4446-99A0-0FEE96DE63B5}"/>
              </a:ext>
            </a:extLst>
          </p:cNvPr>
          <p:cNvSpPr>
            <a:spLocks xmlns:a="http://schemas.openxmlformats.org/drawingml/2006/main" noGrp="1"/>
          </p:cNvSpPr>
          <p:nvPr/>
        </p:nvSpPr>
        <p:spPr>
          <a:xfrm xmlns:a="http://schemas.openxmlformats.org/drawingml/2006/main">
            <a:off x="1257300" y="1828800"/>
            <a:ext cx="967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students/views.py</a:t>
            </a:r>
          </a:p>
        </p:txBody>
      </p:sp>
      <p:sp>
        <p:nvSpPr>
          <p:cNvPr id="8" name="">
            <a:extLst xmlns:a="http://schemas.openxmlformats.org/drawingml/2006/main">
              <a:ext uri="{FF2B5EF4-FFF2-40B4-BE49-F238E27FC236}">
                <a16:creationId xmlns:a16="http://schemas.microsoft.com/office/drawing/2014/main" id="{16C9ADE8-FC32-408A-8D2E-CCBD60536045}"/>
              </a:ext>
            </a:extLst>
          </p:cNvPr>
          <p:cNvSpPr>
            <a:spLocks xmlns:a="http://schemas.openxmlformats.org/drawingml/2006/main" noGrp="1"/>
          </p:cNvSpPr>
          <p:nvPr/>
        </p:nvSpPr>
        <p:spPr>
          <a:xfrm xmlns:a="http://schemas.openxmlformats.org/drawingml/2006/main">
            <a:off x="1257300" y="2114550"/>
            <a:ext cx="96774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django.shortcuts import render</a:t>
            </a:r>
          </a:p>
          <a:p xmlns:a="http://schemas.openxmlformats.org/drawingml/2006/main">
            <a:r>
              <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def home(request):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return render(request, "students/home.html")</a:t>
            </a:r>
          </a:p>
        </p:txBody>
      </p:sp>
      <p:sp>
        <p:nvSpPr>
          <p:cNvPr id="9" name="">
            <a:extLst xmlns:a="http://schemas.openxmlformats.org/drawingml/2006/main">
              <a:ext uri="{FF2B5EF4-FFF2-40B4-BE49-F238E27FC236}">
                <a16:creationId xmlns:a16="http://schemas.microsoft.com/office/drawing/2014/main" id="{655741D5-3365-4C55-A9A1-E85C0051DBB9}"/>
              </a:ext>
            </a:extLst>
          </p:cNvPr>
          <p:cNvSpPr>
            <a:spLocks xmlns:a="http://schemas.openxmlformats.org/drawingml/2006/main" noGrp="1"/>
          </p:cNvSpPr>
          <p:nvPr/>
        </p:nvSpPr>
        <p:spPr>
          <a:xfrm xmlns:a="http://schemas.openxmlformats.org/drawingml/2006/main">
            <a:off x="2190750" y="4619625"/>
            <a:ext cx="7810500" cy="1143000"/>
          </a:xfrm>
          <a:prstGeom xmlns:a="http://schemas.openxmlformats.org/drawingml/2006/main" prst="roundRect">
            <a:avLst>
              <a:gd name="adj" fmla="val 6667"/>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FBD6EB49-BF6E-49DD-AC9B-73780C979B27}"/>
              </a:ext>
            </a:extLst>
          </p:cNvPr>
          <p:cNvSpPr>
            <a:spLocks xmlns:a="http://schemas.openxmlformats.org/drawingml/2006/main" noGrp="1"/>
          </p:cNvSpPr>
          <p:nvPr/>
        </p:nvSpPr>
        <p:spPr>
          <a:xfrm xmlns:a="http://schemas.openxmlformats.org/drawingml/2006/main">
            <a:off x="2190750" y="4619625"/>
            <a:ext cx="76200" cy="114300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F54801-2DEC-453E-9F21-79889EC39599}"/>
              </a:ext>
            </a:extLst>
          </p:cNvPr>
          <p:cNvSpPr>
            <a:spLocks xmlns:a="http://schemas.openxmlformats.org/drawingml/2006/main" noGrp="1"/>
          </p:cNvSpPr>
          <p:nvPr/>
        </p:nvSpPr>
        <p:spPr>
          <a:xfrm xmlns:a="http://schemas.openxmlformats.org/drawingml/2006/main">
            <a:off x="2457450" y="4791075"/>
            <a:ext cx="7353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Purpose</a:t>
            </a:r>
          </a:p>
        </p:txBody>
      </p:sp>
      <p:sp>
        <p:nvSpPr>
          <p:cNvPr id="12" name="">
            <a:extLst xmlns:a="http://schemas.openxmlformats.org/drawingml/2006/main">
              <a:ext uri="{FF2B5EF4-FFF2-40B4-BE49-F238E27FC236}">
                <a16:creationId xmlns:a16="http://schemas.microsoft.com/office/drawing/2014/main" id="{2A7BB4E7-2E9B-4637-96D5-96DE451EA00A}"/>
              </a:ext>
            </a:extLst>
          </p:cNvPr>
          <p:cNvSpPr>
            <a:spLocks xmlns:a="http://schemas.openxmlformats.org/drawingml/2006/main" noGrp="1"/>
          </p:cNvSpPr>
          <p:nvPr/>
        </p:nvSpPr>
        <p:spPr>
          <a:xfrm xmlns:a="http://schemas.openxmlformats.org/drawingml/2006/main">
            <a:off x="2457450" y="5172075"/>
            <a:ext cx="7353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The home view receives a request and returns the students/home.html template.</a:t>
            </a:r>
          </a:p>
        </p:txBody>
      </p:sp>
    </p:spTree>
    <p:extLst>
      <p:ext uri="{BB962C8B-B14F-4D97-AF65-F5344CB8AC3E}">
        <p14:creationId xmlns:p14="http://schemas.microsoft.com/office/powerpoint/2010/main" val="22820467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B67A39-6941-494E-978C-FAF5325E658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6CB10A-2F2B-4BB4-99D3-78286D3679E7}"/>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F457B8B1-B9D9-43EA-B7A8-F88676B211DB}"/>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Application and project URLs</a:t>
            </a:r>
          </a:p>
        </p:txBody>
      </p:sp>
      <p:sp>
        <p:nvSpPr>
          <p:cNvPr id="4" name="">
            <a:extLst xmlns:a="http://schemas.openxmlformats.org/drawingml/2006/main">
              <a:ext uri="{FF2B5EF4-FFF2-40B4-BE49-F238E27FC236}">
                <a16:creationId xmlns:a16="http://schemas.microsoft.com/office/drawing/2014/main" id="{7D31DE92-FF1E-43AC-9CA1-61C41DAF49A8}"/>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CBD6F4-CB7A-4017-80D1-C5448E1AC418}"/>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26</a:t>
            </a:r>
          </a:p>
        </p:txBody>
      </p:sp>
      <p:sp>
        <p:nvSpPr>
          <p:cNvPr id="6" name="">
            <a:extLst xmlns:a="http://schemas.openxmlformats.org/drawingml/2006/main">
              <a:ext uri="{FF2B5EF4-FFF2-40B4-BE49-F238E27FC236}">
                <a16:creationId xmlns:a16="http://schemas.microsoft.com/office/drawing/2014/main" id="{5E2934C2-FCCE-4A77-9DE5-9F0ACB361036}"/>
              </a:ext>
            </a:extLst>
          </p:cNvPr>
          <p:cNvSpPr>
            <a:spLocks xmlns:a="http://schemas.openxmlformats.org/drawingml/2006/main" noGrp="1"/>
          </p:cNvSpPr>
          <p:nvPr/>
        </p:nvSpPr>
        <p:spPr>
          <a:xfrm xmlns:a="http://schemas.openxmlformats.org/drawingml/2006/main">
            <a:off x="666750" y="1619250"/>
            <a:ext cx="5143500" cy="2857500"/>
          </a:xfrm>
          <a:prstGeom xmlns:a="http://schemas.openxmlformats.org/drawingml/2006/main" prst="roundRect">
            <a:avLst>
              <a:gd name="adj" fmla="val 2667"/>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8245AF-F352-40D4-BB55-4541A8D6C156}"/>
              </a:ext>
            </a:extLst>
          </p:cNvPr>
          <p:cNvSpPr>
            <a:spLocks xmlns:a="http://schemas.openxmlformats.org/drawingml/2006/main" noGrp="1"/>
          </p:cNvSpPr>
          <p:nvPr/>
        </p:nvSpPr>
        <p:spPr>
          <a:xfrm xmlns:a="http://schemas.openxmlformats.org/drawingml/2006/main">
            <a:off x="876300" y="1733550"/>
            <a:ext cx="472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students/urls.py</a:t>
            </a:r>
          </a:p>
        </p:txBody>
      </p:sp>
      <p:sp>
        <p:nvSpPr>
          <p:cNvPr id="8" name="">
            <a:extLst xmlns:a="http://schemas.openxmlformats.org/drawingml/2006/main">
              <a:ext uri="{FF2B5EF4-FFF2-40B4-BE49-F238E27FC236}">
                <a16:creationId xmlns:a16="http://schemas.microsoft.com/office/drawing/2014/main" id="{DC59E5E2-5B04-42F1-AE15-1C32B573A213}"/>
              </a:ext>
            </a:extLst>
          </p:cNvPr>
          <p:cNvSpPr>
            <a:spLocks xmlns:a="http://schemas.openxmlformats.org/drawingml/2006/main" noGrp="1"/>
          </p:cNvSpPr>
          <p:nvPr/>
        </p:nvSpPr>
        <p:spPr>
          <a:xfrm xmlns:a="http://schemas.openxmlformats.org/drawingml/2006/main">
            <a:off x="876300" y="2019300"/>
            <a:ext cx="47244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django.urls import path</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 import views</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urlpatterns =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path("", views.home, name="home"),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2EAA10CA-2136-478A-BAB8-14BF56A238C5}"/>
              </a:ext>
            </a:extLst>
          </p:cNvPr>
          <p:cNvSpPr>
            <a:spLocks xmlns:a="http://schemas.openxmlformats.org/drawingml/2006/main" noGrp="1"/>
          </p:cNvSpPr>
          <p:nvPr/>
        </p:nvSpPr>
        <p:spPr>
          <a:xfrm xmlns:a="http://schemas.openxmlformats.org/drawingml/2006/main">
            <a:off x="6191250" y="1428750"/>
            <a:ext cx="5334000" cy="4333875"/>
          </a:xfrm>
          <a:prstGeom xmlns:a="http://schemas.openxmlformats.org/drawingml/2006/main" prst="roundRect">
            <a:avLst>
              <a:gd name="adj" fmla="val 1758"/>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17AA3F-6E30-471A-84D1-103ACAD42ADB}"/>
              </a:ext>
            </a:extLst>
          </p:cNvPr>
          <p:cNvSpPr>
            <a:spLocks xmlns:a="http://schemas.openxmlformats.org/drawingml/2006/main" noGrp="1"/>
          </p:cNvSpPr>
          <p:nvPr/>
        </p:nvSpPr>
        <p:spPr>
          <a:xfrm xmlns:a="http://schemas.openxmlformats.org/drawingml/2006/main">
            <a:off x="6400800" y="15430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config/urls.py</a:t>
            </a:r>
          </a:p>
        </p:txBody>
      </p:sp>
      <p:sp>
        <p:nvSpPr>
          <p:cNvPr id="11" name="">
            <a:extLst xmlns:a="http://schemas.openxmlformats.org/drawingml/2006/main">
              <a:ext uri="{FF2B5EF4-FFF2-40B4-BE49-F238E27FC236}">
                <a16:creationId xmlns:a16="http://schemas.microsoft.com/office/drawing/2014/main" id="{F9C20DBB-DEBA-4E8F-923B-298F1F2B3966}"/>
              </a:ext>
            </a:extLst>
          </p:cNvPr>
          <p:cNvSpPr>
            <a:spLocks xmlns:a="http://schemas.openxmlformats.org/drawingml/2006/main" noGrp="1"/>
          </p:cNvSpPr>
          <p:nvPr/>
        </p:nvSpPr>
        <p:spPr>
          <a:xfrm xmlns:a="http://schemas.openxmlformats.org/drawingml/2006/main">
            <a:off x="6400800" y="1828800"/>
            <a:ext cx="4914900" cy="381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django.conf import settings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django.conf.urls.static import static</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django.contrib import admin</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django.urls import include, path</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urlpatterns =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path("admin/", admin.site.urls),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path("", include("students.urls")),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if settings.DEBUG:</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urlpatterns += static(</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settings.MEDIA_URL,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document_root=settings.MEDIA_ROOT,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t>
            </a:r>
          </a:p>
        </p:txBody>
      </p:sp>
    </p:spTree>
    <p:extLst>
      <p:ext uri="{BB962C8B-B14F-4D97-AF65-F5344CB8AC3E}">
        <p14:creationId xmlns:p14="http://schemas.microsoft.com/office/powerpoint/2010/main" val="90876634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4E1A4F-F131-4B01-8717-65DA1340E2E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A5CB7-57B5-47CC-B1FB-72A7F890E47A}"/>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392A9DC3-AEE8-4E07-881A-0B4D16CE11BE}"/>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Homepage template</a:t>
            </a:r>
          </a:p>
        </p:txBody>
      </p:sp>
      <p:sp>
        <p:nvSpPr>
          <p:cNvPr id="4" name="">
            <a:extLst xmlns:a="http://schemas.openxmlformats.org/drawingml/2006/main">
              <a:ext uri="{FF2B5EF4-FFF2-40B4-BE49-F238E27FC236}">
                <a16:creationId xmlns:a16="http://schemas.microsoft.com/office/drawing/2014/main" id="{9E2D64FB-6241-4899-8713-4614162ED912}"/>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16F7D5-23EA-420B-9B06-B701D6B11C4F}"/>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27</a:t>
            </a:r>
          </a:p>
        </p:txBody>
      </p:sp>
      <p:sp>
        <p:nvSpPr>
          <p:cNvPr id="6" name="">
            <a:extLst xmlns:a="http://schemas.openxmlformats.org/drawingml/2006/main">
              <a:ext uri="{FF2B5EF4-FFF2-40B4-BE49-F238E27FC236}">
                <a16:creationId xmlns:a16="http://schemas.microsoft.com/office/drawing/2014/main" id="{BECE16DE-8849-41DB-8C53-7505D52DC887}"/>
              </a:ext>
            </a:extLst>
          </p:cNvPr>
          <p:cNvSpPr>
            <a:spLocks xmlns:a="http://schemas.openxmlformats.org/drawingml/2006/main" noGrp="1"/>
          </p:cNvSpPr>
          <p:nvPr/>
        </p:nvSpPr>
        <p:spPr>
          <a:xfrm xmlns:a="http://schemas.openxmlformats.org/drawingml/2006/main">
            <a:off x="952500" y="1381125"/>
            <a:ext cx="10287000" cy="4762500"/>
          </a:xfrm>
          <a:prstGeom xmlns:a="http://schemas.openxmlformats.org/drawingml/2006/main" prst="roundRect">
            <a:avLst>
              <a:gd name="adj" fmla="val 1600"/>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34EDD0-B7EF-4942-827A-5409ED906DE7}"/>
              </a:ext>
            </a:extLst>
          </p:cNvPr>
          <p:cNvSpPr>
            <a:spLocks xmlns:a="http://schemas.openxmlformats.org/drawingml/2006/main" noGrp="1"/>
          </p:cNvSpPr>
          <p:nvPr/>
        </p:nvSpPr>
        <p:spPr>
          <a:xfrm xmlns:a="http://schemas.openxmlformats.org/drawingml/2006/main">
            <a:off x="1162050" y="1495425"/>
            <a:ext cx="986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students/templates/students/home.html</a:t>
            </a:r>
          </a:p>
        </p:txBody>
      </p:sp>
      <p:sp>
        <p:nvSpPr>
          <p:cNvPr id="8" name="">
            <a:extLst xmlns:a="http://schemas.openxmlformats.org/drawingml/2006/main">
              <a:ext uri="{FF2B5EF4-FFF2-40B4-BE49-F238E27FC236}">
                <a16:creationId xmlns:a16="http://schemas.microsoft.com/office/drawing/2014/main" id="{983E7314-541C-43DA-9CB9-51B12008D246}"/>
              </a:ext>
            </a:extLst>
          </p:cNvPr>
          <p:cNvSpPr>
            <a:spLocks xmlns:a="http://schemas.openxmlformats.org/drawingml/2006/main" noGrp="1"/>
          </p:cNvSpPr>
          <p:nvPr/>
        </p:nvSpPr>
        <p:spPr>
          <a:xfrm xmlns:a="http://schemas.openxmlformats.org/drawingml/2006/main">
            <a:off x="1162050" y="1781175"/>
            <a:ext cx="98679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load static %}</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&lt;!DOCTYPE html&gt;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&lt;html lang="en"&gt;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&lt;head&gt;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&lt;meta charset="UTF-8"&gt;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&lt;meta name="viewport" content="width=device-width, initial-scale=1.0"&gt;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&lt;title&gt;Student Portal&lt;/title&gt;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&lt;link rel="stylesheet" href="{% static 'students/css/style.css' %}"&gt;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&lt;/head&gt;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&lt;body&gt;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&lt;div class="container"&gt;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&lt;h1&gt;Welcome to Our Student Portal&lt;/h1&gt;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&lt;p&gt;Learn Python and Django with us.&lt;/p&gt;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&lt;/div&gt;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&lt;/body&gt;</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&lt;/html&gt;</a:t>
            </a:r>
          </a:p>
        </p:txBody>
      </p:sp>
    </p:spTree>
    <p:extLst>
      <p:ext uri="{BB962C8B-B14F-4D97-AF65-F5344CB8AC3E}">
        <p14:creationId xmlns:p14="http://schemas.microsoft.com/office/powerpoint/2010/main" val="4814193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1A30A9-B8A4-47B2-98EA-543F69A659D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D98C32-782C-435D-B35A-9331D40DF741}"/>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85C2341B-5C37-4A18-96AE-47601B792BBC}"/>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Homepage stylesheet</a:t>
            </a:r>
          </a:p>
        </p:txBody>
      </p:sp>
      <p:sp>
        <p:nvSpPr>
          <p:cNvPr id="4" name="">
            <a:extLst xmlns:a="http://schemas.openxmlformats.org/drawingml/2006/main">
              <a:ext uri="{FF2B5EF4-FFF2-40B4-BE49-F238E27FC236}">
                <a16:creationId xmlns:a16="http://schemas.microsoft.com/office/drawing/2014/main" id="{CCC0A2A2-1683-42ED-BDB8-4FD62F73CD66}"/>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2D3FEB-0196-4446-B734-69AFC7585D87}"/>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28</a:t>
            </a:r>
          </a:p>
        </p:txBody>
      </p:sp>
      <p:sp>
        <p:nvSpPr>
          <p:cNvPr id="6" name="">
            <a:extLst xmlns:a="http://schemas.openxmlformats.org/drawingml/2006/main">
              <a:ext uri="{FF2B5EF4-FFF2-40B4-BE49-F238E27FC236}">
                <a16:creationId xmlns:a16="http://schemas.microsoft.com/office/drawing/2014/main" id="{F5F33B60-B547-424A-B1B0-20D1B7EEBE98}"/>
              </a:ext>
            </a:extLst>
          </p:cNvPr>
          <p:cNvSpPr>
            <a:spLocks xmlns:a="http://schemas.openxmlformats.org/drawingml/2006/main" noGrp="1"/>
          </p:cNvSpPr>
          <p:nvPr/>
        </p:nvSpPr>
        <p:spPr>
          <a:xfrm xmlns:a="http://schemas.openxmlformats.org/drawingml/2006/main">
            <a:off x="1619250" y="1381125"/>
            <a:ext cx="8953500" cy="4857750"/>
          </a:xfrm>
          <a:prstGeom xmlns:a="http://schemas.openxmlformats.org/drawingml/2006/main" prst="roundRect">
            <a:avLst>
              <a:gd name="adj" fmla="val 1569"/>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1FC174-C8F1-4457-BACB-019AEE10B749}"/>
              </a:ext>
            </a:extLst>
          </p:cNvPr>
          <p:cNvSpPr>
            <a:spLocks xmlns:a="http://schemas.openxmlformats.org/drawingml/2006/main" noGrp="1"/>
          </p:cNvSpPr>
          <p:nvPr/>
        </p:nvSpPr>
        <p:spPr>
          <a:xfrm xmlns:a="http://schemas.openxmlformats.org/drawingml/2006/main">
            <a:off x="1828800" y="1495425"/>
            <a:ext cx="853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students/static/students/css/style.css</a:t>
            </a:r>
          </a:p>
        </p:txBody>
      </p:sp>
      <p:sp>
        <p:nvSpPr>
          <p:cNvPr id="8" name="">
            <a:extLst xmlns:a="http://schemas.openxmlformats.org/drawingml/2006/main">
              <a:ext uri="{FF2B5EF4-FFF2-40B4-BE49-F238E27FC236}">
                <a16:creationId xmlns:a16="http://schemas.microsoft.com/office/drawing/2014/main" id="{DBBBA9DC-0BA4-49FC-AA0B-A3A33FD15EA2}"/>
              </a:ext>
            </a:extLst>
          </p:cNvPr>
          <p:cNvSpPr>
            <a:spLocks xmlns:a="http://schemas.openxmlformats.org/drawingml/2006/main" noGrp="1"/>
          </p:cNvSpPr>
          <p:nvPr/>
        </p:nvSpPr>
        <p:spPr>
          <a:xfrm xmlns:a="http://schemas.openxmlformats.org/drawingml/2006/main">
            <a:off x="1828800" y="1781175"/>
            <a:ext cx="8534400" cy="434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body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margin: 0;</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font-family: Arial, sans-serif;</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background-color: #f4f7fb;</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color: #222;</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.container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width: 80%;</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margin: 60px auto;</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padding: 40px;</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text-align: center;</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background-color: white;</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border-radius: 12px;</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h1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color: #001f5b;</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p {</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    font-size: 18px;</a:t>
            </a:r>
          </a:p>
          <a:p xmlns:a="http://schemas.openxmlformats.org/drawingml/2006/main">
            <a:pPr algn="l">
              <a:defRPr sz="1050" b="0">
                <a:solidFill>
                  <a:srgbClr val="FFFFFF"/>
                </a:solidFill>
                <a:latin typeface="DejaVu Sans Mono"/>
                <a:ea typeface="DejaVu Sans Mono"/>
                <a:cs typeface="DejaVu Sans Mono"/>
              </a:defRPr>
            </a:pPr>
            <a:r>
              <a:rPr sz="1050"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123296224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7F42A4-D098-4E8C-960A-D8E118F753F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F6DD76-25E2-4DA6-BD74-5A0308999571}"/>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DAA623F1-24E4-43A8-89E4-B8256F79675A}"/>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Settings additions</a:t>
            </a:r>
          </a:p>
        </p:txBody>
      </p:sp>
      <p:sp>
        <p:nvSpPr>
          <p:cNvPr id="4" name="">
            <a:extLst xmlns:a="http://schemas.openxmlformats.org/drawingml/2006/main">
              <a:ext uri="{FF2B5EF4-FFF2-40B4-BE49-F238E27FC236}">
                <a16:creationId xmlns:a16="http://schemas.microsoft.com/office/drawing/2014/main" id="{689EC93C-782C-490D-BA02-008D01973E06}"/>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33532A-F92D-4972-9455-2120F8FBA783}"/>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29</a:t>
            </a:r>
          </a:p>
        </p:txBody>
      </p:sp>
      <p:sp>
        <p:nvSpPr>
          <p:cNvPr id="6" name="">
            <a:extLst xmlns:a="http://schemas.openxmlformats.org/drawingml/2006/main">
              <a:ext uri="{FF2B5EF4-FFF2-40B4-BE49-F238E27FC236}">
                <a16:creationId xmlns:a16="http://schemas.microsoft.com/office/drawing/2014/main" id="{4B3B4C83-47EB-48AE-95A2-7018B611F1E4}"/>
              </a:ext>
            </a:extLst>
          </p:cNvPr>
          <p:cNvSpPr>
            <a:spLocks xmlns:a="http://schemas.openxmlformats.org/drawingml/2006/main" noGrp="1"/>
          </p:cNvSpPr>
          <p:nvPr/>
        </p:nvSpPr>
        <p:spPr>
          <a:xfrm xmlns:a="http://schemas.openxmlformats.org/drawingml/2006/main">
            <a:off x="666750" y="1476375"/>
            <a:ext cx="5334000" cy="3429000"/>
          </a:xfrm>
          <a:prstGeom xmlns:a="http://schemas.openxmlformats.org/drawingml/2006/main" prst="roundRect">
            <a:avLst>
              <a:gd name="adj" fmla="val 2222"/>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88BDCF-C41A-406F-8076-B0FD863B34D0}"/>
              </a:ext>
            </a:extLst>
          </p:cNvPr>
          <p:cNvSpPr>
            <a:spLocks xmlns:a="http://schemas.openxmlformats.org/drawingml/2006/main" noGrp="1"/>
          </p:cNvSpPr>
          <p:nvPr/>
        </p:nvSpPr>
        <p:spPr>
          <a:xfrm xmlns:a="http://schemas.openxmlformats.org/drawingml/2006/main">
            <a:off x="876300" y="1590675"/>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 INSTALLED_APPS</a:t>
            </a:r>
          </a:p>
        </p:txBody>
      </p:sp>
      <p:sp>
        <p:nvSpPr>
          <p:cNvPr id="8" name="">
            <a:extLst xmlns:a="http://schemas.openxmlformats.org/drawingml/2006/main">
              <a:ext uri="{FF2B5EF4-FFF2-40B4-BE49-F238E27FC236}">
                <a16:creationId xmlns:a16="http://schemas.microsoft.com/office/drawing/2014/main" id="{03420DB4-0B89-4FF4-A6D6-AB421F369D1D}"/>
              </a:ext>
            </a:extLst>
          </p:cNvPr>
          <p:cNvSpPr>
            <a:spLocks xmlns:a="http://schemas.openxmlformats.org/drawingml/2006/main" noGrp="1"/>
          </p:cNvSpPr>
          <p:nvPr/>
        </p:nvSpPr>
        <p:spPr>
          <a:xfrm xmlns:a="http://schemas.openxmlformats.org/drawingml/2006/main">
            <a:off x="876300" y="1876425"/>
            <a:ext cx="49149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INSTALLED_APPS =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"django.contrib.admin",</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"django.contrib.auth",</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"django.contrib.contenttypes",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"django.contrib.sessions",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"django.contrib.messages",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"django.contrib.staticfiles",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"students",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8D01939A-F8A4-4B70-B0F4-46AC89AC7336}"/>
              </a:ext>
            </a:extLst>
          </p:cNvPr>
          <p:cNvSpPr>
            <a:spLocks xmlns:a="http://schemas.openxmlformats.org/drawingml/2006/main" noGrp="1"/>
          </p:cNvSpPr>
          <p:nvPr/>
        </p:nvSpPr>
        <p:spPr>
          <a:xfrm xmlns:a="http://schemas.openxmlformats.org/drawingml/2006/main">
            <a:off x="6477000" y="1476375"/>
            <a:ext cx="5048250" cy="1714500"/>
          </a:xfrm>
          <a:prstGeom xmlns:a="http://schemas.openxmlformats.org/drawingml/2006/main" prst="roundRect">
            <a:avLst>
              <a:gd name="adj" fmla="val 4444"/>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0DA7A2-79FE-4539-89AE-FD21FCCD23F1}"/>
              </a:ext>
            </a:extLst>
          </p:cNvPr>
          <p:cNvSpPr>
            <a:spLocks xmlns:a="http://schemas.openxmlformats.org/drawingml/2006/main" noGrp="1"/>
          </p:cNvSpPr>
          <p:nvPr/>
        </p:nvSpPr>
        <p:spPr>
          <a:xfrm xmlns:a="http://schemas.openxmlformats.org/drawingml/2006/main">
            <a:off x="6686550" y="1590675"/>
            <a:ext cx="462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config/settings.py: bottom of file</a:t>
            </a:r>
          </a:p>
        </p:txBody>
      </p:sp>
      <p:sp>
        <p:nvSpPr>
          <p:cNvPr id="11" name="">
            <a:extLst xmlns:a="http://schemas.openxmlformats.org/drawingml/2006/main">
              <a:ext uri="{FF2B5EF4-FFF2-40B4-BE49-F238E27FC236}">
                <a16:creationId xmlns:a16="http://schemas.microsoft.com/office/drawing/2014/main" id="{A1BFFFA5-7B66-49AB-BD6C-D8D7034775A7}"/>
              </a:ext>
            </a:extLst>
          </p:cNvPr>
          <p:cNvSpPr>
            <a:spLocks xmlns:a="http://schemas.openxmlformats.org/drawingml/2006/main" noGrp="1"/>
          </p:cNvSpPr>
          <p:nvPr/>
        </p:nvSpPr>
        <p:spPr>
          <a:xfrm xmlns:a="http://schemas.openxmlformats.org/drawingml/2006/main">
            <a:off x="6686550" y="1876425"/>
            <a:ext cx="4629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STATIC_URL = "static/"</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MEDIA_URL = "media/"</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MEDIA_ROOT = BASE_DIR / "media"</a:t>
            </a:r>
          </a:p>
        </p:txBody>
      </p:sp>
      <p:sp>
        <p:nvSpPr>
          <p:cNvPr id="12" name="">
            <a:extLst xmlns:a="http://schemas.openxmlformats.org/drawingml/2006/main">
              <a:ext uri="{FF2B5EF4-FFF2-40B4-BE49-F238E27FC236}">
                <a16:creationId xmlns:a16="http://schemas.microsoft.com/office/drawing/2014/main" id="{787F3168-B5E6-42F3-8FAD-E5E0A0463EBE}"/>
              </a:ext>
            </a:extLst>
          </p:cNvPr>
          <p:cNvSpPr>
            <a:spLocks xmlns:a="http://schemas.openxmlformats.org/drawingml/2006/main" noGrp="1"/>
          </p:cNvSpPr>
          <p:nvPr/>
        </p:nvSpPr>
        <p:spPr>
          <a:xfrm xmlns:a="http://schemas.openxmlformats.org/drawingml/2006/main">
            <a:off x="6477000" y="3667125"/>
            <a:ext cx="5048250" cy="1428750"/>
          </a:xfrm>
          <a:prstGeom xmlns:a="http://schemas.openxmlformats.org/drawingml/2006/main" prst="roundRect">
            <a:avLst>
              <a:gd name="adj" fmla="val 5333"/>
            </a:avLst>
          </a:prstGeom>
          <a:solidFill xmlns:a="http://schemas.openxmlformats.org/drawingml/2006/main">
            <a:srgbClr val="F4F8FB"/>
          </a:solidFill>
          <a:ln xmlns:a="http://schemas.openxmlformats.org/drawingml/2006/main" w="9525">
            <a:solidFill>
              <a:srgbClr val="C9D8E5"/>
            </a:solidFill>
          </a:ln>
        </p:spPr>
      </p:sp>
      <p:sp>
        <p:nvSpPr>
          <p:cNvPr id="13" name="">
            <a:extLst xmlns:a="http://schemas.openxmlformats.org/drawingml/2006/main">
              <a:ext uri="{FF2B5EF4-FFF2-40B4-BE49-F238E27FC236}">
                <a16:creationId xmlns:a16="http://schemas.microsoft.com/office/drawing/2014/main" id="{840C0193-6F3D-4DB9-BD58-13CBF704C1A7}"/>
              </a:ext>
            </a:extLst>
          </p:cNvPr>
          <p:cNvSpPr>
            <a:spLocks xmlns:a="http://schemas.openxmlformats.org/drawingml/2006/main" noGrp="1"/>
          </p:cNvSpPr>
          <p:nvPr/>
        </p:nvSpPr>
        <p:spPr>
          <a:xfrm xmlns:a="http://schemas.openxmlformats.org/drawingml/2006/main">
            <a:off x="6477000" y="3667125"/>
            <a:ext cx="76200" cy="1428750"/>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5E89B4-B270-466B-93C5-96220EDC162B}"/>
              </a:ext>
            </a:extLst>
          </p:cNvPr>
          <p:cNvSpPr>
            <a:spLocks xmlns:a="http://schemas.openxmlformats.org/drawingml/2006/main" noGrp="1"/>
          </p:cNvSpPr>
          <p:nvPr/>
        </p:nvSpPr>
        <p:spPr>
          <a:xfrm xmlns:a="http://schemas.openxmlformats.org/drawingml/2006/main">
            <a:off x="6743700" y="3838575"/>
            <a:ext cx="459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Placement</a:t>
            </a:r>
          </a:p>
        </p:txBody>
      </p:sp>
      <p:sp>
        <p:nvSpPr>
          <p:cNvPr id="15" name="">
            <a:extLst xmlns:a="http://schemas.openxmlformats.org/drawingml/2006/main">
              <a:ext uri="{FF2B5EF4-FFF2-40B4-BE49-F238E27FC236}">
                <a16:creationId xmlns:a16="http://schemas.microsoft.com/office/drawing/2014/main" id="{4831B121-A8A0-4D6B-9A6C-B4919F8DD453}"/>
              </a:ext>
            </a:extLst>
          </p:cNvPr>
          <p:cNvSpPr>
            <a:spLocks xmlns:a="http://schemas.openxmlformats.org/drawingml/2006/main" noGrp="1"/>
          </p:cNvSpPr>
          <p:nvPr/>
        </p:nvSpPr>
        <p:spPr>
          <a:xfrm xmlns:a="http://schemas.openxmlformats.org/drawingml/2006/main">
            <a:off x="6743700" y="4219575"/>
            <a:ext cx="4591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Add students inside the existing INSTALLED_APPS list. Add MEDIA_URL and MEDIA_ROOT near STATIC_URL at the bottom.</a:t>
            </a:r>
          </a:p>
        </p:txBody>
      </p:sp>
    </p:spTree>
    <p:extLst>
      <p:ext uri="{BB962C8B-B14F-4D97-AF65-F5344CB8AC3E}">
        <p14:creationId xmlns:p14="http://schemas.microsoft.com/office/powerpoint/2010/main" val="50222222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ECFAC4-5D45-4E1B-96AE-6C0124C406A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09FC90-C163-4187-8F6A-CA8C15A8336A}"/>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903D542B-252B-40D1-89F0-3773CEE16410}"/>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Complete Student model</a:t>
            </a:r>
          </a:p>
        </p:txBody>
      </p:sp>
      <p:sp>
        <p:nvSpPr>
          <p:cNvPr id="4" name="">
            <a:extLst xmlns:a="http://schemas.openxmlformats.org/drawingml/2006/main">
              <a:ext uri="{FF2B5EF4-FFF2-40B4-BE49-F238E27FC236}">
                <a16:creationId xmlns:a16="http://schemas.microsoft.com/office/drawing/2014/main" id="{01DA2630-E80F-42AE-9CD9-5D20023E0CE9}"/>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4D5930-F11C-4DA2-9D6F-25BAC8CDA757}"/>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30</a:t>
            </a:r>
          </a:p>
        </p:txBody>
      </p:sp>
      <p:sp>
        <p:nvSpPr>
          <p:cNvPr id="6" name="">
            <a:extLst xmlns:a="http://schemas.openxmlformats.org/drawingml/2006/main">
              <a:ext uri="{FF2B5EF4-FFF2-40B4-BE49-F238E27FC236}">
                <a16:creationId xmlns:a16="http://schemas.microsoft.com/office/drawing/2014/main" id="{0DAABAB5-2BD3-427E-BE2A-C18DB058246E}"/>
              </a:ext>
            </a:extLst>
          </p:cNvPr>
          <p:cNvSpPr>
            <a:spLocks xmlns:a="http://schemas.openxmlformats.org/drawingml/2006/main" noGrp="1"/>
          </p:cNvSpPr>
          <p:nvPr/>
        </p:nvSpPr>
        <p:spPr>
          <a:xfrm xmlns:a="http://schemas.openxmlformats.org/drawingml/2006/main">
            <a:off x="1524000" y="1381125"/>
            <a:ext cx="9144000" cy="4762500"/>
          </a:xfrm>
          <a:prstGeom xmlns:a="http://schemas.openxmlformats.org/drawingml/2006/main" prst="roundRect">
            <a:avLst>
              <a:gd name="adj" fmla="val 1600"/>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85E5F9-D3CF-4161-946C-F6D6339F98E8}"/>
              </a:ext>
            </a:extLst>
          </p:cNvPr>
          <p:cNvSpPr>
            <a:spLocks xmlns:a="http://schemas.openxmlformats.org/drawingml/2006/main" noGrp="1"/>
          </p:cNvSpPr>
          <p:nvPr/>
        </p:nvSpPr>
        <p:spPr>
          <a:xfrm xmlns:a="http://schemas.openxmlformats.org/drawingml/2006/main">
            <a:off x="1733550" y="1495425"/>
            <a:ext cx="872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students/models.py</a:t>
            </a:r>
          </a:p>
        </p:txBody>
      </p:sp>
      <p:sp>
        <p:nvSpPr>
          <p:cNvPr id="8" name="">
            <a:extLst xmlns:a="http://schemas.openxmlformats.org/drawingml/2006/main">
              <a:ext uri="{FF2B5EF4-FFF2-40B4-BE49-F238E27FC236}">
                <a16:creationId xmlns:a16="http://schemas.microsoft.com/office/drawing/2014/main" id="{7E8420F7-7E95-4C43-AE6D-BE026AA6F3E5}"/>
              </a:ext>
            </a:extLst>
          </p:cNvPr>
          <p:cNvSpPr>
            <a:spLocks xmlns:a="http://schemas.openxmlformats.org/drawingml/2006/main" noGrp="1"/>
          </p:cNvSpPr>
          <p:nvPr/>
        </p:nvSpPr>
        <p:spPr>
          <a:xfrm xmlns:a="http://schemas.openxmlformats.org/drawingml/2006/main">
            <a:off x="1733550" y="1781175"/>
            <a:ext cx="87249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django.db import models</a:t>
            </a:r>
          </a:p>
          <a:p xmlns:a="http://schemas.openxmlformats.org/drawingml/2006/main">
            <a:r>
              <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class Student(models.Model):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name = models.CharField(max_length=100)</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email = models.EmailField(unique=True)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age = models.PositiveIntegerField()</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course = models.CharField(max_length=100)</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profile_picture = models.ImageField(</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upload_to="student_profiles/",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blank=True,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null=True,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created_at = models.DateTimeField(auto_now_add=True)</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def __str__(self):</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return self.name</a:t>
            </a:r>
          </a:p>
        </p:txBody>
      </p:sp>
    </p:spTree>
    <p:extLst>
      <p:ext uri="{BB962C8B-B14F-4D97-AF65-F5344CB8AC3E}">
        <p14:creationId xmlns:p14="http://schemas.microsoft.com/office/powerpoint/2010/main" val="170621859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0A46BF-6A69-4E49-9E8A-0EBCF225F8B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07025-088A-499E-A6FF-845096D68641}"/>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FDED6D56-5818-4787-AFF3-418324B72249}"/>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Admin registration and database commands</a:t>
            </a:r>
          </a:p>
        </p:txBody>
      </p:sp>
      <p:sp>
        <p:nvSpPr>
          <p:cNvPr id="4" name="">
            <a:extLst xmlns:a="http://schemas.openxmlformats.org/drawingml/2006/main">
              <a:ext uri="{FF2B5EF4-FFF2-40B4-BE49-F238E27FC236}">
                <a16:creationId xmlns:a16="http://schemas.microsoft.com/office/drawing/2014/main" id="{B77AFD69-32F2-4596-BDD0-595F57EB9398}"/>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DCEA73-C258-4642-8675-605ABD0438E6}"/>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31</a:t>
            </a:r>
          </a:p>
        </p:txBody>
      </p:sp>
      <p:sp>
        <p:nvSpPr>
          <p:cNvPr id="6" name="">
            <a:extLst xmlns:a="http://schemas.openxmlformats.org/drawingml/2006/main">
              <a:ext uri="{FF2B5EF4-FFF2-40B4-BE49-F238E27FC236}">
                <a16:creationId xmlns:a16="http://schemas.microsoft.com/office/drawing/2014/main" id="{615C0E01-7443-4E9A-8753-88C23F3F1A0A}"/>
              </a:ext>
            </a:extLst>
          </p:cNvPr>
          <p:cNvSpPr>
            <a:spLocks xmlns:a="http://schemas.openxmlformats.org/drawingml/2006/main" noGrp="1"/>
          </p:cNvSpPr>
          <p:nvPr/>
        </p:nvSpPr>
        <p:spPr>
          <a:xfrm xmlns:a="http://schemas.openxmlformats.org/drawingml/2006/main">
            <a:off x="666750" y="1619250"/>
            <a:ext cx="5143500" cy="1714500"/>
          </a:xfrm>
          <a:prstGeom xmlns:a="http://schemas.openxmlformats.org/drawingml/2006/main" prst="roundRect">
            <a:avLst>
              <a:gd name="adj" fmla="val 4444"/>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F23E75-D9EC-4A0B-B6AD-6117E2EA2AB9}"/>
              </a:ext>
            </a:extLst>
          </p:cNvPr>
          <p:cNvSpPr>
            <a:spLocks xmlns:a="http://schemas.openxmlformats.org/drawingml/2006/main" noGrp="1"/>
          </p:cNvSpPr>
          <p:nvPr/>
        </p:nvSpPr>
        <p:spPr>
          <a:xfrm xmlns:a="http://schemas.openxmlformats.org/drawingml/2006/main">
            <a:off x="876300" y="1733550"/>
            <a:ext cx="472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students/admin.py</a:t>
            </a:r>
          </a:p>
        </p:txBody>
      </p:sp>
      <p:sp>
        <p:nvSpPr>
          <p:cNvPr id="8" name="">
            <a:extLst xmlns:a="http://schemas.openxmlformats.org/drawingml/2006/main">
              <a:ext uri="{FF2B5EF4-FFF2-40B4-BE49-F238E27FC236}">
                <a16:creationId xmlns:a16="http://schemas.microsoft.com/office/drawing/2014/main" id="{4D9D7DBE-FC63-4307-9C71-0E09E0C2FEC6}"/>
              </a:ext>
            </a:extLst>
          </p:cNvPr>
          <p:cNvSpPr>
            <a:spLocks xmlns:a="http://schemas.openxmlformats.org/drawingml/2006/main" noGrp="1"/>
          </p:cNvSpPr>
          <p:nvPr/>
        </p:nvSpPr>
        <p:spPr>
          <a:xfrm xmlns:a="http://schemas.openxmlformats.org/drawingml/2006/main">
            <a:off x="876300" y="2019300"/>
            <a:ext cx="47244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django.contrib import admin</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from .models import Student</a:t>
            </a:r>
          </a:p>
          <a:p xmlns:a="http://schemas.openxmlformats.org/drawingml/2006/main">
            <a:r>
              <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admin.site.register(Student)</a:t>
            </a:r>
          </a:p>
        </p:txBody>
      </p:sp>
      <p:sp>
        <p:nvSpPr>
          <p:cNvPr id="9" name="">
            <a:extLst xmlns:a="http://schemas.openxmlformats.org/drawingml/2006/main">
              <a:ext uri="{FF2B5EF4-FFF2-40B4-BE49-F238E27FC236}">
                <a16:creationId xmlns:a16="http://schemas.microsoft.com/office/drawing/2014/main" id="{04573E94-39E9-49DA-8755-7BB39A4A8EAE}"/>
              </a:ext>
            </a:extLst>
          </p:cNvPr>
          <p:cNvSpPr>
            <a:spLocks xmlns:a="http://schemas.openxmlformats.org/drawingml/2006/main" noGrp="1"/>
          </p:cNvSpPr>
          <p:nvPr/>
        </p:nvSpPr>
        <p:spPr>
          <a:xfrm xmlns:a="http://schemas.openxmlformats.org/drawingml/2006/main">
            <a:off x="6191250" y="1619250"/>
            <a:ext cx="5334000" cy="2000250"/>
          </a:xfrm>
          <a:prstGeom xmlns:a="http://schemas.openxmlformats.org/drawingml/2006/main" prst="roundRect">
            <a:avLst>
              <a:gd name="adj" fmla="val 3810"/>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324D1A-2C3E-4FBB-A53D-BE4C3C0F03DF}"/>
              </a:ext>
            </a:extLst>
          </p:cNvPr>
          <p:cNvSpPr>
            <a:spLocks xmlns:a="http://schemas.openxmlformats.org/drawingml/2006/main" noGrp="1"/>
          </p:cNvSpPr>
          <p:nvPr/>
        </p:nvSpPr>
        <p:spPr>
          <a:xfrm xmlns:a="http://schemas.openxmlformats.org/drawingml/2006/main">
            <a:off x="6400800" y="1733550"/>
            <a:ext cx="491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TERMINAL</a:t>
            </a:r>
          </a:p>
        </p:txBody>
      </p:sp>
      <p:sp>
        <p:nvSpPr>
          <p:cNvPr id="11" name="">
            <a:extLst xmlns:a="http://schemas.openxmlformats.org/drawingml/2006/main">
              <a:ext uri="{FF2B5EF4-FFF2-40B4-BE49-F238E27FC236}">
                <a16:creationId xmlns:a16="http://schemas.microsoft.com/office/drawing/2014/main" id="{903CDA1A-2F76-470D-865A-E1460EB62943}"/>
              </a:ext>
            </a:extLst>
          </p:cNvPr>
          <p:cNvSpPr>
            <a:spLocks xmlns:a="http://schemas.openxmlformats.org/drawingml/2006/main" noGrp="1"/>
          </p:cNvSpPr>
          <p:nvPr/>
        </p:nvSpPr>
        <p:spPr>
          <a:xfrm xmlns:a="http://schemas.openxmlformats.org/drawingml/2006/main">
            <a:off x="6400800" y="2019300"/>
            <a:ext cx="49149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makemigrations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migrate</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createsuperuser</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runserver</a:t>
            </a:r>
          </a:p>
        </p:txBody>
      </p:sp>
      <p:sp>
        <p:nvSpPr>
          <p:cNvPr id="12" name="">
            <a:extLst xmlns:a="http://schemas.openxmlformats.org/drawingml/2006/main">
              <a:ext uri="{FF2B5EF4-FFF2-40B4-BE49-F238E27FC236}">
                <a16:creationId xmlns:a16="http://schemas.microsoft.com/office/drawing/2014/main" id="{6F0BEDF1-BF65-4E7E-9B3D-D4E9C904EED6}"/>
              </a:ext>
            </a:extLst>
          </p:cNvPr>
          <p:cNvSpPr>
            <a:spLocks xmlns:a="http://schemas.openxmlformats.org/drawingml/2006/main" noGrp="1"/>
          </p:cNvSpPr>
          <p:nvPr/>
        </p:nvSpPr>
        <p:spPr>
          <a:xfrm xmlns:a="http://schemas.openxmlformats.org/drawingml/2006/main">
            <a:off x="2286000" y="4238625"/>
            <a:ext cx="7620000" cy="1333500"/>
          </a:xfrm>
          <a:prstGeom xmlns:a="http://schemas.openxmlformats.org/drawingml/2006/main" prst="roundRect">
            <a:avLst>
              <a:gd name="adj" fmla="val 5714"/>
            </a:avLst>
          </a:prstGeom>
          <a:solidFill xmlns:a="http://schemas.openxmlformats.org/drawingml/2006/main">
            <a:srgbClr val="F4F8FB"/>
          </a:solidFill>
          <a:ln xmlns:a="http://schemas.openxmlformats.org/drawingml/2006/main" w="9525">
            <a:solidFill>
              <a:srgbClr val="C9D8E5"/>
            </a:solidFill>
          </a:ln>
        </p:spPr>
      </p:sp>
      <p:sp>
        <p:nvSpPr>
          <p:cNvPr id="13" name="">
            <a:extLst xmlns:a="http://schemas.openxmlformats.org/drawingml/2006/main">
              <a:ext uri="{FF2B5EF4-FFF2-40B4-BE49-F238E27FC236}">
                <a16:creationId xmlns:a16="http://schemas.microsoft.com/office/drawing/2014/main" id="{7B508DDD-E2A4-4D1F-8FA4-5187BCCDC76D}"/>
              </a:ext>
            </a:extLst>
          </p:cNvPr>
          <p:cNvSpPr>
            <a:spLocks xmlns:a="http://schemas.openxmlformats.org/drawingml/2006/main" noGrp="1"/>
          </p:cNvSpPr>
          <p:nvPr/>
        </p:nvSpPr>
        <p:spPr>
          <a:xfrm xmlns:a="http://schemas.openxmlformats.org/drawingml/2006/main">
            <a:off x="2286000" y="4238625"/>
            <a:ext cx="76200" cy="133350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BB0C634-E284-4CBF-877B-526A8D18701A}"/>
              </a:ext>
            </a:extLst>
          </p:cNvPr>
          <p:cNvSpPr>
            <a:spLocks xmlns:a="http://schemas.openxmlformats.org/drawingml/2006/main" noGrp="1"/>
          </p:cNvSpPr>
          <p:nvPr/>
        </p:nvSpPr>
        <p:spPr>
          <a:xfrm xmlns:a="http://schemas.openxmlformats.org/drawingml/2006/main">
            <a:off x="2552700" y="4410075"/>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Open after the server starts</a:t>
            </a:r>
          </a:p>
        </p:txBody>
      </p:sp>
      <p:sp>
        <p:nvSpPr>
          <p:cNvPr id="15" name="">
            <a:extLst xmlns:a="http://schemas.openxmlformats.org/drawingml/2006/main">
              <a:ext uri="{FF2B5EF4-FFF2-40B4-BE49-F238E27FC236}">
                <a16:creationId xmlns:a16="http://schemas.microsoft.com/office/drawing/2014/main" id="{FDAA6039-D112-4D43-BC26-BC885469A280}"/>
              </a:ext>
            </a:extLst>
          </p:cNvPr>
          <p:cNvSpPr>
            <a:spLocks xmlns:a="http://schemas.openxmlformats.org/drawingml/2006/main" noGrp="1"/>
          </p:cNvSpPr>
          <p:nvPr/>
        </p:nvSpPr>
        <p:spPr>
          <a:xfrm xmlns:a="http://schemas.openxmlformats.org/drawingml/2006/main">
            <a:off x="2552700" y="4791075"/>
            <a:ext cx="716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57"/>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Homepage: http://127.0.0.1:8000/</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Admin: http://127.0.0.1:8000/admin/</a:t>
            </a:r>
          </a:p>
        </p:txBody>
      </p:sp>
    </p:spTree>
    <p:extLst>
      <p:ext uri="{BB962C8B-B14F-4D97-AF65-F5344CB8AC3E}">
        <p14:creationId xmlns:p14="http://schemas.microsoft.com/office/powerpoint/2010/main" val="5490756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E85A10-FE92-4286-87BA-B28E301EE30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3AC321-8F47-4D63-9AA6-BCA6375E80D3}"/>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406FE64A-63E1-4257-BF60-02DA05D96E35}"/>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ORM practice commands</a:t>
            </a:r>
          </a:p>
        </p:txBody>
      </p:sp>
      <p:sp>
        <p:nvSpPr>
          <p:cNvPr id="4" name="">
            <a:extLst xmlns:a="http://schemas.openxmlformats.org/drawingml/2006/main">
              <a:ext uri="{FF2B5EF4-FFF2-40B4-BE49-F238E27FC236}">
                <a16:creationId xmlns:a16="http://schemas.microsoft.com/office/drawing/2014/main" id="{80A8A1BC-E52F-403A-9D75-AB15247832D8}"/>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6936BC-6313-4A4F-B540-9AF11E8C82CA}"/>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32</a:t>
            </a:r>
          </a:p>
        </p:txBody>
      </p:sp>
      <p:sp>
        <p:nvSpPr>
          <p:cNvPr id="6" name="">
            <a:extLst xmlns:a="http://schemas.openxmlformats.org/drawingml/2006/main">
              <a:ext uri="{FF2B5EF4-FFF2-40B4-BE49-F238E27FC236}">
                <a16:creationId xmlns:a16="http://schemas.microsoft.com/office/drawing/2014/main" id="{48CDE678-4127-455E-970E-6E1B514E4104}"/>
              </a:ext>
            </a:extLst>
          </p:cNvPr>
          <p:cNvSpPr>
            <a:spLocks xmlns:a="http://schemas.openxmlformats.org/drawingml/2006/main" noGrp="1"/>
          </p:cNvSpPr>
          <p:nvPr/>
        </p:nvSpPr>
        <p:spPr>
          <a:xfrm xmlns:a="http://schemas.openxmlformats.org/drawingml/2006/main">
            <a:off x="666750" y="1571625"/>
            <a:ext cx="10858500" cy="714375"/>
          </a:xfrm>
          <a:prstGeom xmlns:a="http://schemas.openxmlformats.org/drawingml/2006/main" prst="roundRect">
            <a:avLst>
              <a:gd name="adj" fmla="val 10667"/>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C3C8C5-4405-409E-80E7-E5E4A851D77A}"/>
              </a:ext>
            </a:extLst>
          </p:cNvPr>
          <p:cNvSpPr>
            <a:spLocks xmlns:a="http://schemas.openxmlformats.org/drawingml/2006/main" noGrp="1"/>
          </p:cNvSpPr>
          <p:nvPr/>
        </p:nvSpPr>
        <p:spPr>
          <a:xfrm xmlns:a="http://schemas.openxmlformats.org/drawingml/2006/main">
            <a:off x="876300" y="1685925"/>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OPEN THE DJANGO SHELL</a:t>
            </a:r>
          </a:p>
        </p:txBody>
      </p:sp>
      <p:sp>
        <p:nvSpPr>
          <p:cNvPr id="8" name="">
            <a:extLst xmlns:a="http://schemas.openxmlformats.org/drawingml/2006/main">
              <a:ext uri="{FF2B5EF4-FFF2-40B4-BE49-F238E27FC236}">
                <a16:creationId xmlns:a16="http://schemas.microsoft.com/office/drawing/2014/main" id="{BC41B590-E698-4381-8899-90F4D37494A9}"/>
              </a:ext>
            </a:extLst>
          </p:cNvPr>
          <p:cNvSpPr>
            <a:spLocks xmlns:a="http://schemas.openxmlformats.org/drawingml/2006/main" noGrp="1"/>
          </p:cNvSpPr>
          <p:nvPr/>
        </p:nvSpPr>
        <p:spPr>
          <a:xfrm xmlns:a="http://schemas.openxmlformats.org/drawingml/2006/main">
            <a:off x="876300" y="1971675"/>
            <a:ext cx="10439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9375"/>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python manage.py shell</a:t>
            </a:r>
          </a:p>
        </p:txBody>
      </p:sp>
      <p:sp>
        <p:nvSpPr>
          <p:cNvPr id="9" name="">
            <a:extLst xmlns:a="http://schemas.openxmlformats.org/drawingml/2006/main">
              <a:ext uri="{FF2B5EF4-FFF2-40B4-BE49-F238E27FC236}">
                <a16:creationId xmlns:a16="http://schemas.microsoft.com/office/drawing/2014/main" id="{CEFA4979-FB92-44F5-B9CF-1BC57A389CB1}"/>
              </a:ext>
            </a:extLst>
          </p:cNvPr>
          <p:cNvSpPr>
            <a:spLocks xmlns:a="http://schemas.openxmlformats.org/drawingml/2006/main" noGrp="1"/>
          </p:cNvSpPr>
          <p:nvPr/>
        </p:nvSpPr>
        <p:spPr>
          <a:xfrm xmlns:a="http://schemas.openxmlformats.org/drawingml/2006/main">
            <a:off x="952500" y="2428875"/>
            <a:ext cx="10287000" cy="3714750"/>
          </a:xfrm>
          <a:prstGeom xmlns:a="http://schemas.openxmlformats.org/drawingml/2006/main" prst="roundRect">
            <a:avLst>
              <a:gd name="adj" fmla="val 2051"/>
            </a:avLst>
          </a:prstGeom>
          <a:solidFill xmlns:a="http://schemas.openxmlformats.org/drawingml/2006/main">
            <a:srgbClr val="082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9BCF92-D480-4E81-A719-9B7B14CBCDED}"/>
              </a:ext>
            </a:extLst>
          </p:cNvPr>
          <p:cNvSpPr>
            <a:spLocks xmlns:a="http://schemas.openxmlformats.org/drawingml/2006/main" noGrp="1"/>
          </p:cNvSpPr>
          <p:nvPr/>
        </p:nvSpPr>
        <p:spPr>
          <a:xfrm xmlns:a="http://schemas.openxmlformats.org/drawingml/2006/main">
            <a:off x="1162050" y="2543175"/>
            <a:ext cx="986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COPY ONE SECTION AT A TIME</a:t>
            </a:r>
          </a:p>
        </p:txBody>
      </p:sp>
      <p:sp>
        <p:nvSpPr>
          <p:cNvPr id="11" name="">
            <a:extLst xmlns:a="http://schemas.openxmlformats.org/drawingml/2006/main">
              <a:ext uri="{FF2B5EF4-FFF2-40B4-BE49-F238E27FC236}">
                <a16:creationId xmlns:a16="http://schemas.microsoft.com/office/drawing/2014/main" id="{3EF2A9A1-7C33-4D8D-A9D2-2D9904B47B7D}"/>
              </a:ext>
            </a:extLst>
          </p:cNvPr>
          <p:cNvSpPr>
            <a:spLocks xmlns:a="http://schemas.openxmlformats.org/drawingml/2006/main" noGrp="1"/>
          </p:cNvSpPr>
          <p:nvPr/>
        </p:nvSpPr>
        <p:spPr>
          <a:xfrm xmlns:a="http://schemas.openxmlformats.org/drawingml/2006/main">
            <a:off x="1162050" y="2828925"/>
            <a:ext cx="98679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from students.models import Student</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Create</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 = Student.objects.create(</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name="Ada Obi",</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email="ada@example.com",</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age=20,</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course="Backend Development",</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Read</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Student.objects.all()</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Student.objects.get(id=1)</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Student.objects.filter(course="Backend Development")</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Update</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student.age = 21</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student.save()</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 Delete</a:t>
            </a:r>
          </a:p>
          <a:p xmlns:a="http://schemas.openxmlformats.org/drawingml/2006/main">
            <a:pPr algn="l">
              <a:defRPr sz="975" b="0">
                <a:solidFill>
                  <a:srgbClr val="FFFFFF"/>
                </a:solidFill>
                <a:latin typeface="DejaVu Sans Mono"/>
                <a:ea typeface="DejaVu Sans Mono"/>
                <a:cs typeface="DejaVu Sans Mono"/>
              </a:defRPr>
            </a:pPr>
            <a:r>
              <a:rPr sz="975" b="0">
                <a:solidFill>
                  <a:srgbClr val="FFFFFF"/>
                </a:solidFill>
                <a:latin typeface="DejaVu Sans Mono"/>
                <a:ea typeface="DejaVu Sans Mono"/>
                <a:cs typeface="DejaVu Sans Mono"/>
              </a:rPr>
              <a:t>student.delete()</a:t>
            </a:r>
          </a:p>
        </p:txBody>
      </p:sp>
    </p:spTree>
    <p:extLst>
      <p:ext uri="{BB962C8B-B14F-4D97-AF65-F5344CB8AC3E}">
        <p14:creationId xmlns:p14="http://schemas.microsoft.com/office/powerpoint/2010/main" val="10539957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4CFCA1-843D-432E-8CF1-EABE7533F20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5330FD-F95D-4175-943A-02844D193E51}"/>
              </a:ext>
            </a:extLst>
          </p:cNvPr>
          <p:cNvSpPr>
            <a:spLocks xmlns:a="http://schemas.openxmlformats.org/drawingml/2006/main" noGrp="1"/>
          </p:cNvSpPr>
          <p:nvPr/>
        </p:nvSpPr>
        <p:spPr>
          <a:xfrm xmlns:a="http://schemas.openxmlformats.org/drawingml/2006/main">
            <a:off x="666750" y="3810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lgn="l">
              <a:defRPr sz="975" b="1">
                <a:solidFill>
                  <a:srgbClr val="1261A0"/>
                </a:solidFill>
                <a:latin typeface="DejaVu Sans"/>
                <a:ea typeface="DejaVu Sans"/>
                <a:cs typeface="DejaVu Sans"/>
              </a:defRPr>
            </a:pPr>
            <a:r>
              <a:rPr sz="975" b="1">
                <a:solidFill>
                  <a:srgbClr val="1261A0"/>
                </a:solidFill>
                <a:latin typeface="DejaVu Sans"/>
                <a:ea typeface="DejaVu Sans"/>
                <a:cs typeface="DejaVu Sans"/>
              </a:rPr>
              <a:t>COPY-AND-PASTE REFERENCE</a:t>
            </a:r>
          </a:p>
        </p:txBody>
      </p:sp>
      <p:sp>
        <p:nvSpPr>
          <p:cNvPr id="3" name="">
            <a:extLst xmlns:a="http://schemas.openxmlformats.org/drawingml/2006/main">
              <a:ext uri="{FF2B5EF4-FFF2-40B4-BE49-F238E27FC236}">
                <a16:creationId xmlns:a16="http://schemas.microsoft.com/office/drawing/2014/main" id="{2E453FD4-0DFB-4E17-BB38-284C6D3F67F7}"/>
              </a:ext>
            </a:extLst>
          </p:cNvPr>
          <p:cNvSpPr>
            <a:spLocks xmlns:a="http://schemas.openxmlformats.org/drawingml/2006/main" noGrp="1"/>
          </p:cNvSpPr>
          <p:nvPr/>
        </p:nvSpPr>
        <p:spPr>
          <a:xfrm xmlns:a="http://schemas.openxmlformats.org/drawingml/2006/main">
            <a:off x="666750" y="64770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A4A"/>
                </a:solidFill>
                <a:latin typeface="DejaVu Sans"/>
                <a:ea typeface="DejaVu Sans"/>
                <a:cs typeface="DejaVu Sans"/>
              </a:defRPr>
            </a:pPr>
            <a:r>
              <a:rPr sz="2550" b="1">
                <a:solidFill>
                  <a:srgbClr val="082A4A"/>
                </a:solidFill>
                <a:latin typeface="DejaVu Sans"/>
                <a:ea typeface="DejaVu Sans"/>
                <a:cs typeface="DejaVu Sans"/>
              </a:rPr>
              <a:t>Project structure checklist</a:t>
            </a:r>
          </a:p>
        </p:txBody>
      </p:sp>
      <p:sp>
        <p:nvSpPr>
          <p:cNvPr id="4" name="">
            <a:extLst xmlns:a="http://schemas.openxmlformats.org/drawingml/2006/main">
              <a:ext uri="{FF2B5EF4-FFF2-40B4-BE49-F238E27FC236}">
                <a16:creationId xmlns:a16="http://schemas.microsoft.com/office/drawing/2014/main" id="{C800BD4A-5FCD-49D7-9668-A2E8D4A4A506}"/>
              </a:ext>
            </a:extLst>
          </p:cNvPr>
          <p:cNvSpPr>
            <a:spLocks xmlns:a="http://schemas.openxmlformats.org/drawingml/2006/main" noGrp="1"/>
          </p:cNvSpPr>
          <p:nvPr/>
        </p:nvSpPr>
        <p:spPr>
          <a:xfrm xmlns:a="http://schemas.openxmlformats.org/drawingml/2006/main">
            <a:off x="666750" y="1285875"/>
            <a:ext cx="10858500" cy="19050"/>
          </a:xfrm>
          <a:prstGeom xmlns:a="http://schemas.openxmlformats.org/drawingml/2006/main" prst="rect">
            <a:avLst/>
          </a:prstGeom>
          <a:solidFill xmlns:a="http://schemas.openxmlformats.org/drawingml/2006/main">
            <a:srgbClr val="DDEF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4D413F-C903-4FF4-BEB5-A21DA92470A0}"/>
              </a:ext>
            </a:extLst>
          </p:cNvPr>
          <p:cNvSpPr>
            <a:spLocks xmlns:a="http://schemas.openxmlformats.org/drawingml/2006/main" noGrp="1"/>
          </p:cNvSpPr>
          <p:nvPr/>
        </p:nvSpPr>
        <p:spPr>
          <a:xfrm xmlns:a="http://schemas.openxmlformats.org/drawingml/2006/main">
            <a:off x="10953750" y="63817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D6C7B"/>
                </a:solidFill>
                <a:latin typeface="DejaVu Sans"/>
                <a:ea typeface="DejaVu Sans"/>
                <a:cs typeface="DejaVu Sans"/>
              </a:defRPr>
            </a:pPr>
            <a:r>
              <a:rPr sz="900" b="0">
                <a:solidFill>
                  <a:srgbClr val="5D6C7B"/>
                </a:solidFill>
                <a:latin typeface="DejaVu Sans"/>
                <a:ea typeface="DejaVu Sans"/>
                <a:cs typeface="DejaVu Sans"/>
              </a:rPr>
              <a:t>33</a:t>
            </a:r>
          </a:p>
        </p:txBody>
      </p:sp>
      <p:sp>
        <p:nvSpPr>
          <p:cNvPr id="6" name="">
            <a:extLst xmlns:a="http://schemas.openxmlformats.org/drawingml/2006/main">
              <a:ext uri="{FF2B5EF4-FFF2-40B4-BE49-F238E27FC236}">
                <a16:creationId xmlns:a16="http://schemas.microsoft.com/office/drawing/2014/main" id="{D23849DB-A61C-4DBE-A723-3E13A6575804}"/>
              </a:ext>
            </a:extLst>
          </p:cNvPr>
          <p:cNvSpPr>
            <a:spLocks xmlns:a="http://schemas.openxmlformats.org/drawingml/2006/main" noGrp="1"/>
          </p:cNvSpPr>
          <p:nvPr/>
        </p:nvSpPr>
        <p:spPr>
          <a:xfrm xmlns:a="http://schemas.openxmlformats.org/drawingml/2006/main">
            <a:off x="762000" y="1381125"/>
            <a:ext cx="5619750" cy="4762500"/>
          </a:xfrm>
          <a:prstGeom xmlns:a="http://schemas.openxmlformats.org/drawingml/2006/main" prst="roundRect">
            <a:avLst>
              <a:gd name="adj" fmla="val 1600"/>
            </a:avLst>
          </a:prstGeom>
          <a:solidFill xmlns:a="http://schemas.openxmlformats.org/drawingml/2006/main">
            <a:srgbClr val="082A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4B3583-32AA-49B2-8D66-A66C2C2A3B51}"/>
              </a:ext>
            </a:extLst>
          </p:cNvPr>
          <p:cNvSpPr>
            <a:spLocks xmlns:a="http://schemas.openxmlformats.org/drawingml/2006/main" noGrp="1"/>
          </p:cNvSpPr>
          <p:nvPr/>
        </p:nvSpPr>
        <p:spPr>
          <a:xfrm xmlns:a="http://schemas.openxmlformats.org/drawingml/2006/main">
            <a:off x="971550" y="1495425"/>
            <a:ext cx="5200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EDAF0"/>
                </a:solidFill>
                <a:latin typeface="DejaVu Sans"/>
                <a:ea typeface="DejaVu Sans"/>
                <a:cs typeface="DejaVu Sans"/>
              </a:defRPr>
            </a:pPr>
            <a:r>
              <a:rPr sz="975" b="1">
                <a:solidFill>
                  <a:srgbClr val="8EDAF0"/>
                </a:solidFill>
                <a:latin typeface="DejaVu Sans"/>
                <a:ea typeface="DejaVu Sans"/>
                <a:cs typeface="DejaVu Sans"/>
              </a:rPr>
              <a:t>FINAL FOLDER CHECK</a:t>
            </a:r>
          </a:p>
        </p:txBody>
      </p:sp>
      <p:sp>
        <p:nvSpPr>
          <p:cNvPr id="8" name="">
            <a:extLst xmlns:a="http://schemas.openxmlformats.org/drawingml/2006/main">
              <a:ext uri="{FF2B5EF4-FFF2-40B4-BE49-F238E27FC236}">
                <a16:creationId xmlns:a16="http://schemas.microsoft.com/office/drawing/2014/main" id="{17B5F679-5687-47BA-8D65-EA0485B248BD}"/>
              </a:ext>
            </a:extLst>
          </p:cNvPr>
          <p:cNvSpPr>
            <a:spLocks xmlns:a="http://schemas.openxmlformats.org/drawingml/2006/main" noGrp="1"/>
          </p:cNvSpPr>
          <p:nvPr/>
        </p:nvSpPr>
        <p:spPr>
          <a:xfrm xmlns:a="http://schemas.openxmlformats.org/drawingml/2006/main">
            <a:off x="971550" y="1781175"/>
            <a:ext cx="52006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django_student_portal/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config/</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settings.py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urls.py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students/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migrations/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static/students/css/style.css</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templates/students/home.html</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admin.py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models.py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urls.py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 views.py</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media/</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db.sqlite3</a:t>
            </a:r>
          </a:p>
          <a:p xmlns:a="http://schemas.openxmlformats.org/drawingml/2006/main">
            <a:pPr algn="l">
              <a:defRPr sz="1200" b="0">
                <a:solidFill>
                  <a:srgbClr val="FFFFFF"/>
                </a:solidFill>
                <a:latin typeface="DejaVu Sans Mono"/>
                <a:ea typeface="DejaVu Sans Mono"/>
                <a:cs typeface="DejaVu Sans Mono"/>
              </a:defRPr>
            </a:pPr>
            <a:r>
              <a:rPr sz="1200" b="0">
                <a:solidFill>
                  <a:srgbClr val="FFFFFF"/>
                </a:solidFill>
                <a:latin typeface="DejaVu Sans Mono"/>
                <a:ea typeface="DejaVu Sans Mono"/>
                <a:cs typeface="DejaVu Sans Mono"/>
              </a:rPr>
              <a:t>└── manage.py</a:t>
            </a:r>
          </a:p>
        </p:txBody>
      </p:sp>
      <p:sp>
        <p:nvSpPr>
          <p:cNvPr id="9" name="">
            <a:extLst xmlns:a="http://schemas.openxmlformats.org/drawingml/2006/main">
              <a:ext uri="{FF2B5EF4-FFF2-40B4-BE49-F238E27FC236}">
                <a16:creationId xmlns:a16="http://schemas.microsoft.com/office/drawing/2014/main" id="{A2BA0CD7-B91B-49BB-82BE-FD09611DB12C}"/>
              </a:ext>
            </a:extLst>
          </p:cNvPr>
          <p:cNvSpPr>
            <a:spLocks xmlns:a="http://schemas.openxmlformats.org/drawingml/2006/main" noGrp="1"/>
          </p:cNvSpPr>
          <p:nvPr/>
        </p:nvSpPr>
        <p:spPr>
          <a:xfrm xmlns:a="http://schemas.openxmlformats.org/drawingml/2006/main">
            <a:off x="6953250" y="1666875"/>
            <a:ext cx="4381500" cy="2857500"/>
          </a:xfrm>
          <a:prstGeom xmlns:a="http://schemas.openxmlformats.org/drawingml/2006/main" prst="roundRect">
            <a:avLst>
              <a:gd name="adj" fmla="val 2667"/>
            </a:avLst>
          </a:prstGeom>
          <a:solidFill xmlns:a="http://schemas.openxmlformats.org/drawingml/2006/main">
            <a:srgbClr val="F4F8FB"/>
          </a:solidFill>
          <a:ln xmlns:a="http://schemas.openxmlformats.org/drawingml/2006/main" w="9525">
            <a:solidFill>
              <a:srgbClr val="C9D8E5"/>
            </a:solidFill>
          </a:ln>
        </p:spPr>
      </p:sp>
      <p:sp>
        <p:nvSpPr>
          <p:cNvPr id="10" name="">
            <a:extLst xmlns:a="http://schemas.openxmlformats.org/drawingml/2006/main">
              <a:ext uri="{FF2B5EF4-FFF2-40B4-BE49-F238E27FC236}">
                <a16:creationId xmlns:a16="http://schemas.microsoft.com/office/drawing/2014/main" id="{3A2C1021-EFC7-4826-8A1D-3C44A2BB8CAA}"/>
              </a:ext>
            </a:extLst>
          </p:cNvPr>
          <p:cNvSpPr>
            <a:spLocks xmlns:a="http://schemas.openxmlformats.org/drawingml/2006/main" noGrp="1"/>
          </p:cNvSpPr>
          <p:nvPr/>
        </p:nvSpPr>
        <p:spPr>
          <a:xfrm xmlns:a="http://schemas.openxmlformats.org/drawingml/2006/main">
            <a:off x="6953250" y="1666875"/>
            <a:ext cx="76200" cy="285750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3A7D00-5C35-451D-BD75-35F8F4BEA0A8}"/>
              </a:ext>
            </a:extLst>
          </p:cNvPr>
          <p:cNvSpPr>
            <a:spLocks xmlns:a="http://schemas.openxmlformats.org/drawingml/2006/main" noGrp="1"/>
          </p:cNvSpPr>
          <p:nvPr/>
        </p:nvSpPr>
        <p:spPr>
          <a:xfrm xmlns:a="http://schemas.openxmlformats.org/drawingml/2006/main">
            <a:off x="7219950" y="1838325"/>
            <a:ext cx="3924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Before class</a:t>
            </a:r>
          </a:p>
        </p:txBody>
      </p:sp>
      <p:sp>
        <p:nvSpPr>
          <p:cNvPr id="12" name="">
            <a:extLst xmlns:a="http://schemas.openxmlformats.org/drawingml/2006/main">
              <a:ext uri="{FF2B5EF4-FFF2-40B4-BE49-F238E27FC236}">
                <a16:creationId xmlns:a16="http://schemas.microsoft.com/office/drawing/2014/main" id="{0EDF651F-979B-4265-B5DF-E13950636A57}"/>
              </a:ext>
            </a:extLst>
          </p:cNvPr>
          <p:cNvSpPr>
            <a:spLocks xmlns:a="http://schemas.openxmlformats.org/drawingml/2006/main" noGrp="1"/>
          </p:cNvSpPr>
          <p:nvPr/>
        </p:nvSpPr>
        <p:spPr>
          <a:xfrm xmlns:a="http://schemas.openxmlformats.org/drawingml/2006/main">
            <a:off x="7219950" y="2219325"/>
            <a:ext cx="39243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Run python manage.py check.</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Open the homepage.</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Open admin.</a:t>
            </a:r>
          </a:p>
          <a:p xmlns:a="http://schemas.openxmlformats.org/drawingml/2006/main">
            <a:r>
              <a:t/>
            </a:r>
          </a:p>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Upload one test image.</a:t>
            </a:r>
          </a:p>
        </p:txBody>
      </p:sp>
    </p:spTree>
    <p:extLst>
      <p:ext uri="{BB962C8B-B14F-4D97-AF65-F5344CB8AC3E}">
        <p14:creationId xmlns:p14="http://schemas.microsoft.com/office/powerpoint/2010/main" val="1347260315"/>
      </p:ext>
    </p:extLst>
  </p:cSld>
</p:sld>
</file>

<file path=ppt/slides/slide34.xml><?xml version="1.0" encoding="utf-8"?>
<p:sld xmlns:p="http://schemas.openxmlformats.org/presentationml/2006/main">
  <p:cSld>
    <p:bg>
      <p:bgPr>
        <a:solidFill xmlns:a="http://schemas.openxmlformats.org/drawingml/2006/main">
          <a:srgbClr val="082A4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C7303B8-EA72-456B-82B4-E03B1A7627B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6A3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5E4B56-181E-4A65-868D-3EB5D3A654C8}"/>
              </a:ext>
            </a:extLst>
          </p:cNvPr>
          <p:cNvSpPr>
            <a:spLocks xmlns:a="http://schemas.openxmlformats.org/drawingml/2006/main" noGrp="1"/>
          </p:cNvSpPr>
          <p:nvPr/>
        </p:nvSpPr>
        <p:spPr>
          <a:xfrm xmlns:a="http://schemas.openxmlformats.org/drawingml/2006/main">
            <a:off x="762000" y="762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Final recap</a:t>
            </a:r>
          </a:p>
        </p:txBody>
      </p:sp>
      <p:sp>
        <p:nvSpPr>
          <p:cNvPr id="3" name="">
            <a:extLst xmlns:a="http://schemas.openxmlformats.org/drawingml/2006/main">
              <a:ext uri="{FF2B5EF4-FFF2-40B4-BE49-F238E27FC236}">
                <a16:creationId xmlns:a16="http://schemas.microsoft.com/office/drawing/2014/main" id="{7D357D4C-1C97-4CD9-B763-E97CE8F1A1A8}"/>
              </a:ext>
            </a:extLst>
          </p:cNvPr>
          <p:cNvSpPr>
            <a:spLocks xmlns:a="http://schemas.openxmlformats.org/drawingml/2006/main" noGrp="1"/>
          </p:cNvSpPr>
          <p:nvPr/>
        </p:nvSpPr>
        <p:spPr>
          <a:xfrm xmlns:a="http://schemas.openxmlformats.org/drawingml/2006/main">
            <a:off x="952500" y="1905000"/>
            <a:ext cx="3143250" cy="2190750"/>
          </a:xfrm>
          <a:prstGeom xmlns:a="http://schemas.openxmlformats.org/drawingml/2006/main" prst="roundRect">
            <a:avLst>
              <a:gd name="adj" fmla="val 3478"/>
            </a:avLst>
          </a:prstGeom>
          <a:solidFill xmlns:a="http://schemas.openxmlformats.org/drawingml/2006/main">
            <a:srgbClr val="F4F8FB"/>
          </a:solidFill>
          <a:ln xmlns:a="http://schemas.openxmlformats.org/drawingml/2006/main" w="9525">
            <a:solidFill>
              <a:srgbClr val="C9D8E5"/>
            </a:solidFill>
          </a:ln>
        </p:spPr>
      </p:sp>
      <p:sp>
        <p:nvSpPr>
          <p:cNvPr id="4" name="">
            <a:extLst xmlns:a="http://schemas.openxmlformats.org/drawingml/2006/main">
              <a:ext uri="{FF2B5EF4-FFF2-40B4-BE49-F238E27FC236}">
                <a16:creationId xmlns:a16="http://schemas.microsoft.com/office/drawing/2014/main" id="{712E587F-16AF-47E4-BB97-9DB1D92CC31A}"/>
              </a:ext>
            </a:extLst>
          </p:cNvPr>
          <p:cNvSpPr>
            <a:spLocks xmlns:a="http://schemas.openxmlformats.org/drawingml/2006/main" noGrp="1"/>
          </p:cNvSpPr>
          <p:nvPr/>
        </p:nvSpPr>
        <p:spPr>
          <a:xfrm xmlns:a="http://schemas.openxmlformats.org/drawingml/2006/main">
            <a:off x="952500" y="1905000"/>
            <a:ext cx="76200" cy="2190750"/>
          </a:xfrm>
          <a:prstGeom xmlns:a="http://schemas.openxmlformats.org/drawingml/2006/main" prst="roundRect">
            <a:avLst>
              <a:gd name="adj" fmla="val 50000"/>
            </a:avLst>
          </a:prstGeom>
          <a:solidFill xmlns:a="http://schemas.openxmlformats.org/drawingml/2006/main">
            <a:srgbClr val="1261A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229FDF-0BD7-441F-B76D-51B7CB2E12C1}"/>
              </a:ext>
            </a:extLst>
          </p:cNvPr>
          <p:cNvSpPr>
            <a:spLocks xmlns:a="http://schemas.openxmlformats.org/drawingml/2006/main" noGrp="1"/>
          </p:cNvSpPr>
          <p:nvPr/>
        </p:nvSpPr>
        <p:spPr>
          <a:xfrm xmlns:a="http://schemas.openxmlformats.org/drawingml/2006/main">
            <a:off x="1219200" y="207645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Static</a:t>
            </a:r>
          </a:p>
        </p:txBody>
      </p:sp>
      <p:sp>
        <p:nvSpPr>
          <p:cNvPr id="6" name="">
            <a:extLst xmlns:a="http://schemas.openxmlformats.org/drawingml/2006/main">
              <a:ext uri="{FF2B5EF4-FFF2-40B4-BE49-F238E27FC236}">
                <a16:creationId xmlns:a16="http://schemas.microsoft.com/office/drawing/2014/main" id="{69EBDBAC-83D6-44F9-872E-E50275053E73}"/>
              </a:ext>
            </a:extLst>
          </p:cNvPr>
          <p:cNvSpPr>
            <a:spLocks xmlns:a="http://schemas.openxmlformats.org/drawingml/2006/main" noGrp="1"/>
          </p:cNvSpPr>
          <p:nvPr/>
        </p:nvSpPr>
        <p:spPr>
          <a:xfrm xmlns:a="http://schemas.openxmlformats.org/drawingml/2006/main">
            <a:off x="1219200" y="2457450"/>
            <a:ext cx="26860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Developer files used for design and browser behaviour.</a:t>
            </a:r>
          </a:p>
        </p:txBody>
      </p:sp>
      <p:sp>
        <p:nvSpPr>
          <p:cNvPr id="7" name="">
            <a:extLst xmlns:a="http://schemas.openxmlformats.org/drawingml/2006/main">
              <a:ext uri="{FF2B5EF4-FFF2-40B4-BE49-F238E27FC236}">
                <a16:creationId xmlns:a16="http://schemas.microsoft.com/office/drawing/2014/main" id="{46DE92DF-AC83-40FE-85B3-EF0118F77DBB}"/>
              </a:ext>
            </a:extLst>
          </p:cNvPr>
          <p:cNvSpPr>
            <a:spLocks xmlns:a="http://schemas.openxmlformats.org/drawingml/2006/main" noGrp="1"/>
          </p:cNvSpPr>
          <p:nvPr/>
        </p:nvSpPr>
        <p:spPr>
          <a:xfrm xmlns:a="http://schemas.openxmlformats.org/drawingml/2006/main">
            <a:off x="4524375" y="1905000"/>
            <a:ext cx="3143250" cy="2190750"/>
          </a:xfrm>
          <a:prstGeom xmlns:a="http://schemas.openxmlformats.org/drawingml/2006/main" prst="roundRect">
            <a:avLst>
              <a:gd name="adj" fmla="val 3478"/>
            </a:avLst>
          </a:prstGeom>
          <a:solidFill xmlns:a="http://schemas.openxmlformats.org/drawingml/2006/main">
            <a:srgbClr val="F4F8FB"/>
          </a:solidFill>
          <a:ln xmlns:a="http://schemas.openxmlformats.org/drawingml/2006/main" w="9525">
            <a:solidFill>
              <a:srgbClr val="C9D8E5"/>
            </a:solidFill>
          </a:ln>
        </p:spPr>
      </p:sp>
      <p:sp>
        <p:nvSpPr>
          <p:cNvPr id="8" name="">
            <a:extLst xmlns:a="http://schemas.openxmlformats.org/drawingml/2006/main">
              <a:ext uri="{FF2B5EF4-FFF2-40B4-BE49-F238E27FC236}">
                <a16:creationId xmlns:a16="http://schemas.microsoft.com/office/drawing/2014/main" id="{B8D17524-B549-474D-A584-6AFE5E4FDE2D}"/>
              </a:ext>
            </a:extLst>
          </p:cNvPr>
          <p:cNvSpPr>
            <a:spLocks xmlns:a="http://schemas.openxmlformats.org/drawingml/2006/main" noGrp="1"/>
          </p:cNvSpPr>
          <p:nvPr/>
        </p:nvSpPr>
        <p:spPr>
          <a:xfrm xmlns:a="http://schemas.openxmlformats.org/drawingml/2006/main">
            <a:off x="4524375" y="1905000"/>
            <a:ext cx="76200" cy="2190750"/>
          </a:xfrm>
          <a:prstGeom xmlns:a="http://schemas.openxmlformats.org/drawingml/2006/main" prst="roundRect">
            <a:avLst>
              <a:gd name="adj" fmla="val 50000"/>
            </a:avLst>
          </a:prstGeom>
          <a:solidFill xmlns:a="http://schemas.openxmlformats.org/drawingml/2006/main">
            <a:srgbClr val="1580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2B261F-FD03-4AD9-8369-F168DBC1CD09}"/>
              </a:ext>
            </a:extLst>
          </p:cNvPr>
          <p:cNvSpPr>
            <a:spLocks xmlns:a="http://schemas.openxmlformats.org/drawingml/2006/main" noGrp="1"/>
          </p:cNvSpPr>
          <p:nvPr/>
        </p:nvSpPr>
        <p:spPr>
          <a:xfrm xmlns:a="http://schemas.openxmlformats.org/drawingml/2006/main">
            <a:off x="4791075" y="207645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Media</a:t>
            </a:r>
          </a:p>
        </p:txBody>
      </p:sp>
      <p:sp>
        <p:nvSpPr>
          <p:cNvPr id="10" name="">
            <a:extLst xmlns:a="http://schemas.openxmlformats.org/drawingml/2006/main">
              <a:ext uri="{FF2B5EF4-FFF2-40B4-BE49-F238E27FC236}">
                <a16:creationId xmlns:a16="http://schemas.microsoft.com/office/drawing/2014/main" id="{260A7402-2B84-454A-B754-D36D06E0FACF}"/>
              </a:ext>
            </a:extLst>
          </p:cNvPr>
          <p:cNvSpPr>
            <a:spLocks xmlns:a="http://schemas.openxmlformats.org/drawingml/2006/main" noGrp="1"/>
          </p:cNvSpPr>
          <p:nvPr/>
        </p:nvSpPr>
        <p:spPr>
          <a:xfrm xmlns:a="http://schemas.openxmlformats.org/drawingml/2006/main">
            <a:off x="4791075" y="2457450"/>
            <a:ext cx="26860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Files uploaded by users while the application runs.</a:t>
            </a:r>
          </a:p>
        </p:txBody>
      </p:sp>
      <p:sp>
        <p:nvSpPr>
          <p:cNvPr id="11" name="">
            <a:extLst xmlns:a="http://schemas.openxmlformats.org/drawingml/2006/main">
              <a:ext uri="{FF2B5EF4-FFF2-40B4-BE49-F238E27FC236}">
                <a16:creationId xmlns:a16="http://schemas.microsoft.com/office/drawing/2014/main" id="{CD626444-8207-4F9F-915E-56946EFE7D00}"/>
              </a:ext>
            </a:extLst>
          </p:cNvPr>
          <p:cNvSpPr>
            <a:spLocks xmlns:a="http://schemas.openxmlformats.org/drawingml/2006/main" noGrp="1"/>
          </p:cNvSpPr>
          <p:nvPr/>
        </p:nvSpPr>
        <p:spPr>
          <a:xfrm xmlns:a="http://schemas.openxmlformats.org/drawingml/2006/main">
            <a:off x="8096250" y="1905000"/>
            <a:ext cx="3143250" cy="2190750"/>
          </a:xfrm>
          <a:prstGeom xmlns:a="http://schemas.openxmlformats.org/drawingml/2006/main" prst="roundRect">
            <a:avLst>
              <a:gd name="adj" fmla="val 3478"/>
            </a:avLst>
          </a:prstGeom>
          <a:solidFill xmlns:a="http://schemas.openxmlformats.org/drawingml/2006/main">
            <a:srgbClr val="F4F8FB"/>
          </a:solidFill>
          <a:ln xmlns:a="http://schemas.openxmlformats.org/drawingml/2006/main" w="9525">
            <a:solidFill>
              <a:srgbClr val="C9D8E5"/>
            </a:solidFill>
          </a:ln>
        </p:spPr>
      </p:sp>
      <p:sp>
        <p:nvSpPr>
          <p:cNvPr id="12" name="">
            <a:extLst xmlns:a="http://schemas.openxmlformats.org/drawingml/2006/main">
              <a:ext uri="{FF2B5EF4-FFF2-40B4-BE49-F238E27FC236}">
                <a16:creationId xmlns:a16="http://schemas.microsoft.com/office/drawing/2014/main" id="{406A5A13-E0C1-4BD0-B646-93E73691399E}"/>
              </a:ext>
            </a:extLst>
          </p:cNvPr>
          <p:cNvSpPr>
            <a:spLocks xmlns:a="http://schemas.openxmlformats.org/drawingml/2006/main" noGrp="1"/>
          </p:cNvSpPr>
          <p:nvPr/>
        </p:nvSpPr>
        <p:spPr>
          <a:xfrm xmlns:a="http://schemas.openxmlformats.org/drawingml/2006/main">
            <a:off x="8096250" y="1905000"/>
            <a:ext cx="76200" cy="2190750"/>
          </a:xfrm>
          <a:prstGeom xmlns:a="http://schemas.openxmlformats.org/drawingml/2006/main" prst="roundRect">
            <a:avLst>
              <a:gd name="adj" fmla="val 50000"/>
            </a:avLst>
          </a:prstGeom>
          <a:solidFill xmlns:a="http://schemas.openxmlformats.org/drawingml/2006/main">
            <a:srgbClr val="E57A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CFACE4-3E21-4246-B63A-82825D515A49}"/>
              </a:ext>
            </a:extLst>
          </p:cNvPr>
          <p:cNvSpPr>
            <a:spLocks xmlns:a="http://schemas.openxmlformats.org/drawingml/2006/main" noGrp="1"/>
          </p:cNvSpPr>
          <p:nvPr/>
        </p:nvSpPr>
        <p:spPr>
          <a:xfrm xmlns:a="http://schemas.openxmlformats.org/drawingml/2006/main">
            <a:off x="8362950" y="207645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82A4A"/>
                </a:solidFill>
                <a:latin typeface="DejaVu Sans"/>
                <a:ea typeface="DejaVu Sans"/>
                <a:cs typeface="DejaVu Sans"/>
              </a:defRPr>
            </a:pPr>
            <a:r>
              <a:rPr sz="1575" b="1">
                <a:solidFill>
                  <a:srgbClr val="082A4A"/>
                </a:solidFill>
                <a:latin typeface="DejaVu Sans"/>
                <a:ea typeface="DejaVu Sans"/>
                <a:cs typeface="DejaVu Sans"/>
              </a:rPr>
              <a:t>Database</a:t>
            </a:r>
          </a:p>
        </p:txBody>
      </p:sp>
      <p:sp>
        <p:nvSpPr>
          <p:cNvPr id="14" name="">
            <a:extLst xmlns:a="http://schemas.openxmlformats.org/drawingml/2006/main">
              <a:ext uri="{FF2B5EF4-FFF2-40B4-BE49-F238E27FC236}">
                <a16:creationId xmlns:a16="http://schemas.microsoft.com/office/drawing/2014/main" id="{CBF15DBD-DA53-49BA-BAB2-34AF203D758B}"/>
              </a:ext>
            </a:extLst>
          </p:cNvPr>
          <p:cNvSpPr>
            <a:spLocks xmlns:a="http://schemas.openxmlformats.org/drawingml/2006/main" noGrp="1"/>
          </p:cNvSpPr>
          <p:nvPr/>
        </p:nvSpPr>
        <p:spPr>
          <a:xfrm xmlns:a="http://schemas.openxmlformats.org/drawingml/2006/main">
            <a:off x="8362950" y="2457450"/>
            <a:ext cx="26860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52536"/>
                </a:solidFill>
                <a:latin typeface="DejaVu Sans"/>
                <a:ea typeface="DejaVu Sans"/>
                <a:cs typeface="DejaVu Sans"/>
              </a:defRPr>
            </a:pPr>
            <a:r>
              <a:rPr sz="1275" b="0">
                <a:solidFill>
                  <a:srgbClr val="152536"/>
                </a:solidFill>
                <a:latin typeface="DejaVu Sans"/>
                <a:ea typeface="DejaVu Sans"/>
                <a:cs typeface="DejaVu Sans"/>
              </a:rPr>
              <a:t>Structured records preserved and managed through models and ORM.</a:t>
            </a:r>
          </a:p>
        </p:txBody>
      </p:sp>
      <p:sp>
        <p:nvSpPr>
          <p:cNvPr id="15" name="">
            <a:extLst xmlns:a="http://schemas.openxmlformats.org/drawingml/2006/main">
              <a:ext uri="{FF2B5EF4-FFF2-40B4-BE49-F238E27FC236}">
                <a16:creationId xmlns:a16="http://schemas.microsoft.com/office/drawing/2014/main" id="{62442389-DB9F-4782-AA25-66FB9507A2A9}"/>
              </a:ext>
            </a:extLst>
          </p:cNvPr>
          <p:cNvSpPr>
            <a:spLocks xmlns:a="http://schemas.openxmlformats.org/drawingml/2006/main" noGrp="1"/>
          </p:cNvSpPr>
          <p:nvPr/>
        </p:nvSpPr>
        <p:spPr>
          <a:xfrm xmlns:a="http://schemas.openxmlformats.org/drawingml/2006/main">
            <a:off x="1809750" y="5000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30"/>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Can you explain where each one lives and why Django needs it?</a:t>
            </a:r>
          </a:p>
        </p:txBody>
      </p:sp>
      <p:sp>
        <p:nvSpPr>
          <p:cNvPr id="16" name="">
            <a:extLst xmlns:a="http://schemas.openxmlformats.org/drawingml/2006/main">
              <a:ext uri="{FF2B5EF4-FFF2-40B4-BE49-F238E27FC236}">
                <a16:creationId xmlns:a16="http://schemas.microsoft.com/office/drawing/2014/main" id="{317CDC2F-4FAF-48BD-B64D-B1BA8C26F160}"/>
              </a:ext>
            </a:extLst>
          </p:cNvPr>
          <p:cNvSpPr>
            <a:spLocks xmlns:a="http://schemas.openxmlformats.org/drawingml/2006/main" noGrp="1"/>
          </p:cNvSpPr>
          <p:nvPr/>
        </p:nvSpPr>
        <p:spPr>
          <a:xfrm xmlns:a="http://schemas.openxmlformats.org/drawingml/2006/main">
            <a:off x="4095750" y="6191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ctr">
              <a:defRPr sz="975" b="0">
                <a:solidFill>
                  <a:srgbClr val="B9D7EA"/>
                </a:solidFill>
                <a:latin typeface="DejaVu Sans"/>
                <a:ea typeface="DejaVu Sans"/>
                <a:cs typeface="DejaVu Sans"/>
              </a:defRPr>
            </a:pPr>
            <a:r>
              <a:rPr sz="975" b="0">
                <a:solidFill>
                  <a:srgbClr val="B9D7EA"/>
                </a:solidFill>
                <a:latin typeface="DejaVu Sans"/>
                <a:ea typeface="DejaVu Sans"/>
                <a:cs typeface="DejaVu Sans"/>
              </a:rPr>
              <a:t>Django Static, Media and Database Basics</a:t>
            </a:r>
          </a:p>
        </p:txBody>
      </p:sp>
    </p:spTree>
    <p:extLst>
      <p:ext uri="{BB962C8B-B14F-4D97-AF65-F5344CB8AC3E}">
        <p14:creationId xmlns:p14="http://schemas.microsoft.com/office/powerpoint/2010/main" val="648536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2026-09-22T10:04:25.1650000Z</dcterms:created>
  <dcterms:modified xsi:type="dcterms:W3CDTF">2026-09-22T10:04:25.1650000Z</dcterms:modified>
</coreProperties>
</file>